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2.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95f203a123a453c" /><Relationship Type="http://schemas.openxmlformats.org/officeDocument/2006/relationships/extended-properties" Target="/docProps/app.xml" Id="Rce47fbdd3b874709" /><Relationship Type="http://schemas.openxmlformats.org/officeDocument/2006/relationships/officeDocument" Target="/ppt/presentation.xml" Id="Ra7af143c9aef4a2b" /></Relationships>
</file>

<file path=ppt/presentation.xml><?xml version="1.0" encoding="utf-8"?>
<p:presentation xmlns:p="http://schemas.openxmlformats.org/presentationml/2006/main">
  <p:sldMasterIdLst>
    <p:sldMasterId xmlns:r="http://schemas.openxmlformats.org/officeDocument/2006/relationships" id="2147483648" r:id="R7feeace55f8c4f18"/>
  </p:sldMasterIdLst>
  <p:notesMasterIdLst>
    <p:notesMasterId xmlns:r="http://schemas.openxmlformats.org/officeDocument/2006/relationships" r:id="R89904f29f0d8492e"/>
  </p:notesMasterIdLst>
  <p:sldIdLst>
    <p:sldId xmlns:r="http://schemas.openxmlformats.org/officeDocument/2006/relationships" id="256" r:id="R27b76e084834466e"/>
    <p:sldId xmlns:r="http://schemas.openxmlformats.org/officeDocument/2006/relationships" id="257" r:id="R0bc602268cba4b11"/>
    <p:sldId xmlns:r="http://schemas.openxmlformats.org/officeDocument/2006/relationships" id="258" r:id="R8a1e9fa1d1e84b57"/>
    <p:sldId xmlns:r="http://schemas.openxmlformats.org/officeDocument/2006/relationships" id="259" r:id="Rbb2de367a7ac4aed"/>
    <p:sldId xmlns:r="http://schemas.openxmlformats.org/officeDocument/2006/relationships" id="260" r:id="R0d11544bd3ad4c1a"/>
    <p:sldId xmlns:r="http://schemas.openxmlformats.org/officeDocument/2006/relationships" id="261" r:id="R96e8cafbd37d4a0e"/>
    <p:sldId xmlns:r="http://schemas.openxmlformats.org/officeDocument/2006/relationships" id="262" r:id="R11b37c490aa64bf8"/>
    <p:sldId xmlns:r="http://schemas.openxmlformats.org/officeDocument/2006/relationships" id="263" r:id="R0659ae2a97e14523"/>
    <p:sldId xmlns:r="http://schemas.openxmlformats.org/officeDocument/2006/relationships" id="264" r:id="R9af6bdc6da594544"/>
    <p:sldId xmlns:r="http://schemas.openxmlformats.org/officeDocument/2006/relationships" id="265" r:id="Rf584acdd37144954"/>
    <p:sldId xmlns:r="http://schemas.openxmlformats.org/officeDocument/2006/relationships" id="266" r:id="R751287473cad4627"/>
    <p:sldId xmlns:r="http://schemas.openxmlformats.org/officeDocument/2006/relationships" id="267" r:id="R6fddf94b8aa4466e"/>
    <p:sldId xmlns:r="http://schemas.openxmlformats.org/officeDocument/2006/relationships" id="268" r:id="R6b9773581a2f46fd"/>
    <p:sldId xmlns:r="http://schemas.openxmlformats.org/officeDocument/2006/relationships" id="269" r:id="Ra99965e4cba04d56"/>
    <p:sldId xmlns:r="http://schemas.openxmlformats.org/officeDocument/2006/relationships" id="270" r:id="R5396d8f8e2784816"/>
    <p:sldId xmlns:r="http://schemas.openxmlformats.org/officeDocument/2006/relationships" id="271" r:id="R265b53fd39eb4112"/>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Master" Target="/ppt/slideMasters/slideMaster1.xml" Id="R7feeace55f8c4f18" /><Relationship Type="http://schemas.openxmlformats.org/officeDocument/2006/relationships/theme" Target="/ppt/theme/theme1.xml" Id="Re61b194d8b024e8c" /><Relationship Type="http://schemas.openxmlformats.org/officeDocument/2006/relationships/notesMaster" Target="/ppt/notesMasters/notesMaster1.xml" Id="R89904f29f0d8492e" /><Relationship Type="http://schemas.openxmlformats.org/officeDocument/2006/relationships/presProps" Target="/ppt/presProps.xml" Id="R9c83fabe36964eca" /><Relationship Type="http://schemas.openxmlformats.org/officeDocument/2006/relationships/viewProps" Target="/ppt/viewProps.xml" Id="R5e386bc3e1c14703" /><Relationship Type="http://schemas.openxmlformats.org/officeDocument/2006/relationships/tableStyles" Target="/ppt/tableStyles.xml" Id="R2cfe33c0cee84ee8" /><Relationship Type="http://schemas.openxmlformats.org/officeDocument/2006/relationships/slide" Target="/ppt/slides/slide1.xml" Id="R27b76e084834466e" /><Relationship Type="http://schemas.openxmlformats.org/officeDocument/2006/relationships/slide" Target="/ppt/slides/slide2.xml" Id="R0bc602268cba4b11" /><Relationship Type="http://schemas.openxmlformats.org/officeDocument/2006/relationships/slide" Target="/ppt/slides/slide3.xml" Id="R8a1e9fa1d1e84b57" /><Relationship Type="http://schemas.openxmlformats.org/officeDocument/2006/relationships/slide" Target="/ppt/slides/slide4.xml" Id="Rbb2de367a7ac4aed" /><Relationship Type="http://schemas.openxmlformats.org/officeDocument/2006/relationships/slide" Target="/ppt/slides/slide5.xml" Id="R0d11544bd3ad4c1a" /><Relationship Type="http://schemas.openxmlformats.org/officeDocument/2006/relationships/slide" Target="/ppt/slides/slide6.xml" Id="R96e8cafbd37d4a0e" /><Relationship Type="http://schemas.openxmlformats.org/officeDocument/2006/relationships/slide" Target="/ppt/slides/slide7.xml" Id="R11b37c490aa64bf8" /><Relationship Type="http://schemas.openxmlformats.org/officeDocument/2006/relationships/slide" Target="/ppt/slides/slide8.xml" Id="R0659ae2a97e14523" /><Relationship Type="http://schemas.openxmlformats.org/officeDocument/2006/relationships/slide" Target="/ppt/slides/slide9.xml" Id="R9af6bdc6da594544" /><Relationship Type="http://schemas.openxmlformats.org/officeDocument/2006/relationships/slide" Target="/ppt/slides/slide10.xml" Id="Rf584acdd37144954" /><Relationship Type="http://schemas.openxmlformats.org/officeDocument/2006/relationships/slide" Target="/ppt/slides/slide11.xml" Id="R751287473cad4627" /><Relationship Type="http://schemas.openxmlformats.org/officeDocument/2006/relationships/slide" Target="/ppt/slides/slide12.xml" Id="R6fddf94b8aa4466e" /><Relationship Type="http://schemas.openxmlformats.org/officeDocument/2006/relationships/slide" Target="/ppt/slides/slide13.xml" Id="R6b9773581a2f46fd" /><Relationship Type="http://schemas.openxmlformats.org/officeDocument/2006/relationships/slide" Target="/ppt/slides/slide14.xml" Id="Ra99965e4cba04d56" /><Relationship Type="http://schemas.openxmlformats.org/officeDocument/2006/relationships/slide" Target="/ppt/slides/slide15.xml" Id="R5396d8f8e2784816" /><Relationship Type="http://schemas.openxmlformats.org/officeDocument/2006/relationships/slide" Target="/ppt/slides/slide16.xml" Id="R265b53fd39eb411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38d40875ed6e415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0796cc560994813" /><Relationship Type="http://schemas.openxmlformats.org/officeDocument/2006/relationships/notesMaster" Target="/ppt/notesMasters/notesMaster1.xml" Id="R13e14e9dc3d94700" /></Relationships>
</file>

<file path=ppt/notesSlides/_rels/notesSlide2.xml.rels>&#65279;<?xml version="1.0" encoding="utf-8"?><Relationships xmlns="http://schemas.openxmlformats.org/package/2006/relationships"><Relationship Type="http://schemas.openxmlformats.org/officeDocument/2006/relationships/slide" Target="/ppt/slides/slide2.xml" Id="R427726684d9e4378" /><Relationship Type="http://schemas.openxmlformats.org/officeDocument/2006/relationships/notesMaster" Target="/ppt/notesMasters/notesMaster1.xml" Id="R25cd6a929466490d" /></Relationships>
</file>

<file path=ppt/notesSlides/_rels/notesSlide3.xml.rels>&#65279;<?xml version="1.0" encoding="utf-8"?><Relationships xmlns="http://schemas.openxmlformats.org/package/2006/relationships"><Relationship Type="http://schemas.openxmlformats.org/officeDocument/2006/relationships/slide" Target="/ppt/slides/slide3.xml" Id="R6b8c2594cab5430c" /><Relationship Type="http://schemas.openxmlformats.org/officeDocument/2006/relationships/notesMaster" Target="/ppt/notesMasters/notesMaster1.xml" Id="Rcc97b7c19d974d0d" /></Relationships>
</file>

<file path=ppt/notesSlides/_rels/notesSlide4.xml.rels>&#65279;<?xml version="1.0" encoding="utf-8"?><Relationships xmlns="http://schemas.openxmlformats.org/package/2006/relationships"><Relationship Type="http://schemas.openxmlformats.org/officeDocument/2006/relationships/slide" Target="/ppt/slides/slide4.xml" Id="R1937a39130dc483e" /><Relationship Type="http://schemas.openxmlformats.org/officeDocument/2006/relationships/notesMaster" Target="/ppt/notesMasters/notesMaster1.xml" Id="Rf94fc73fe7f4453e" /></Relationships>
</file>

<file path=ppt/notesSlides/_rels/notesSlide5.xml.rels>&#65279;<?xml version="1.0" encoding="utf-8"?><Relationships xmlns="http://schemas.openxmlformats.org/package/2006/relationships"><Relationship Type="http://schemas.openxmlformats.org/officeDocument/2006/relationships/slide" Target="/ppt/slides/slide5.xml" Id="R9646d91736c54460" /><Relationship Type="http://schemas.openxmlformats.org/officeDocument/2006/relationships/notesMaster" Target="/ppt/notesMasters/notesMaster1.xml" Id="Rde79b90e0a45481d" /></Relationships>
</file>

<file path=ppt/notesSlides/_rels/notesSlide6.xml.rels>&#65279;<?xml version="1.0" encoding="utf-8"?><Relationships xmlns="http://schemas.openxmlformats.org/package/2006/relationships"><Relationship Type="http://schemas.openxmlformats.org/officeDocument/2006/relationships/slide" Target="/ppt/slides/slide6.xml" Id="R340cf5c947d44a98" /><Relationship Type="http://schemas.openxmlformats.org/officeDocument/2006/relationships/notesMaster" Target="/ppt/notesMasters/notesMaster1.xml" Id="R023247950be14cc7" /></Relationships>
</file>

<file path=ppt/notesSlides/_rels/notesSlide7.xml.rels>&#65279;<?xml version="1.0" encoding="utf-8"?><Relationships xmlns="http://schemas.openxmlformats.org/package/2006/relationships"><Relationship Type="http://schemas.openxmlformats.org/officeDocument/2006/relationships/slide" Target="/ppt/slides/slide7.xml" Id="Re79656adae714335" /><Relationship Type="http://schemas.openxmlformats.org/officeDocument/2006/relationships/notesMaster" Target="/ppt/notesMasters/notesMaster1.xml" Id="R2c1e80ed2f7a427d" /></Relationships>
</file>

<file path=ppt/notesSlides/_rels/notesSlide8.xml.rels>&#65279;<?xml version="1.0" encoding="utf-8"?><Relationships xmlns="http://schemas.openxmlformats.org/package/2006/relationships"><Relationship Type="http://schemas.openxmlformats.org/officeDocument/2006/relationships/slide" Target="/ppt/slides/slide8.xml" Id="R07e6e82cb6e64278" /><Relationship Type="http://schemas.openxmlformats.org/officeDocument/2006/relationships/notesMaster" Target="/ppt/notesMasters/notesMaster1.xml" Id="Raf54d98ca4d540f1" /></Relationships>
</file>

<file path=ppt/notesSlides/_rels/notesSlide9.xml.rels>&#65279;<?xml version="1.0" encoding="utf-8"?><Relationships xmlns="http://schemas.openxmlformats.org/package/2006/relationships"><Relationship Type="http://schemas.openxmlformats.org/officeDocument/2006/relationships/slide" Target="/ppt/slides/slide9.xml" Id="R31e9c5615c994f7f" /><Relationship Type="http://schemas.openxmlformats.org/officeDocument/2006/relationships/notesMaster" Target="/ppt/notesMasters/notesMaster1.xml" Id="Rad800fcc7b4141f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bd5f73733064470" /><Relationship Type="http://schemas.openxmlformats.org/officeDocument/2006/relationships/notesMaster" Target="/ppt/notesMasters/notesMaster1.xml" Id="Rbec1c1747f0d49a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841d63f0f4f4eac" /><Relationship Type="http://schemas.openxmlformats.org/officeDocument/2006/relationships/notesMaster" Target="/ppt/notesMasters/notesMaster1.xml" Id="R49111d92289149b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e17d68324824e5b" /><Relationship Type="http://schemas.openxmlformats.org/officeDocument/2006/relationships/notesMaster" Target="/ppt/notesMasters/notesMaster1.xml" Id="R5f6207ac1f804f9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1427150b1a04eaf" /><Relationship Type="http://schemas.openxmlformats.org/officeDocument/2006/relationships/notesMaster" Target="/ppt/notesMasters/notesMaster1.xml" Id="R00a0780787d745c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96fa9203d214f66" /><Relationship Type="http://schemas.openxmlformats.org/officeDocument/2006/relationships/notesMaster" Target="/ppt/notesMasters/notesMaster1.xml" Id="R1f597eb0a16f416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b0d7b5dfd3a4ccc" /><Relationship Type="http://schemas.openxmlformats.org/officeDocument/2006/relationships/notesMaster" Target="/ppt/notesMasters/notesMaster1.xml" Id="R99a526345aef43c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2f225669f0b4b3a" /><Relationship Type="http://schemas.openxmlformats.org/officeDocument/2006/relationships/notesMaster" Target="/ppt/notesMasters/notesMaster1.xml" Id="R75c78d6af94f477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53bc5bee6c24b39" /></Relationships>
</file>

<file path=ppt/slideLayouts/slideLayout2.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theme/theme1.xml" Id="R1530758d4d9f4475" /><Relationship Type="http://schemas.openxmlformats.org/officeDocument/2006/relationships/slideLayout" Target="/ppt/slideLayouts/slideLayout2.xml" Id="R44ef829e8d884c8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4ef829e8d884c8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2.xml" Id="R42f75d5fc62b4d07" /><Relationship Type="http://schemas.openxmlformats.org/officeDocument/2006/relationships/image" Target="/ppt/media/image.jpeg" Id="Rc710072d9c264e77" /><Relationship Type="http://schemas.openxmlformats.org/officeDocument/2006/relationships/notesSlide" Target="/ppt/notesSlides/notesSlide1.xml" Id="Rce76c20aec2049cf"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543fe323cfab4aaf" /><Relationship Type="http://schemas.openxmlformats.org/officeDocument/2006/relationships/notesSlide" Target="/ppt/notesSlides/notesSlide2.xml" Id="R8a464e101ff6420a"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ffa19f6b0c9f422f" /><Relationship Type="http://schemas.openxmlformats.org/officeDocument/2006/relationships/notesSlide" Target="/ppt/notesSlides/notesSlide3.xml" Id="R6b406755df1f4182"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f55070c98a9744b6" /><Relationship Type="http://schemas.openxmlformats.org/officeDocument/2006/relationships/image" Target="/ppt/media/image2.jpeg" Id="R2a6a040470de41b7" /><Relationship Type="http://schemas.openxmlformats.org/officeDocument/2006/relationships/notesSlide" Target="/ppt/notesSlides/notesSlide4.xml" Id="Rae7f3a1062e24544"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51a0c0a00a934fe7" /><Relationship Type="http://schemas.openxmlformats.org/officeDocument/2006/relationships/notesSlide" Target="/ppt/notesSlides/notesSlide5.xml" Id="R33efd36b87704841"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6ac199d6e9244cd4" /><Relationship Type="http://schemas.openxmlformats.org/officeDocument/2006/relationships/image" Target="/ppt/media/image3.jpeg" Id="R4bd7ad18ae7d4da0" /><Relationship Type="http://schemas.openxmlformats.org/officeDocument/2006/relationships/notesSlide" Target="/ppt/notesSlides/notesSlide6.xml" Id="Rd2aaceb209e84ed3"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6f03def8c78f4eb8" /><Relationship Type="http://schemas.openxmlformats.org/officeDocument/2006/relationships/notesSlide" Target="/ppt/notesSlides/notesSlide7.xml" Id="R254ec842be6244b1"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0de7c358584844b4" /><Relationship Type="http://schemas.openxmlformats.org/officeDocument/2006/relationships/notesSlide" Target="/ppt/notesSlides/notesSlide8.xml" Id="R8d4850ede77b47fb"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e78849bb4fe741c0" /><Relationship Type="http://schemas.openxmlformats.org/officeDocument/2006/relationships/notesSlide" Target="/ppt/notesSlides/notesSlide9.xml" Id="R6f2845bdf7b3418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293975ee749c46d1" /><Relationship Type="http://schemas.openxmlformats.org/officeDocument/2006/relationships/notesSlide" Target="/ppt/notesSlides/notesSlide10.xml" Id="R656eb01944aa46b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14e6a23a54a344f8" /><Relationship Type="http://schemas.openxmlformats.org/officeDocument/2006/relationships/notesSlide" Target="/ppt/notesSlides/notesSlide11.xml" Id="Rd6babc3a48c54ca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eb9b6ea535be4819" /><Relationship Type="http://schemas.openxmlformats.org/officeDocument/2006/relationships/notesSlide" Target="/ppt/notesSlides/notesSlide12.xml" Id="R1bf44d1ef006446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e4f4ea1ac58c4209" /><Relationship Type="http://schemas.openxmlformats.org/officeDocument/2006/relationships/notesSlide" Target="/ppt/notesSlides/notesSlide13.xml" Id="R9272d2ca154a41a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e5bee05c72754294" /><Relationship Type="http://schemas.openxmlformats.org/officeDocument/2006/relationships/notesSlide" Target="/ppt/notesSlides/notesSlide14.xml" Id="Rfe0f4d436b23400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f5f637ef2ff441ed" /><Relationship Type="http://schemas.openxmlformats.org/officeDocument/2006/relationships/image" Target="/ppt/media/image4.jpeg" Id="R193d5103016244af" /><Relationship Type="http://schemas.openxmlformats.org/officeDocument/2006/relationships/notesSlide" Target="/ppt/notesSlides/notesSlide15.xml" Id="R3003f66d6b8b47a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0954302bf5844982" /><Relationship Type="http://schemas.openxmlformats.org/officeDocument/2006/relationships/notesSlide" Target="/ppt/notesSlides/notesSlide16.xml" Id="R776cfd73bc6c4955"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 name=""/>
          <p:cNvPicPr>
            <a:picLocks xmlns:a="http://schemas.openxmlformats.org/drawingml/2006/main" noChangeAspect="1"/>
          </p:cNvPicPr>
          <p:nvPr/>
        </p:nvPicPr>
        <p:blipFill>
          <a:blip xmlns:r="http://schemas.openxmlformats.org/officeDocument/2006/relationships" xmlns:a="http://schemas.openxmlformats.org/drawingml/2006/main" r:embed="Rc710072d9c264e77"/>
          <a:srcRect xmlns:a="http://schemas.openxmlformats.org/drawingml/2006/main" l="1515" t="0" r="1515"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840BF32-F702-4AB2-94C6-73D3D445F864}"/>
              </a:ext>
            </a:extLst>
          </p:cNvPr>
          <p:cNvSpPr>
            <a:spLocks xmlns:a="http://schemas.openxmlformats.org/drawingml/2006/main" noGrp="1"/>
          </p:cNvSpPr>
          <p:nvPr/>
        </p:nvSpPr>
        <p:spPr>
          <a:xfrm xmlns:a="http://schemas.openxmlformats.org/drawingml/2006/main">
            <a:off x="0" y="0"/>
            <a:ext cx="6096000" cy="6858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1D18E65-3BEC-4E68-944B-FEC9D957155F}"/>
              </a:ext>
            </a:extLst>
          </p:cNvPr>
          <p:cNvSpPr>
            <a:spLocks xmlns:a="http://schemas.openxmlformats.org/drawingml/2006/main" noGrp="1"/>
          </p:cNvSpPr>
          <p:nvPr/>
        </p:nvSpPr>
        <p:spPr>
          <a:xfrm xmlns:a="http://schemas.openxmlformats.org/drawingml/2006/main">
            <a:off x="6096000" y="0"/>
            <a:ext cx="6096000" cy="6858000"/>
          </a:xfrm>
          <a:prstGeom xmlns:a="http://schemas.openxmlformats.org/drawingml/2006/main" prst="rect">
            <a:avLst/>
          </a:prstGeom>
          <a:solidFill xmlns:a="http://schemas.openxmlformats.org/drawingml/2006/main">
            <a:srgbClr val="FFFFFF">
              <a:alpha val="20000"/>
            </a:srgbClr>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705230C-1BA7-42CC-BF68-B3A88EBB91C8}"/>
              </a:ext>
            </a:extLst>
          </p:cNvPr>
          <p:cNvSpPr>
            <a:spLocks xmlns:a="http://schemas.openxmlformats.org/drawingml/2006/main" noGrp="1"/>
          </p:cNvSpPr>
          <p:nvPr/>
        </p:nvSpPr>
        <p:spPr>
          <a:xfrm xmlns:a="http://schemas.openxmlformats.org/drawingml/2006/main">
            <a:off x="514350" y="552450"/>
            <a:ext cx="57150" cy="609600"/>
          </a:xfrm>
          <a:prstGeom xmlns:a="http://schemas.openxmlformats.org/drawingml/2006/main" prst="rect">
            <a:avLst/>
          </a:prstGeom>
          <a:solidFill xmlns:a="http://schemas.openxmlformats.org/drawingml/2006/main">
            <a:srgbClr val="0E9F9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F05B028-62A3-4AA8-BBE4-C189EFBA8282}"/>
              </a:ext>
            </a:extLst>
          </p:cNvPr>
          <p:cNvSpPr>
            <a:spLocks xmlns:a="http://schemas.openxmlformats.org/drawingml/2006/main" noGrp="1"/>
          </p:cNvSpPr>
          <p:nvPr/>
        </p:nvSpPr>
        <p:spPr>
          <a:xfrm xmlns:a="http://schemas.openxmlformats.org/drawingml/2006/main">
            <a:off x="742950" y="571500"/>
            <a:ext cx="4000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750" b="1">
                <a:solidFill>
                  <a:srgbClr val="0E9F9A"/>
                </a:solidFill>
                <a:latin typeface="Aptos"/>
                <a:ea typeface="Aptos"/>
                <a:cs typeface="Aptos"/>
              </a:defRPr>
            </a:pPr>
            <a:r>
              <a:rPr sz="750" b="1">
                <a:solidFill>
                  <a:srgbClr val="0E9F9A"/>
                </a:solidFill>
                <a:latin typeface="Aptos"/>
                <a:ea typeface="Aptos"/>
                <a:cs typeface="Aptos"/>
              </a:rPr>
              <a:t>PRACTICAL IDE AGENT WORKSHOP</a:t>
            </a:r>
          </a:p>
        </p:txBody>
      </p:sp>
      <p:sp>
        <p:nvSpPr>
          <p:cNvPr id="6" name="">
            <a:extLst xmlns:a="http://schemas.openxmlformats.org/drawingml/2006/main">
              <a:ext uri="{FF2B5EF4-FFF2-40B4-BE49-F238E27FC236}">
                <a16:creationId xmlns:a16="http://schemas.microsoft.com/office/drawing/2014/main" id="{81D7A687-6618-4BA0-928B-DEA56423EF9A}"/>
              </a:ext>
            </a:extLst>
          </p:cNvPr>
          <p:cNvSpPr>
            <a:spLocks xmlns:a="http://schemas.openxmlformats.org/drawingml/2006/main" noGrp="1"/>
          </p:cNvSpPr>
          <p:nvPr/>
        </p:nvSpPr>
        <p:spPr>
          <a:xfrm xmlns:a="http://schemas.openxmlformats.org/drawingml/2006/main">
            <a:off x="514350" y="1676400"/>
            <a:ext cx="5905500" cy="14287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4050" b="1">
                <a:solidFill>
                  <a:srgbClr val="172033"/>
                </a:solidFill>
                <a:latin typeface="Aptos Display"/>
                <a:ea typeface="Aptos Display"/>
                <a:cs typeface="Aptos Display"/>
              </a:defRPr>
            </a:pPr>
            <a:r>
              <a:rPr sz="4050" b="1">
                <a:solidFill>
                  <a:srgbClr val="172033"/>
                </a:solidFill>
                <a:latin typeface="Aptos Display"/>
                <a:ea typeface="Aptos Display"/>
                <a:cs typeface="Aptos Display"/>
              </a:rPr>
              <a:t>101 AI Basics for Developers</a:t>
            </a:r>
          </a:p>
        </p:txBody>
      </p:sp>
      <p:sp>
        <p:nvSpPr>
          <p:cNvPr id="7" name="">
            <a:extLst xmlns:a="http://schemas.openxmlformats.org/drawingml/2006/main">
              <a:ext uri="{FF2B5EF4-FFF2-40B4-BE49-F238E27FC236}">
                <a16:creationId xmlns:a16="http://schemas.microsoft.com/office/drawing/2014/main" id="{FF3F42DB-FCF1-4373-ABFF-69C88B6A0389}"/>
              </a:ext>
            </a:extLst>
          </p:cNvPr>
          <p:cNvSpPr>
            <a:spLocks xmlns:a="http://schemas.openxmlformats.org/drawingml/2006/main" noGrp="1"/>
          </p:cNvSpPr>
          <p:nvPr/>
        </p:nvSpPr>
        <p:spPr>
          <a:xfrm xmlns:a="http://schemas.openxmlformats.org/drawingml/2006/main">
            <a:off x="552450" y="3390900"/>
            <a:ext cx="4762500" cy="7239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526179"/>
                </a:solidFill>
                <a:latin typeface="Aptos"/>
                <a:ea typeface="Aptos"/>
                <a:cs typeface="Aptos"/>
              </a:defRPr>
            </a:pPr>
            <a:r>
              <a:rPr sz="1500" b="0">
                <a:solidFill>
                  <a:srgbClr val="526179"/>
                </a:solidFill>
                <a:latin typeface="Aptos"/>
                <a:ea typeface="Aptos"/>
                <a:cs typeface="Aptos"/>
              </a:rPr>
              <a:t>A practical workshop for using IDE agents without losing engineering judgment.</a:t>
            </a:r>
          </a:p>
        </p:txBody>
      </p:sp>
      <p:sp>
        <p:nvSpPr>
          <p:cNvPr id="8" name="">
            <a:extLst xmlns:a="http://schemas.openxmlformats.org/drawingml/2006/main">
              <a:ext uri="{FF2B5EF4-FFF2-40B4-BE49-F238E27FC236}">
                <a16:creationId xmlns:a16="http://schemas.microsoft.com/office/drawing/2014/main" id="{7AA39D7B-6250-40F7-A9AE-B4239C0D23EB}"/>
              </a:ext>
            </a:extLst>
          </p:cNvPr>
          <p:cNvSpPr>
            <a:spLocks xmlns:a="http://schemas.openxmlformats.org/drawingml/2006/main" noGrp="1"/>
          </p:cNvSpPr>
          <p:nvPr/>
        </p:nvSpPr>
        <p:spPr>
          <a:xfrm xmlns:a="http://schemas.openxmlformats.org/drawingml/2006/main">
            <a:off x="552450" y="4629150"/>
            <a:ext cx="2476500" cy="285750"/>
          </a:xfrm>
          <a:prstGeom xmlns:a="http://schemas.openxmlformats.org/drawingml/2006/main" prst="rect">
            <a:avLst/>
          </a:prstGeom>
          <a:solidFill xmlns:a="http://schemas.openxmlformats.org/drawingml/2006/main">
            <a:srgbClr val="FFFFFF"/>
          </a:solidFill>
          <a:ln xmlns:a="http://schemas.openxmlformats.org/drawingml/2006/main" w="9525">
            <a:solidFill>
              <a:srgbClr val="2563EB"/>
            </a:solidFill>
          </a:ln>
        </p:spPr>
      </p:sp>
      <p:sp>
        <p:nvSpPr>
          <p:cNvPr id="9" name="">
            <a:extLst xmlns:a="http://schemas.openxmlformats.org/drawingml/2006/main">
              <a:ext uri="{FF2B5EF4-FFF2-40B4-BE49-F238E27FC236}">
                <a16:creationId xmlns:a16="http://schemas.microsoft.com/office/drawing/2014/main" id="{D7D2FB11-1F3C-482F-BE5A-F9F14235CD94}"/>
              </a:ext>
            </a:extLst>
          </p:cNvPr>
          <p:cNvSpPr>
            <a:spLocks xmlns:a="http://schemas.openxmlformats.org/drawingml/2006/main" noGrp="1"/>
          </p:cNvSpPr>
          <p:nvPr/>
        </p:nvSpPr>
        <p:spPr>
          <a:xfrm xmlns:a="http://schemas.openxmlformats.org/drawingml/2006/main">
            <a:off x="666750" y="4695825"/>
            <a:ext cx="22479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713" b="1">
                <a:solidFill>
                  <a:srgbClr val="2563EB"/>
                </a:solidFill>
                <a:latin typeface="Aptos"/>
                <a:ea typeface="Aptos"/>
                <a:cs typeface="Aptos"/>
              </a:defRPr>
            </a:pPr>
            <a:r>
              <a:rPr sz="713" b="1">
                <a:solidFill>
                  <a:srgbClr val="2563EB"/>
                </a:solidFill>
                <a:latin typeface="Aptos"/>
                <a:ea typeface="Aptos"/>
                <a:cs typeface="Aptos"/>
              </a:rPr>
              <a:t>VS Code + GitHub Copilot framing</a:t>
            </a:r>
          </a:p>
        </p:txBody>
      </p:sp>
      <p:sp>
        <p:nvSpPr>
          <p:cNvPr id="10" name="">
            <a:extLst xmlns:a="http://schemas.openxmlformats.org/drawingml/2006/main">
              <a:ext uri="{FF2B5EF4-FFF2-40B4-BE49-F238E27FC236}">
                <a16:creationId xmlns:a16="http://schemas.microsoft.com/office/drawing/2014/main" id="{4F2366FD-EA27-4655-8432-085B1F1AFD8F}"/>
              </a:ext>
            </a:extLst>
          </p:cNvPr>
          <p:cNvSpPr>
            <a:spLocks xmlns:a="http://schemas.openxmlformats.org/drawingml/2006/main" noGrp="1"/>
          </p:cNvSpPr>
          <p:nvPr/>
        </p:nvSpPr>
        <p:spPr>
          <a:xfrm xmlns:a="http://schemas.openxmlformats.org/drawingml/2006/main">
            <a:off x="3200400" y="4629150"/>
            <a:ext cx="1143000" cy="285750"/>
          </a:xfrm>
          <a:prstGeom xmlns:a="http://schemas.openxmlformats.org/drawingml/2006/main" prst="rect">
            <a:avLst/>
          </a:prstGeom>
          <a:solidFill xmlns:a="http://schemas.openxmlformats.org/drawingml/2006/main">
            <a:srgbClr val="FFFFFF"/>
          </a:solidFill>
          <a:ln xmlns:a="http://schemas.openxmlformats.org/drawingml/2006/main" w="9525">
            <a:solidFill>
              <a:srgbClr val="F59E0B"/>
            </a:solidFill>
          </a:ln>
        </p:spPr>
      </p:sp>
      <p:sp>
        <p:nvSpPr>
          <p:cNvPr id="11" name="">
            <a:extLst xmlns:a="http://schemas.openxmlformats.org/drawingml/2006/main">
              <a:ext uri="{FF2B5EF4-FFF2-40B4-BE49-F238E27FC236}">
                <a16:creationId xmlns:a16="http://schemas.microsoft.com/office/drawing/2014/main" id="{8EDEFF52-6968-408C-B243-C2DC93AA45C2}"/>
              </a:ext>
            </a:extLst>
          </p:cNvPr>
          <p:cNvSpPr>
            <a:spLocks xmlns:a="http://schemas.openxmlformats.org/drawingml/2006/main" noGrp="1"/>
          </p:cNvSpPr>
          <p:nvPr/>
        </p:nvSpPr>
        <p:spPr>
          <a:xfrm xmlns:a="http://schemas.openxmlformats.org/drawingml/2006/main">
            <a:off x="3314700" y="4695825"/>
            <a:ext cx="9144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713" b="1">
                <a:solidFill>
                  <a:srgbClr val="F59E0B"/>
                </a:solidFill>
                <a:latin typeface="Aptos"/>
                <a:ea typeface="Aptos"/>
                <a:cs typeface="Aptos"/>
              </a:defRPr>
            </a:pPr>
            <a:r>
              <a:rPr sz="713" b="1">
                <a:solidFill>
                  <a:srgbClr val="F59E0B"/>
                </a:solidFill>
                <a:latin typeface="Aptos"/>
                <a:ea typeface="Aptos"/>
                <a:cs typeface="Aptos"/>
              </a:rPr>
              <a:t>30 minutes</a:t>
            </a:r>
          </a:p>
        </p:txBody>
      </p:sp>
      <p:sp>
        <p:nvSpPr>
          <p:cNvPr id="12" name="">
            <a:extLst xmlns:a="http://schemas.openxmlformats.org/drawingml/2006/main">
              <a:ext uri="{FF2B5EF4-FFF2-40B4-BE49-F238E27FC236}">
                <a16:creationId xmlns:a16="http://schemas.microsoft.com/office/drawing/2014/main" id="{902D3392-5A75-4E22-902D-D2124D1E54AB}"/>
              </a:ext>
            </a:extLst>
          </p:cNvPr>
          <p:cNvSpPr>
            <a:spLocks xmlns:a="http://schemas.openxmlformats.org/drawingml/2006/main" noGrp="1"/>
          </p:cNvSpPr>
          <p:nvPr/>
        </p:nvSpPr>
        <p:spPr>
          <a:xfrm xmlns:a="http://schemas.openxmlformats.org/drawingml/2006/main">
            <a:off x="552450" y="6229350"/>
            <a:ext cx="4572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825" b="0">
                <a:solidFill>
                  <a:srgbClr val="7B8798"/>
                </a:solidFill>
                <a:latin typeface="Aptos"/>
                <a:ea typeface="Aptos"/>
                <a:cs typeface="Aptos"/>
              </a:defRPr>
            </a:pPr>
            <a:r>
              <a:rPr sz="825" b="0">
                <a:solidFill>
                  <a:srgbClr val="7B8798"/>
                </a:solidFill>
                <a:latin typeface="Aptos"/>
                <a:ea typeface="Aptos"/>
                <a:cs typeface="Aptos"/>
              </a:rPr>
              <a:t>30 minutes | VS Code + GitHub Copilot mental model</a:t>
            </a:r>
          </a:p>
        </p:txBody>
      </p:sp>
      <p:sp>
        <p:nvSpPr>
          <p:cNvPr id="13" name="">
            <a:extLst xmlns:a="http://schemas.openxmlformats.org/drawingml/2006/main">
              <a:ext uri="{FF2B5EF4-FFF2-40B4-BE49-F238E27FC236}">
                <a16:creationId xmlns:a16="http://schemas.microsoft.com/office/drawing/2014/main" id="{A9C52DA0-3D08-430E-BDCA-A2C8D3225090}"/>
              </a:ext>
            </a:extLst>
          </p:cNvPr>
          <p:cNvSpPr>
            <a:spLocks xmlns:a="http://schemas.openxmlformats.org/drawingml/2006/main" noGrp="1"/>
          </p:cNvSpPr>
          <p:nvPr/>
        </p:nvSpPr>
        <p:spPr>
          <a:xfrm xmlns:a="http://schemas.openxmlformats.org/drawingml/2006/main">
            <a:off x="11239500" y="6477000"/>
            <a:ext cx="4381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r">
              <a:defRPr sz="750" b="1">
                <a:solidFill>
                  <a:srgbClr val="7B8798"/>
                </a:solidFill>
                <a:latin typeface="Aptos"/>
                <a:ea typeface="Aptos"/>
                <a:cs typeface="Aptos"/>
              </a:defRPr>
            </a:pPr>
            <a:r>
              <a:rPr sz="750" b="1">
                <a:solidFill>
                  <a:srgbClr val="7B8798"/>
                </a:solidFill>
                <a:latin typeface="Aptos"/>
                <a:ea typeface="Aptos"/>
                <a:cs typeface="Aptos"/>
              </a:rPr>
              <a:t>01</a:t>
            </a:r>
          </a:p>
        </p:txBody>
      </p:sp>
    </p:spTree>
    <p:extLst>
      <p:ext uri="{BB962C8B-B14F-4D97-AF65-F5344CB8AC3E}">
        <p14:creationId xmlns:p14="http://schemas.microsoft.com/office/powerpoint/2010/main" val="1588230538"/>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C97E641-ACDD-48EE-A471-E20D4AAAD6C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6F8F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569B92E-AFD0-4D26-A7AF-44DBEE02CB1A}"/>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9F9A"/>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C6AF56C-3F81-4493-8C70-3E42DAC9C2AD}"/>
              </a:ext>
            </a:extLst>
          </p:cNvPr>
          <p:cNvSpPr>
            <a:spLocks xmlns:a="http://schemas.openxmlformats.org/drawingml/2006/main" noGrp="1"/>
          </p:cNvSpPr>
          <p:nvPr/>
        </p:nvSpPr>
        <p:spPr>
          <a:xfrm xmlns:a="http://schemas.openxmlformats.org/drawingml/2006/main">
            <a:off x="514350" y="400050"/>
            <a:ext cx="5143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788" b="1">
                <a:solidFill>
                  <a:srgbClr val="0E9F9A"/>
                </a:solidFill>
                <a:latin typeface="Aptos"/>
                <a:ea typeface="Aptos"/>
                <a:cs typeface="Aptos"/>
              </a:defRPr>
            </a:pPr>
            <a:r>
              <a:rPr sz="788" b="1">
                <a:solidFill>
                  <a:srgbClr val="0E9F9A"/>
                </a:solidFill>
                <a:latin typeface="Aptos"/>
                <a:ea typeface="Aptos"/>
                <a:cs typeface="Aptos"/>
              </a:rPr>
              <a:t>LLM BASICS</a:t>
            </a:r>
          </a:p>
        </p:txBody>
      </p:sp>
      <p:sp>
        <p:nvSpPr>
          <p:cNvPr id="4" name="">
            <a:extLst xmlns:a="http://schemas.openxmlformats.org/drawingml/2006/main">
              <a:ext uri="{FF2B5EF4-FFF2-40B4-BE49-F238E27FC236}">
                <a16:creationId xmlns:a16="http://schemas.microsoft.com/office/drawing/2014/main" id="{92C4D1A7-67D7-46DC-8824-0EA7918C8BF1}"/>
              </a:ext>
            </a:extLst>
          </p:cNvPr>
          <p:cNvSpPr>
            <a:spLocks xmlns:a="http://schemas.openxmlformats.org/drawingml/2006/main" noGrp="1"/>
          </p:cNvSpPr>
          <p:nvPr/>
        </p:nvSpPr>
        <p:spPr>
          <a:xfrm xmlns:a="http://schemas.openxmlformats.org/drawingml/2006/main">
            <a:off x="514350" y="685800"/>
            <a:ext cx="8382000" cy="8763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172033"/>
                </a:solidFill>
                <a:latin typeface="Aptos Display"/>
                <a:ea typeface="Aptos Display"/>
                <a:cs typeface="Aptos Display"/>
              </a:defRPr>
            </a:pPr>
            <a:r>
              <a:rPr sz="2550" b="1">
                <a:solidFill>
                  <a:srgbClr val="172033"/>
                </a:solidFill>
                <a:latin typeface="Aptos Display"/>
                <a:ea typeface="Aptos Display"/>
                <a:cs typeface="Aptos Display"/>
              </a:rPr>
              <a:t>An LLM is a probabilistic text engine wrapped in product constraints.</a:t>
            </a:r>
          </a:p>
        </p:txBody>
      </p:sp>
      <p:sp>
        <p:nvSpPr>
          <p:cNvPr id="5" name="">
            <a:extLst xmlns:a="http://schemas.openxmlformats.org/drawingml/2006/main">
              <a:ext uri="{FF2B5EF4-FFF2-40B4-BE49-F238E27FC236}">
                <a16:creationId xmlns:a16="http://schemas.microsoft.com/office/drawing/2014/main" id="{07DB8A25-8364-4B0A-838D-00A34728E7E8}"/>
              </a:ext>
            </a:extLst>
          </p:cNvPr>
          <p:cNvSpPr>
            <a:spLocks xmlns:a="http://schemas.openxmlformats.org/drawingml/2006/main" noGrp="1"/>
          </p:cNvSpPr>
          <p:nvPr/>
        </p:nvSpPr>
        <p:spPr>
          <a:xfrm xmlns:a="http://schemas.openxmlformats.org/drawingml/2006/main">
            <a:off x="514350" y="6515100"/>
            <a:ext cx="88582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638" b="0">
                <a:solidFill>
                  <a:srgbClr val="7B8798"/>
                </a:solidFill>
                <a:latin typeface="Aptos"/>
                <a:ea typeface="Aptos"/>
                <a:cs typeface="Aptos"/>
              </a:defRPr>
            </a:pPr>
            <a:r>
              <a:rPr sz="638" b="0">
                <a:solidFill>
                  <a:srgbClr val="7B8798"/>
                </a:solidFill>
                <a:latin typeface="Aptos"/>
                <a:ea typeface="Aptos"/>
                <a:cs typeface="Aptos"/>
              </a:rPr>
              <a:t>101 AI Basics for Developers</a:t>
            </a:r>
          </a:p>
        </p:txBody>
      </p:sp>
      <p:sp>
        <p:nvSpPr>
          <p:cNvPr id="6" name="">
            <a:extLst xmlns:a="http://schemas.openxmlformats.org/drawingml/2006/main">
              <a:ext uri="{FF2B5EF4-FFF2-40B4-BE49-F238E27FC236}">
                <a16:creationId xmlns:a16="http://schemas.microsoft.com/office/drawing/2014/main" id="{856A92D7-3B7E-47D7-9084-8A77B3ECB89F}"/>
              </a:ext>
            </a:extLst>
          </p:cNvPr>
          <p:cNvSpPr>
            <a:spLocks xmlns:a="http://schemas.openxmlformats.org/drawingml/2006/main" noGrp="1"/>
          </p:cNvSpPr>
          <p:nvPr/>
        </p:nvSpPr>
        <p:spPr>
          <a:xfrm xmlns:a="http://schemas.openxmlformats.org/drawingml/2006/main">
            <a:off x="11239500" y="6477000"/>
            <a:ext cx="4381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r">
              <a:defRPr sz="750" b="1">
                <a:solidFill>
                  <a:srgbClr val="7B8798"/>
                </a:solidFill>
                <a:latin typeface="Aptos"/>
                <a:ea typeface="Aptos"/>
                <a:cs typeface="Aptos"/>
              </a:defRPr>
            </a:pPr>
            <a:r>
              <a:rPr sz="750" b="1">
                <a:solidFill>
                  <a:srgbClr val="7B8798"/>
                </a:solidFill>
                <a:latin typeface="Aptos"/>
                <a:ea typeface="Aptos"/>
                <a:cs typeface="Aptos"/>
              </a:rPr>
              <a:t>02</a:t>
            </a:r>
          </a:p>
        </p:txBody>
      </p:sp>
      <p:sp>
        <p:nvSpPr>
          <p:cNvPr id="7" name="">
            <a:extLst xmlns:a="http://schemas.openxmlformats.org/drawingml/2006/main">
              <a:ext uri="{FF2B5EF4-FFF2-40B4-BE49-F238E27FC236}">
                <a16:creationId xmlns:a16="http://schemas.microsoft.com/office/drawing/2014/main" id="{6A6A7A3D-00F5-4127-BC7B-9A3152405337}"/>
              </a:ext>
            </a:extLst>
          </p:cNvPr>
          <p:cNvSpPr>
            <a:spLocks xmlns:a="http://schemas.openxmlformats.org/drawingml/2006/main" noGrp="1"/>
          </p:cNvSpPr>
          <p:nvPr/>
        </p:nvSpPr>
        <p:spPr>
          <a:xfrm xmlns:a="http://schemas.openxmlformats.org/drawingml/2006/main">
            <a:off x="704850" y="2095500"/>
            <a:ext cx="47625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8E0EA"/>
            </a:solidFill>
          </a:ln>
        </p:spPr>
      </p:sp>
      <p:sp>
        <p:nvSpPr>
          <p:cNvPr id="8" name="">
            <a:extLst xmlns:a="http://schemas.openxmlformats.org/drawingml/2006/main">
              <a:ext uri="{FF2B5EF4-FFF2-40B4-BE49-F238E27FC236}">
                <a16:creationId xmlns:a16="http://schemas.microsoft.com/office/drawing/2014/main" id="{5E9C8055-D9A7-4785-9D78-3B54C7C3A209}"/>
              </a:ext>
            </a:extLst>
          </p:cNvPr>
          <p:cNvSpPr>
            <a:spLocks xmlns:a="http://schemas.openxmlformats.org/drawingml/2006/main" noGrp="1"/>
          </p:cNvSpPr>
          <p:nvPr/>
        </p:nvSpPr>
        <p:spPr>
          <a:xfrm xmlns:a="http://schemas.openxmlformats.org/drawingml/2006/main">
            <a:off x="704850" y="2095500"/>
            <a:ext cx="47625" cy="1066800"/>
          </a:xfrm>
          <a:prstGeom xmlns:a="http://schemas.openxmlformats.org/drawingml/2006/main" prst="rect">
            <a:avLst/>
          </a:prstGeom>
          <a:solidFill xmlns:a="http://schemas.openxmlformats.org/drawingml/2006/main">
            <a:srgbClr val="0E9F9A"/>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6E10C479-7569-4A88-AAF5-97858B5E8ADD}"/>
              </a:ext>
            </a:extLst>
          </p:cNvPr>
          <p:cNvSpPr>
            <a:spLocks xmlns:a="http://schemas.openxmlformats.org/drawingml/2006/main" noGrp="1"/>
          </p:cNvSpPr>
          <p:nvPr/>
        </p:nvSpPr>
        <p:spPr>
          <a:xfrm xmlns:a="http://schemas.openxmlformats.org/drawingml/2006/main">
            <a:off x="914400" y="2305050"/>
            <a:ext cx="43434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172033"/>
                </a:solidFill>
                <a:latin typeface="Aptos"/>
                <a:ea typeface="Aptos"/>
                <a:cs typeface="Aptos"/>
              </a:defRPr>
            </a:pPr>
            <a:r>
              <a:rPr sz="1275" b="1">
                <a:solidFill>
                  <a:srgbClr val="172033"/>
                </a:solidFill>
                <a:latin typeface="Aptos"/>
                <a:ea typeface="Aptos"/>
                <a:cs typeface="Aptos"/>
              </a:rPr>
              <a:t>Tokens</a:t>
            </a:r>
          </a:p>
        </p:txBody>
      </p:sp>
      <p:sp>
        <p:nvSpPr>
          <p:cNvPr id="10" name="">
            <a:extLst xmlns:a="http://schemas.openxmlformats.org/drawingml/2006/main">
              <a:ext uri="{FF2B5EF4-FFF2-40B4-BE49-F238E27FC236}">
                <a16:creationId xmlns:a16="http://schemas.microsoft.com/office/drawing/2014/main" id="{6B3FC803-D260-4674-BB08-D7EE352FF8BA}"/>
              </a:ext>
            </a:extLst>
          </p:cNvPr>
          <p:cNvSpPr>
            <a:spLocks xmlns:a="http://schemas.openxmlformats.org/drawingml/2006/main" noGrp="1"/>
          </p:cNvSpPr>
          <p:nvPr/>
        </p:nvSpPr>
        <p:spPr>
          <a:xfrm xmlns:a="http://schemas.openxmlformats.org/drawingml/2006/main">
            <a:off x="914400" y="2647950"/>
            <a:ext cx="43434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38" b="0">
                <a:solidFill>
                  <a:srgbClr val="526179"/>
                </a:solidFill>
                <a:latin typeface="Aptos"/>
                <a:ea typeface="Aptos"/>
                <a:cs typeface="Aptos"/>
              </a:defRPr>
            </a:pPr>
            <a:r>
              <a:rPr sz="938" b="0">
                <a:solidFill>
                  <a:srgbClr val="526179"/>
                </a:solidFill>
                <a:latin typeface="Aptos"/>
                <a:ea typeface="Aptos"/>
                <a:cs typeface="Aptos"/>
              </a:rPr>
              <a:t>The model sees chunks of text, code, and symbols, not files the way your editor does.</a:t>
            </a:r>
          </a:p>
        </p:txBody>
      </p:sp>
      <p:sp>
        <p:nvSpPr>
          <p:cNvPr id="11" name="">
            <a:extLst xmlns:a="http://schemas.openxmlformats.org/drawingml/2006/main">
              <a:ext uri="{FF2B5EF4-FFF2-40B4-BE49-F238E27FC236}">
                <a16:creationId xmlns:a16="http://schemas.microsoft.com/office/drawing/2014/main" id="{023EA70A-C039-464F-BC57-E784B50816AF}"/>
              </a:ext>
            </a:extLst>
          </p:cNvPr>
          <p:cNvSpPr>
            <a:spLocks xmlns:a="http://schemas.openxmlformats.org/drawingml/2006/main" noGrp="1"/>
          </p:cNvSpPr>
          <p:nvPr/>
        </p:nvSpPr>
        <p:spPr>
          <a:xfrm xmlns:a="http://schemas.openxmlformats.org/drawingml/2006/main">
            <a:off x="6096000" y="2095500"/>
            <a:ext cx="47625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8E0EA"/>
            </a:solidFill>
          </a:ln>
        </p:spPr>
      </p:sp>
      <p:sp>
        <p:nvSpPr>
          <p:cNvPr id="12" name="">
            <a:extLst xmlns:a="http://schemas.openxmlformats.org/drawingml/2006/main">
              <a:ext uri="{FF2B5EF4-FFF2-40B4-BE49-F238E27FC236}">
                <a16:creationId xmlns:a16="http://schemas.microsoft.com/office/drawing/2014/main" id="{700C8D8E-473F-4840-A225-D0017766D3B2}"/>
              </a:ext>
            </a:extLst>
          </p:cNvPr>
          <p:cNvSpPr>
            <a:spLocks xmlns:a="http://schemas.openxmlformats.org/drawingml/2006/main" noGrp="1"/>
          </p:cNvSpPr>
          <p:nvPr/>
        </p:nvSpPr>
        <p:spPr>
          <a:xfrm xmlns:a="http://schemas.openxmlformats.org/drawingml/2006/main">
            <a:off x="6096000" y="2095500"/>
            <a:ext cx="47625" cy="1066800"/>
          </a:xfrm>
          <a:prstGeom xmlns:a="http://schemas.openxmlformats.org/drawingml/2006/main" prst="rect">
            <a:avLst/>
          </a:prstGeom>
          <a:solidFill xmlns:a="http://schemas.openxmlformats.org/drawingml/2006/main">
            <a:srgbClr val="2563EB"/>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63E9F227-CF38-4739-94B4-074FC60FCA14}"/>
              </a:ext>
            </a:extLst>
          </p:cNvPr>
          <p:cNvSpPr>
            <a:spLocks xmlns:a="http://schemas.openxmlformats.org/drawingml/2006/main" noGrp="1"/>
          </p:cNvSpPr>
          <p:nvPr/>
        </p:nvSpPr>
        <p:spPr>
          <a:xfrm xmlns:a="http://schemas.openxmlformats.org/drawingml/2006/main">
            <a:off x="6305550" y="2305050"/>
            <a:ext cx="43434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172033"/>
                </a:solidFill>
                <a:latin typeface="Aptos"/>
                <a:ea typeface="Aptos"/>
                <a:cs typeface="Aptos"/>
              </a:defRPr>
            </a:pPr>
            <a:r>
              <a:rPr sz="1275" b="1">
                <a:solidFill>
                  <a:srgbClr val="172033"/>
                </a:solidFill>
                <a:latin typeface="Aptos"/>
                <a:ea typeface="Aptos"/>
                <a:cs typeface="Aptos"/>
              </a:rPr>
              <a:t>Context</a:t>
            </a:r>
          </a:p>
        </p:txBody>
      </p:sp>
      <p:sp>
        <p:nvSpPr>
          <p:cNvPr id="14" name="">
            <a:extLst xmlns:a="http://schemas.openxmlformats.org/drawingml/2006/main">
              <a:ext uri="{FF2B5EF4-FFF2-40B4-BE49-F238E27FC236}">
                <a16:creationId xmlns:a16="http://schemas.microsoft.com/office/drawing/2014/main" id="{4D60280B-DA30-4035-834D-ED780629F7A1}"/>
              </a:ext>
            </a:extLst>
          </p:cNvPr>
          <p:cNvSpPr>
            <a:spLocks xmlns:a="http://schemas.openxmlformats.org/drawingml/2006/main" noGrp="1"/>
          </p:cNvSpPr>
          <p:nvPr/>
        </p:nvSpPr>
        <p:spPr>
          <a:xfrm xmlns:a="http://schemas.openxmlformats.org/drawingml/2006/main">
            <a:off x="6305550" y="2647950"/>
            <a:ext cx="43434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38" b="0">
                <a:solidFill>
                  <a:srgbClr val="526179"/>
                </a:solidFill>
                <a:latin typeface="Aptos"/>
                <a:ea typeface="Aptos"/>
                <a:cs typeface="Aptos"/>
              </a:defRPr>
            </a:pPr>
            <a:r>
              <a:rPr sz="938" b="0">
                <a:solidFill>
                  <a:srgbClr val="526179"/>
                </a:solidFill>
                <a:latin typeface="Aptos"/>
                <a:ea typeface="Aptos"/>
                <a:cs typeface="Aptos"/>
              </a:rPr>
              <a:t>Only the current assembled context is available at generation time.</a:t>
            </a:r>
          </a:p>
        </p:txBody>
      </p:sp>
      <p:sp>
        <p:nvSpPr>
          <p:cNvPr id="15" name="">
            <a:extLst xmlns:a="http://schemas.openxmlformats.org/drawingml/2006/main">
              <a:ext uri="{FF2B5EF4-FFF2-40B4-BE49-F238E27FC236}">
                <a16:creationId xmlns:a16="http://schemas.microsoft.com/office/drawing/2014/main" id="{B7F2ED93-92A5-47FC-A6FF-F98225C0CC4C}"/>
              </a:ext>
            </a:extLst>
          </p:cNvPr>
          <p:cNvSpPr>
            <a:spLocks xmlns:a="http://schemas.openxmlformats.org/drawingml/2006/main" noGrp="1"/>
          </p:cNvSpPr>
          <p:nvPr/>
        </p:nvSpPr>
        <p:spPr>
          <a:xfrm xmlns:a="http://schemas.openxmlformats.org/drawingml/2006/main">
            <a:off x="704850" y="3581400"/>
            <a:ext cx="47625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8E0EA"/>
            </a:solidFill>
          </a:ln>
        </p:spPr>
      </p:sp>
      <p:sp>
        <p:nvSpPr>
          <p:cNvPr id="16" name="">
            <a:extLst xmlns:a="http://schemas.openxmlformats.org/drawingml/2006/main">
              <a:ext uri="{FF2B5EF4-FFF2-40B4-BE49-F238E27FC236}">
                <a16:creationId xmlns:a16="http://schemas.microsoft.com/office/drawing/2014/main" id="{DDAA179D-6E0E-4A2B-A50B-66EBCF326BD9}"/>
              </a:ext>
            </a:extLst>
          </p:cNvPr>
          <p:cNvSpPr>
            <a:spLocks xmlns:a="http://schemas.openxmlformats.org/drawingml/2006/main" noGrp="1"/>
          </p:cNvSpPr>
          <p:nvPr/>
        </p:nvSpPr>
        <p:spPr>
          <a:xfrm xmlns:a="http://schemas.openxmlformats.org/drawingml/2006/main">
            <a:off x="704850" y="3581400"/>
            <a:ext cx="47625" cy="1066800"/>
          </a:xfrm>
          <a:prstGeom xmlns:a="http://schemas.openxmlformats.org/drawingml/2006/main" prst="rect">
            <a:avLst/>
          </a:prstGeom>
          <a:solidFill xmlns:a="http://schemas.openxmlformats.org/drawingml/2006/main">
            <a:srgbClr val="F59E0B"/>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48D1D1F7-E32D-46DF-A8E5-0C348978DF23}"/>
              </a:ext>
            </a:extLst>
          </p:cNvPr>
          <p:cNvSpPr>
            <a:spLocks xmlns:a="http://schemas.openxmlformats.org/drawingml/2006/main" noGrp="1"/>
          </p:cNvSpPr>
          <p:nvPr/>
        </p:nvSpPr>
        <p:spPr>
          <a:xfrm xmlns:a="http://schemas.openxmlformats.org/drawingml/2006/main">
            <a:off x="914400" y="3790950"/>
            <a:ext cx="43434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172033"/>
                </a:solidFill>
                <a:latin typeface="Aptos"/>
                <a:ea typeface="Aptos"/>
                <a:cs typeface="Aptos"/>
              </a:defRPr>
            </a:pPr>
            <a:r>
              <a:rPr sz="1275" b="1">
                <a:solidFill>
                  <a:srgbClr val="172033"/>
                </a:solidFill>
                <a:latin typeface="Aptos"/>
                <a:ea typeface="Aptos"/>
                <a:cs typeface="Aptos"/>
              </a:rPr>
              <a:t>Uncertainty</a:t>
            </a:r>
          </a:p>
        </p:txBody>
      </p:sp>
      <p:sp>
        <p:nvSpPr>
          <p:cNvPr id="18" name="">
            <a:extLst xmlns:a="http://schemas.openxmlformats.org/drawingml/2006/main">
              <a:ext uri="{FF2B5EF4-FFF2-40B4-BE49-F238E27FC236}">
                <a16:creationId xmlns:a16="http://schemas.microsoft.com/office/drawing/2014/main" id="{5484BB23-5767-416B-890B-22AD68B5C7CA}"/>
              </a:ext>
            </a:extLst>
          </p:cNvPr>
          <p:cNvSpPr>
            <a:spLocks xmlns:a="http://schemas.openxmlformats.org/drawingml/2006/main" noGrp="1"/>
          </p:cNvSpPr>
          <p:nvPr/>
        </p:nvSpPr>
        <p:spPr>
          <a:xfrm xmlns:a="http://schemas.openxmlformats.org/drawingml/2006/main">
            <a:off x="914400" y="4133850"/>
            <a:ext cx="43434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38" b="0">
                <a:solidFill>
                  <a:srgbClr val="526179"/>
                </a:solidFill>
                <a:latin typeface="Aptos"/>
                <a:ea typeface="Aptos"/>
                <a:cs typeface="Aptos"/>
              </a:defRPr>
            </a:pPr>
            <a:r>
              <a:rPr sz="938" b="0">
                <a:solidFill>
                  <a:srgbClr val="526179"/>
                </a:solidFill>
                <a:latin typeface="Aptos"/>
                <a:ea typeface="Aptos"/>
                <a:cs typeface="Aptos"/>
              </a:rPr>
              <a:t>Plausible output is not the same as true output, especially for APIs and repo-specific behavior.</a:t>
            </a:r>
          </a:p>
        </p:txBody>
      </p:sp>
      <p:sp>
        <p:nvSpPr>
          <p:cNvPr id="19" name="">
            <a:extLst xmlns:a="http://schemas.openxmlformats.org/drawingml/2006/main">
              <a:ext uri="{FF2B5EF4-FFF2-40B4-BE49-F238E27FC236}">
                <a16:creationId xmlns:a16="http://schemas.microsoft.com/office/drawing/2014/main" id="{1FF5BB28-E226-4E1C-8CC1-B3E58ADC13C7}"/>
              </a:ext>
            </a:extLst>
          </p:cNvPr>
          <p:cNvSpPr>
            <a:spLocks xmlns:a="http://schemas.openxmlformats.org/drawingml/2006/main" noGrp="1"/>
          </p:cNvSpPr>
          <p:nvPr/>
        </p:nvSpPr>
        <p:spPr>
          <a:xfrm xmlns:a="http://schemas.openxmlformats.org/drawingml/2006/main">
            <a:off x="6096000" y="3581400"/>
            <a:ext cx="47625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8E0EA"/>
            </a:solidFill>
          </a:ln>
        </p:spPr>
      </p:sp>
      <p:sp>
        <p:nvSpPr>
          <p:cNvPr id="20" name="">
            <a:extLst xmlns:a="http://schemas.openxmlformats.org/drawingml/2006/main">
              <a:ext uri="{FF2B5EF4-FFF2-40B4-BE49-F238E27FC236}">
                <a16:creationId xmlns:a16="http://schemas.microsoft.com/office/drawing/2014/main" id="{6E8E31F5-F88A-4C70-874F-A74AEE725755}"/>
              </a:ext>
            </a:extLst>
          </p:cNvPr>
          <p:cNvSpPr>
            <a:spLocks xmlns:a="http://schemas.openxmlformats.org/drawingml/2006/main" noGrp="1"/>
          </p:cNvSpPr>
          <p:nvPr/>
        </p:nvSpPr>
        <p:spPr>
          <a:xfrm xmlns:a="http://schemas.openxmlformats.org/drawingml/2006/main">
            <a:off x="6096000" y="3581400"/>
            <a:ext cx="47625" cy="1066800"/>
          </a:xfrm>
          <a:prstGeom xmlns:a="http://schemas.openxmlformats.org/drawingml/2006/main" prst="rect">
            <a:avLst/>
          </a:prstGeom>
          <a:solidFill xmlns:a="http://schemas.openxmlformats.org/drawingml/2006/main">
            <a:srgbClr val="7C3AED"/>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92F20F73-EDC5-4D2C-9E15-D3DF9A73876F}"/>
              </a:ext>
            </a:extLst>
          </p:cNvPr>
          <p:cNvSpPr>
            <a:spLocks xmlns:a="http://schemas.openxmlformats.org/drawingml/2006/main" noGrp="1"/>
          </p:cNvSpPr>
          <p:nvPr/>
        </p:nvSpPr>
        <p:spPr>
          <a:xfrm xmlns:a="http://schemas.openxmlformats.org/drawingml/2006/main">
            <a:off x="6305550" y="3790950"/>
            <a:ext cx="43434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172033"/>
                </a:solidFill>
                <a:latin typeface="Aptos"/>
                <a:ea typeface="Aptos"/>
                <a:cs typeface="Aptos"/>
              </a:defRPr>
            </a:pPr>
            <a:r>
              <a:rPr sz="1275" b="1">
                <a:solidFill>
                  <a:srgbClr val="172033"/>
                </a:solidFill>
                <a:latin typeface="Aptos"/>
                <a:ea typeface="Aptos"/>
                <a:cs typeface="Aptos"/>
              </a:rPr>
              <a:t>Reasoning</a:t>
            </a:r>
          </a:p>
        </p:txBody>
      </p:sp>
      <p:sp>
        <p:nvSpPr>
          <p:cNvPr id="22" name="">
            <a:extLst xmlns:a="http://schemas.openxmlformats.org/drawingml/2006/main">
              <a:ext uri="{FF2B5EF4-FFF2-40B4-BE49-F238E27FC236}">
                <a16:creationId xmlns:a16="http://schemas.microsoft.com/office/drawing/2014/main" id="{F9184D1A-5902-4DB4-AA4B-FDF360D81FC9}"/>
              </a:ext>
            </a:extLst>
          </p:cNvPr>
          <p:cNvSpPr>
            <a:spLocks xmlns:a="http://schemas.openxmlformats.org/drawingml/2006/main" noGrp="1"/>
          </p:cNvSpPr>
          <p:nvPr/>
        </p:nvSpPr>
        <p:spPr>
          <a:xfrm xmlns:a="http://schemas.openxmlformats.org/drawingml/2006/main">
            <a:off x="6305550" y="4133850"/>
            <a:ext cx="43434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38" b="0">
                <a:solidFill>
                  <a:srgbClr val="526179"/>
                </a:solidFill>
                <a:latin typeface="Aptos"/>
                <a:ea typeface="Aptos"/>
                <a:cs typeface="Aptos"/>
              </a:defRPr>
            </a:pPr>
            <a:r>
              <a:rPr sz="938" b="0">
                <a:solidFill>
                  <a:srgbClr val="526179"/>
                </a:solidFill>
                <a:latin typeface="Aptos"/>
                <a:ea typeface="Aptos"/>
                <a:cs typeface="Aptos"/>
              </a:rPr>
              <a:t>Modern models can plan and inspect, but they still need grounding and verification.</a:t>
            </a:r>
          </a:p>
        </p:txBody>
      </p:sp>
      <p:sp>
        <p:nvSpPr>
          <p:cNvPr id="23" name="">
            <a:extLst xmlns:a="http://schemas.openxmlformats.org/drawingml/2006/main">
              <a:ext uri="{FF2B5EF4-FFF2-40B4-BE49-F238E27FC236}">
                <a16:creationId xmlns:a16="http://schemas.microsoft.com/office/drawing/2014/main" id="{9C3C7D6F-1D56-409D-A793-C671A3282CEC}"/>
              </a:ext>
            </a:extLst>
          </p:cNvPr>
          <p:cNvSpPr>
            <a:spLocks xmlns:a="http://schemas.openxmlformats.org/drawingml/2006/main" noGrp="1"/>
          </p:cNvSpPr>
          <p:nvPr/>
        </p:nvSpPr>
        <p:spPr>
          <a:xfrm xmlns:a="http://schemas.openxmlformats.org/drawingml/2006/main">
            <a:off x="1790700" y="5429250"/>
            <a:ext cx="8610600" cy="590550"/>
          </a:xfrm>
          <a:prstGeom xmlns:a="http://schemas.openxmlformats.org/drawingml/2006/main" prst="rect">
            <a:avLst/>
          </a:prstGeom>
          <a:solidFill xmlns:a="http://schemas.openxmlformats.org/drawingml/2006/main">
            <a:srgbClr val="EEF9F8"/>
          </a:solidFill>
          <a:ln xmlns:a="http://schemas.openxmlformats.org/drawingml/2006/main" w="9525">
            <a:solidFill>
              <a:srgbClr val="0E9F9A"/>
            </a:solidFill>
          </a:ln>
        </p:spPr>
      </p:sp>
      <p:sp>
        <p:nvSpPr>
          <p:cNvPr id="24" name="">
            <a:extLst xmlns:a="http://schemas.openxmlformats.org/drawingml/2006/main">
              <a:ext uri="{FF2B5EF4-FFF2-40B4-BE49-F238E27FC236}">
                <a16:creationId xmlns:a16="http://schemas.microsoft.com/office/drawing/2014/main" id="{F8D0F11C-6F10-4B23-85A3-95F74EDB24FF}"/>
              </a:ext>
            </a:extLst>
          </p:cNvPr>
          <p:cNvSpPr>
            <a:spLocks xmlns:a="http://schemas.openxmlformats.org/drawingml/2006/main" noGrp="1"/>
          </p:cNvSpPr>
          <p:nvPr/>
        </p:nvSpPr>
        <p:spPr>
          <a:xfrm xmlns:a="http://schemas.openxmlformats.org/drawingml/2006/main">
            <a:off x="2095500" y="5610225"/>
            <a:ext cx="80010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172033"/>
                </a:solidFill>
                <a:latin typeface="Aptos"/>
                <a:ea typeface="Aptos"/>
                <a:cs typeface="Aptos"/>
              </a:defRPr>
            </a:pPr>
            <a:r>
              <a:rPr sz="1350" b="1">
                <a:solidFill>
                  <a:srgbClr val="172033"/>
                </a:solidFill>
                <a:latin typeface="Aptos"/>
                <a:ea typeface="Aptos"/>
                <a:cs typeface="Aptos"/>
              </a:rPr>
              <a:t>Treat model output as a draft from a very fast engineer with incomplete local state.</a:t>
            </a:r>
          </a:p>
        </p:txBody>
      </p:sp>
    </p:spTree>
    <p:extLst>
      <p:ext uri="{BB962C8B-B14F-4D97-AF65-F5344CB8AC3E}">
        <p14:creationId xmlns:p14="http://schemas.microsoft.com/office/powerpoint/2010/main" val="712569743"/>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6F432E0-AECD-4BB6-ABC0-0B0A0301AEF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6F8F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EF45624-1CF1-4626-B0B4-FFD471FE89D3}"/>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9F9A"/>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6FFC3E4-F15E-4443-BA97-CBE10AB27BD2}"/>
              </a:ext>
            </a:extLst>
          </p:cNvPr>
          <p:cNvSpPr>
            <a:spLocks xmlns:a="http://schemas.openxmlformats.org/drawingml/2006/main" noGrp="1"/>
          </p:cNvSpPr>
          <p:nvPr/>
        </p:nvSpPr>
        <p:spPr>
          <a:xfrm xmlns:a="http://schemas.openxmlformats.org/drawingml/2006/main">
            <a:off x="514350" y="400050"/>
            <a:ext cx="5143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788" b="1">
                <a:solidFill>
                  <a:srgbClr val="0E9F9A"/>
                </a:solidFill>
                <a:latin typeface="Aptos"/>
                <a:ea typeface="Aptos"/>
                <a:cs typeface="Aptos"/>
              </a:defRPr>
            </a:pPr>
            <a:r>
              <a:rPr sz="788" b="1">
                <a:solidFill>
                  <a:srgbClr val="0E9F9A"/>
                </a:solidFill>
                <a:latin typeface="Aptos"/>
                <a:ea typeface="Aptos"/>
                <a:cs typeface="Aptos"/>
              </a:rPr>
              <a:t>PROMPTING AS SPECIFICATION</a:t>
            </a:r>
          </a:p>
        </p:txBody>
      </p:sp>
      <p:sp>
        <p:nvSpPr>
          <p:cNvPr id="4" name="">
            <a:extLst xmlns:a="http://schemas.openxmlformats.org/drawingml/2006/main">
              <a:ext uri="{FF2B5EF4-FFF2-40B4-BE49-F238E27FC236}">
                <a16:creationId xmlns:a16="http://schemas.microsoft.com/office/drawing/2014/main" id="{273239B7-9F41-448C-B326-3E8C246303F5}"/>
              </a:ext>
            </a:extLst>
          </p:cNvPr>
          <p:cNvSpPr>
            <a:spLocks xmlns:a="http://schemas.openxmlformats.org/drawingml/2006/main" noGrp="1"/>
          </p:cNvSpPr>
          <p:nvPr/>
        </p:nvSpPr>
        <p:spPr>
          <a:xfrm xmlns:a="http://schemas.openxmlformats.org/drawingml/2006/main">
            <a:off x="514350" y="685800"/>
            <a:ext cx="8382000" cy="8763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172033"/>
                </a:solidFill>
                <a:latin typeface="Aptos Display"/>
                <a:ea typeface="Aptos Display"/>
                <a:cs typeface="Aptos Display"/>
              </a:defRPr>
            </a:pPr>
            <a:r>
              <a:rPr sz="2550" b="1">
                <a:solidFill>
                  <a:srgbClr val="172033"/>
                </a:solidFill>
                <a:latin typeface="Aptos Display"/>
                <a:ea typeface="Aptos Display"/>
                <a:cs typeface="Aptos Display"/>
              </a:rPr>
              <a:t>Good agent prompts look like small implementation briefs.</a:t>
            </a:r>
          </a:p>
        </p:txBody>
      </p:sp>
      <p:sp>
        <p:nvSpPr>
          <p:cNvPr id="5" name="">
            <a:extLst xmlns:a="http://schemas.openxmlformats.org/drawingml/2006/main">
              <a:ext uri="{FF2B5EF4-FFF2-40B4-BE49-F238E27FC236}">
                <a16:creationId xmlns:a16="http://schemas.microsoft.com/office/drawing/2014/main" id="{28F7668D-3A51-468E-892C-DD6405616583}"/>
              </a:ext>
            </a:extLst>
          </p:cNvPr>
          <p:cNvSpPr>
            <a:spLocks xmlns:a="http://schemas.openxmlformats.org/drawingml/2006/main" noGrp="1"/>
          </p:cNvSpPr>
          <p:nvPr/>
        </p:nvSpPr>
        <p:spPr>
          <a:xfrm xmlns:a="http://schemas.openxmlformats.org/drawingml/2006/main">
            <a:off x="514350" y="6515100"/>
            <a:ext cx="88582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638" b="0">
                <a:solidFill>
                  <a:srgbClr val="7B8798"/>
                </a:solidFill>
                <a:latin typeface="Aptos"/>
                <a:ea typeface="Aptos"/>
                <a:cs typeface="Aptos"/>
              </a:defRPr>
            </a:pPr>
            <a:r>
              <a:rPr sz="638" b="0">
                <a:solidFill>
                  <a:srgbClr val="7B8798"/>
                </a:solidFill>
                <a:latin typeface="Aptos"/>
                <a:ea typeface="Aptos"/>
                <a:cs typeface="Aptos"/>
              </a:rPr>
              <a:t>101 AI Basics for Developers</a:t>
            </a:r>
          </a:p>
        </p:txBody>
      </p:sp>
      <p:sp>
        <p:nvSpPr>
          <p:cNvPr id="6" name="">
            <a:extLst xmlns:a="http://schemas.openxmlformats.org/drawingml/2006/main">
              <a:ext uri="{FF2B5EF4-FFF2-40B4-BE49-F238E27FC236}">
                <a16:creationId xmlns:a16="http://schemas.microsoft.com/office/drawing/2014/main" id="{E6F25CBE-6F91-4A29-BB1F-15AADA044845}"/>
              </a:ext>
            </a:extLst>
          </p:cNvPr>
          <p:cNvSpPr>
            <a:spLocks xmlns:a="http://schemas.openxmlformats.org/drawingml/2006/main" noGrp="1"/>
          </p:cNvSpPr>
          <p:nvPr/>
        </p:nvSpPr>
        <p:spPr>
          <a:xfrm xmlns:a="http://schemas.openxmlformats.org/drawingml/2006/main">
            <a:off x="11239500" y="6477000"/>
            <a:ext cx="4381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r">
              <a:defRPr sz="750" b="1">
                <a:solidFill>
                  <a:srgbClr val="7B8798"/>
                </a:solidFill>
                <a:latin typeface="Aptos"/>
                <a:ea typeface="Aptos"/>
                <a:cs typeface="Aptos"/>
              </a:defRPr>
            </a:pPr>
            <a:r>
              <a:rPr sz="750" b="1">
                <a:solidFill>
                  <a:srgbClr val="7B8798"/>
                </a:solidFill>
                <a:latin typeface="Aptos"/>
                <a:ea typeface="Aptos"/>
                <a:cs typeface="Aptos"/>
              </a:rPr>
              <a:t>03</a:t>
            </a:r>
          </a:p>
        </p:txBody>
      </p:sp>
      <p:sp>
        <p:nvSpPr>
          <p:cNvPr id="7" name="">
            <a:extLst xmlns:a="http://schemas.openxmlformats.org/drawingml/2006/main">
              <a:ext uri="{FF2B5EF4-FFF2-40B4-BE49-F238E27FC236}">
                <a16:creationId xmlns:a16="http://schemas.microsoft.com/office/drawing/2014/main" id="{BADB7210-C36B-432A-AB5E-6C8D6FD45E32}"/>
              </a:ext>
            </a:extLst>
          </p:cNvPr>
          <p:cNvSpPr>
            <a:spLocks xmlns:a="http://schemas.openxmlformats.org/drawingml/2006/main" noGrp="1"/>
          </p:cNvSpPr>
          <p:nvPr/>
        </p:nvSpPr>
        <p:spPr>
          <a:xfrm xmlns:a="http://schemas.openxmlformats.org/drawingml/2006/main">
            <a:off x="704850" y="2143125"/>
            <a:ext cx="4476750" cy="1714500"/>
          </a:xfrm>
          <a:prstGeom xmlns:a="http://schemas.openxmlformats.org/drawingml/2006/main" prst="rect">
            <a:avLst/>
          </a:prstGeom>
          <a:solidFill xmlns:a="http://schemas.openxmlformats.org/drawingml/2006/main">
            <a:srgbClr val="0B122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3A0927E9-3F69-4F7B-B8E6-23BC8B596C6C}"/>
              </a:ext>
            </a:extLst>
          </p:cNvPr>
          <p:cNvSpPr>
            <a:spLocks xmlns:a="http://schemas.openxmlformats.org/drawingml/2006/main" noGrp="1"/>
          </p:cNvSpPr>
          <p:nvPr/>
        </p:nvSpPr>
        <p:spPr>
          <a:xfrm xmlns:a="http://schemas.openxmlformats.org/drawingml/2006/main">
            <a:off x="914400" y="2352675"/>
            <a:ext cx="4057650" cy="12954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75" b="0">
                <a:solidFill>
                  <a:srgbClr val="D8E6F3"/>
                </a:solidFill>
                <a:latin typeface="Aptos Mono"/>
                <a:ea typeface="Aptos Mono"/>
                <a:cs typeface="Aptos Mono"/>
              </a:defRPr>
            </a:pPr>
            <a:r>
              <a:rPr sz="975" b="0">
                <a:solidFill>
                  <a:srgbClr val="D8E6F3"/>
                </a:solidFill>
                <a:latin typeface="Aptos Mono"/>
                <a:ea typeface="Aptos Mono"/>
                <a:cs typeface="Aptos Mono"/>
              </a:rPr>
              <a:t>Fix auth bug.</a:t>
            </a:r>
          </a:p>
        </p:txBody>
      </p:sp>
      <p:sp>
        <p:nvSpPr>
          <p:cNvPr id="9" name="">
            <a:extLst xmlns:a="http://schemas.openxmlformats.org/drawingml/2006/main">
              <a:ext uri="{FF2B5EF4-FFF2-40B4-BE49-F238E27FC236}">
                <a16:creationId xmlns:a16="http://schemas.microsoft.com/office/drawing/2014/main" id="{B3FC7D0B-75AA-4658-881A-3FF56B21E796}"/>
              </a:ext>
            </a:extLst>
          </p:cNvPr>
          <p:cNvSpPr>
            <a:spLocks xmlns:a="http://schemas.openxmlformats.org/drawingml/2006/main" noGrp="1"/>
          </p:cNvSpPr>
          <p:nvPr/>
        </p:nvSpPr>
        <p:spPr>
          <a:xfrm xmlns:a="http://schemas.openxmlformats.org/drawingml/2006/main">
            <a:off x="914400" y="1809750"/>
            <a:ext cx="2476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DC2626"/>
                </a:solidFill>
                <a:latin typeface="Aptos"/>
                <a:ea typeface="Aptos"/>
                <a:cs typeface="Aptos"/>
              </a:defRPr>
            </a:pPr>
            <a:r>
              <a:rPr sz="1200" b="1">
                <a:solidFill>
                  <a:srgbClr val="DC2626"/>
                </a:solidFill>
                <a:latin typeface="Aptos"/>
                <a:ea typeface="Aptos"/>
                <a:cs typeface="Aptos"/>
              </a:rPr>
              <a:t>Weak prompt</a:t>
            </a:r>
          </a:p>
        </p:txBody>
      </p:sp>
      <p:sp>
        <p:nvSpPr>
          <p:cNvPr id="10" name="">
            <a:extLst xmlns:a="http://schemas.openxmlformats.org/drawingml/2006/main">
              <a:ext uri="{FF2B5EF4-FFF2-40B4-BE49-F238E27FC236}">
                <a16:creationId xmlns:a16="http://schemas.microsoft.com/office/drawing/2014/main" id="{1DE8579B-0AD0-46C5-9817-9A6E88FF6642}"/>
              </a:ext>
            </a:extLst>
          </p:cNvPr>
          <p:cNvSpPr>
            <a:spLocks xmlns:a="http://schemas.openxmlformats.org/drawingml/2006/main" noGrp="1"/>
          </p:cNvSpPr>
          <p:nvPr/>
        </p:nvSpPr>
        <p:spPr>
          <a:xfrm xmlns:a="http://schemas.openxmlformats.org/drawingml/2006/main">
            <a:off x="6286500" y="2143125"/>
            <a:ext cx="4762500" cy="1714500"/>
          </a:xfrm>
          <a:prstGeom xmlns:a="http://schemas.openxmlformats.org/drawingml/2006/main" prst="rect">
            <a:avLst/>
          </a:prstGeom>
          <a:solidFill xmlns:a="http://schemas.openxmlformats.org/drawingml/2006/main">
            <a:srgbClr val="0B122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DA3B843-5BC1-4DA2-A0EE-45745D969295}"/>
              </a:ext>
            </a:extLst>
          </p:cNvPr>
          <p:cNvSpPr>
            <a:spLocks xmlns:a="http://schemas.openxmlformats.org/drawingml/2006/main" noGrp="1"/>
          </p:cNvSpPr>
          <p:nvPr/>
        </p:nvSpPr>
        <p:spPr>
          <a:xfrm xmlns:a="http://schemas.openxmlformats.org/drawingml/2006/main">
            <a:off x="6496050" y="2352675"/>
            <a:ext cx="4343400" cy="12954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75" b="0">
                <a:solidFill>
                  <a:srgbClr val="D8E6F3"/>
                </a:solidFill>
                <a:latin typeface="Aptos Mono"/>
                <a:ea typeface="Aptos Mono"/>
                <a:cs typeface="Aptos Mono"/>
              </a:defRPr>
            </a:pPr>
            <a:r>
              <a:rPr sz="975" b="0">
                <a:solidFill>
                  <a:srgbClr val="D8E6F3"/>
                </a:solidFill>
                <a:latin typeface="Aptos Mono"/>
                <a:ea typeface="Aptos Mono"/>
                <a:cs typeface="Aptos Mono"/>
              </a:rPr>
              <a:t>Investigate why expired sessions still pass /api/me. Start by reading auth middleware and session tests. Propose the smallest fix, update tests, and summarize the diff.</a:t>
            </a:r>
          </a:p>
        </p:txBody>
      </p:sp>
      <p:sp>
        <p:nvSpPr>
          <p:cNvPr id="12" name="">
            <a:extLst xmlns:a="http://schemas.openxmlformats.org/drawingml/2006/main">
              <a:ext uri="{FF2B5EF4-FFF2-40B4-BE49-F238E27FC236}">
                <a16:creationId xmlns:a16="http://schemas.microsoft.com/office/drawing/2014/main" id="{32C52A32-8867-40E2-BC4F-BD1605F0E4C3}"/>
              </a:ext>
            </a:extLst>
          </p:cNvPr>
          <p:cNvSpPr>
            <a:spLocks xmlns:a="http://schemas.openxmlformats.org/drawingml/2006/main" noGrp="1"/>
          </p:cNvSpPr>
          <p:nvPr/>
        </p:nvSpPr>
        <p:spPr>
          <a:xfrm xmlns:a="http://schemas.openxmlformats.org/drawingml/2006/main">
            <a:off x="6496050" y="1809750"/>
            <a:ext cx="2857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6A34A"/>
                </a:solidFill>
                <a:latin typeface="Aptos"/>
                <a:ea typeface="Aptos"/>
                <a:cs typeface="Aptos"/>
              </a:defRPr>
            </a:pPr>
            <a:r>
              <a:rPr sz="1200" b="1">
                <a:solidFill>
                  <a:srgbClr val="16A34A"/>
                </a:solidFill>
                <a:latin typeface="Aptos"/>
                <a:ea typeface="Aptos"/>
                <a:cs typeface="Aptos"/>
              </a:rPr>
              <a:t>Agent-ready prompt</a:t>
            </a:r>
          </a:p>
        </p:txBody>
      </p:sp>
      <p:sp>
        <p:nvSpPr>
          <p:cNvPr id="13" name="">
            <a:extLst xmlns:a="http://schemas.openxmlformats.org/drawingml/2006/main">
              <a:ext uri="{FF2B5EF4-FFF2-40B4-BE49-F238E27FC236}">
                <a16:creationId xmlns:a16="http://schemas.microsoft.com/office/drawing/2014/main" id="{256F5A93-EFFA-4F8D-AD33-FFC59C0DBC53}"/>
              </a:ext>
            </a:extLst>
          </p:cNvPr>
          <p:cNvSpPr>
            <a:spLocks xmlns:a="http://schemas.openxmlformats.org/drawingml/2006/main" noGrp="1"/>
          </p:cNvSpPr>
          <p:nvPr/>
        </p:nvSpPr>
        <p:spPr>
          <a:xfrm xmlns:a="http://schemas.openxmlformats.org/drawingml/2006/main">
            <a:off x="5334000" y="2981325"/>
            <a:ext cx="781050" cy="38100"/>
          </a:xfrm>
          <a:prstGeom xmlns:a="http://schemas.openxmlformats.org/drawingml/2006/main" prst="rect">
            <a:avLst/>
          </a:prstGeom>
          <a:solidFill xmlns:a="http://schemas.openxmlformats.org/drawingml/2006/main">
            <a:srgbClr val="0E9F9A"/>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7B60D21A-5D86-4C29-8F3F-BE210B577F12}"/>
              </a:ext>
            </a:extLst>
          </p:cNvPr>
          <p:cNvSpPr>
            <a:spLocks xmlns:a="http://schemas.openxmlformats.org/drawingml/2006/main" noGrp="1"/>
          </p:cNvSpPr>
          <p:nvPr/>
        </p:nvSpPr>
        <p:spPr>
          <a:xfrm xmlns:a="http://schemas.openxmlformats.org/drawingml/2006/main">
            <a:off x="6048375" y="2886075"/>
            <a:ext cx="190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0E9F9A"/>
                </a:solidFill>
                <a:latin typeface="Aptos"/>
                <a:ea typeface="Aptos"/>
                <a:cs typeface="Aptos"/>
              </a:defRPr>
            </a:pPr>
            <a:r>
              <a:rPr sz="1350" b="1">
                <a:solidFill>
                  <a:srgbClr val="0E9F9A"/>
                </a:solidFill>
                <a:latin typeface="Aptos"/>
                <a:ea typeface="Aptos"/>
                <a:cs typeface="Aptos"/>
              </a:rPr>
              <a:t>&gt;</a:t>
            </a:r>
          </a:p>
        </p:txBody>
      </p:sp>
      <p:sp>
        <p:nvSpPr>
          <p:cNvPr id="15" name="">
            <a:extLst xmlns:a="http://schemas.openxmlformats.org/drawingml/2006/main">
              <a:ext uri="{FF2B5EF4-FFF2-40B4-BE49-F238E27FC236}">
                <a16:creationId xmlns:a16="http://schemas.microsoft.com/office/drawing/2014/main" id="{211A500D-E719-4AEB-8FF7-D6FAC868A6C9}"/>
              </a:ext>
            </a:extLst>
          </p:cNvPr>
          <p:cNvSpPr>
            <a:spLocks xmlns:a="http://schemas.openxmlformats.org/drawingml/2006/main" noGrp="1"/>
          </p:cNvSpPr>
          <p:nvPr/>
        </p:nvSpPr>
        <p:spPr>
          <a:xfrm xmlns:a="http://schemas.openxmlformats.org/drawingml/2006/main">
            <a:off x="1619250" y="4762500"/>
            <a:ext cx="1333500" cy="285750"/>
          </a:xfrm>
          <a:prstGeom xmlns:a="http://schemas.openxmlformats.org/drawingml/2006/main" prst="rect">
            <a:avLst/>
          </a:prstGeom>
          <a:solidFill xmlns:a="http://schemas.openxmlformats.org/drawingml/2006/main">
            <a:srgbClr val="FFFFFF"/>
          </a:solidFill>
          <a:ln xmlns:a="http://schemas.openxmlformats.org/drawingml/2006/main" w="9525">
            <a:solidFill>
              <a:srgbClr val="0E9F9A"/>
            </a:solidFill>
          </a:ln>
        </p:spPr>
      </p:sp>
      <p:sp>
        <p:nvSpPr>
          <p:cNvPr id="16" name="">
            <a:extLst xmlns:a="http://schemas.openxmlformats.org/drawingml/2006/main">
              <a:ext uri="{FF2B5EF4-FFF2-40B4-BE49-F238E27FC236}">
                <a16:creationId xmlns:a16="http://schemas.microsoft.com/office/drawing/2014/main" id="{1AD12B1C-DACC-4792-81E4-0179EA3B1592}"/>
              </a:ext>
            </a:extLst>
          </p:cNvPr>
          <p:cNvSpPr>
            <a:spLocks xmlns:a="http://schemas.openxmlformats.org/drawingml/2006/main" noGrp="1"/>
          </p:cNvSpPr>
          <p:nvPr/>
        </p:nvSpPr>
        <p:spPr>
          <a:xfrm xmlns:a="http://schemas.openxmlformats.org/drawingml/2006/main">
            <a:off x="1733550" y="4829175"/>
            <a:ext cx="11049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713" b="1">
                <a:solidFill>
                  <a:srgbClr val="0E9F9A"/>
                </a:solidFill>
                <a:latin typeface="Aptos"/>
                <a:ea typeface="Aptos"/>
                <a:cs typeface="Aptos"/>
              </a:defRPr>
            </a:pPr>
            <a:r>
              <a:rPr sz="713" b="1">
                <a:solidFill>
                  <a:srgbClr val="0E9F9A"/>
                </a:solidFill>
                <a:latin typeface="Aptos"/>
                <a:ea typeface="Aptos"/>
                <a:cs typeface="Aptos"/>
              </a:rPr>
              <a:t>Goal</a:t>
            </a:r>
          </a:p>
        </p:txBody>
      </p:sp>
      <p:sp>
        <p:nvSpPr>
          <p:cNvPr id="17" name="">
            <a:extLst xmlns:a="http://schemas.openxmlformats.org/drawingml/2006/main">
              <a:ext uri="{FF2B5EF4-FFF2-40B4-BE49-F238E27FC236}">
                <a16:creationId xmlns:a16="http://schemas.microsoft.com/office/drawing/2014/main" id="{F00773F8-669B-4539-AC7D-E7ACE1FBB1D3}"/>
              </a:ext>
            </a:extLst>
          </p:cNvPr>
          <p:cNvSpPr>
            <a:spLocks xmlns:a="http://schemas.openxmlformats.org/drawingml/2006/main" noGrp="1"/>
          </p:cNvSpPr>
          <p:nvPr/>
        </p:nvSpPr>
        <p:spPr>
          <a:xfrm xmlns:a="http://schemas.openxmlformats.org/drawingml/2006/main">
            <a:off x="3371850" y="4762500"/>
            <a:ext cx="1333500" cy="285750"/>
          </a:xfrm>
          <a:prstGeom xmlns:a="http://schemas.openxmlformats.org/drawingml/2006/main" prst="rect">
            <a:avLst/>
          </a:prstGeom>
          <a:solidFill xmlns:a="http://schemas.openxmlformats.org/drawingml/2006/main">
            <a:srgbClr val="FFFFFF"/>
          </a:solidFill>
          <a:ln xmlns:a="http://schemas.openxmlformats.org/drawingml/2006/main" w="9525">
            <a:solidFill>
              <a:srgbClr val="2563EB"/>
            </a:solidFill>
          </a:ln>
        </p:spPr>
      </p:sp>
      <p:sp>
        <p:nvSpPr>
          <p:cNvPr id="18" name="">
            <a:extLst xmlns:a="http://schemas.openxmlformats.org/drawingml/2006/main">
              <a:ext uri="{FF2B5EF4-FFF2-40B4-BE49-F238E27FC236}">
                <a16:creationId xmlns:a16="http://schemas.microsoft.com/office/drawing/2014/main" id="{CCB3F46E-FD72-4AEF-B05A-6589F92428B6}"/>
              </a:ext>
            </a:extLst>
          </p:cNvPr>
          <p:cNvSpPr>
            <a:spLocks xmlns:a="http://schemas.openxmlformats.org/drawingml/2006/main" noGrp="1"/>
          </p:cNvSpPr>
          <p:nvPr/>
        </p:nvSpPr>
        <p:spPr>
          <a:xfrm xmlns:a="http://schemas.openxmlformats.org/drawingml/2006/main">
            <a:off x="3486150" y="4829175"/>
            <a:ext cx="11049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713" b="1">
                <a:solidFill>
                  <a:srgbClr val="2563EB"/>
                </a:solidFill>
                <a:latin typeface="Aptos"/>
                <a:ea typeface="Aptos"/>
                <a:cs typeface="Aptos"/>
              </a:defRPr>
            </a:pPr>
            <a:r>
              <a:rPr sz="713" b="1">
                <a:solidFill>
                  <a:srgbClr val="2563EB"/>
                </a:solidFill>
                <a:latin typeface="Aptos"/>
                <a:ea typeface="Aptos"/>
                <a:cs typeface="Aptos"/>
              </a:rPr>
              <a:t>Scope</a:t>
            </a:r>
          </a:p>
        </p:txBody>
      </p:sp>
      <p:sp>
        <p:nvSpPr>
          <p:cNvPr id="19" name="">
            <a:extLst xmlns:a="http://schemas.openxmlformats.org/drawingml/2006/main">
              <a:ext uri="{FF2B5EF4-FFF2-40B4-BE49-F238E27FC236}">
                <a16:creationId xmlns:a16="http://schemas.microsoft.com/office/drawing/2014/main" id="{9D733CD6-F517-4960-A738-E301D9626134}"/>
              </a:ext>
            </a:extLst>
          </p:cNvPr>
          <p:cNvSpPr>
            <a:spLocks xmlns:a="http://schemas.openxmlformats.org/drawingml/2006/main" noGrp="1"/>
          </p:cNvSpPr>
          <p:nvPr/>
        </p:nvSpPr>
        <p:spPr>
          <a:xfrm xmlns:a="http://schemas.openxmlformats.org/drawingml/2006/main">
            <a:off x="5124450" y="4762500"/>
            <a:ext cx="1333500" cy="285750"/>
          </a:xfrm>
          <a:prstGeom xmlns:a="http://schemas.openxmlformats.org/drawingml/2006/main" prst="rect">
            <a:avLst/>
          </a:prstGeom>
          <a:solidFill xmlns:a="http://schemas.openxmlformats.org/drawingml/2006/main">
            <a:srgbClr val="FFFFFF"/>
          </a:solidFill>
          <a:ln xmlns:a="http://schemas.openxmlformats.org/drawingml/2006/main" w="9525">
            <a:solidFill>
              <a:srgbClr val="F59E0B"/>
            </a:solidFill>
          </a:ln>
        </p:spPr>
      </p:sp>
      <p:sp>
        <p:nvSpPr>
          <p:cNvPr id="20" name="">
            <a:extLst xmlns:a="http://schemas.openxmlformats.org/drawingml/2006/main">
              <a:ext uri="{FF2B5EF4-FFF2-40B4-BE49-F238E27FC236}">
                <a16:creationId xmlns:a16="http://schemas.microsoft.com/office/drawing/2014/main" id="{FB926693-3590-4FDA-A593-065E80709371}"/>
              </a:ext>
            </a:extLst>
          </p:cNvPr>
          <p:cNvSpPr>
            <a:spLocks xmlns:a="http://schemas.openxmlformats.org/drawingml/2006/main" noGrp="1"/>
          </p:cNvSpPr>
          <p:nvPr/>
        </p:nvSpPr>
        <p:spPr>
          <a:xfrm xmlns:a="http://schemas.openxmlformats.org/drawingml/2006/main">
            <a:off x="5238750" y="4829175"/>
            <a:ext cx="11049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713" b="1">
                <a:solidFill>
                  <a:srgbClr val="F59E0B"/>
                </a:solidFill>
                <a:latin typeface="Aptos"/>
                <a:ea typeface="Aptos"/>
                <a:cs typeface="Aptos"/>
              </a:defRPr>
            </a:pPr>
            <a:r>
              <a:rPr sz="713" b="1">
                <a:solidFill>
                  <a:srgbClr val="F59E0B"/>
                </a:solidFill>
                <a:latin typeface="Aptos"/>
                <a:ea typeface="Aptos"/>
                <a:cs typeface="Aptos"/>
              </a:rPr>
              <a:t>Starting points</a:t>
            </a:r>
          </a:p>
        </p:txBody>
      </p:sp>
      <p:sp>
        <p:nvSpPr>
          <p:cNvPr id="21" name="">
            <a:extLst xmlns:a="http://schemas.openxmlformats.org/drawingml/2006/main">
              <a:ext uri="{FF2B5EF4-FFF2-40B4-BE49-F238E27FC236}">
                <a16:creationId xmlns:a16="http://schemas.microsoft.com/office/drawing/2014/main" id="{25F4CC85-C495-4003-B07C-1BCD3D9D9EC7}"/>
              </a:ext>
            </a:extLst>
          </p:cNvPr>
          <p:cNvSpPr>
            <a:spLocks xmlns:a="http://schemas.openxmlformats.org/drawingml/2006/main" noGrp="1"/>
          </p:cNvSpPr>
          <p:nvPr/>
        </p:nvSpPr>
        <p:spPr>
          <a:xfrm xmlns:a="http://schemas.openxmlformats.org/drawingml/2006/main">
            <a:off x="6877050" y="4762500"/>
            <a:ext cx="1333500" cy="285750"/>
          </a:xfrm>
          <a:prstGeom xmlns:a="http://schemas.openxmlformats.org/drawingml/2006/main" prst="rect">
            <a:avLst/>
          </a:prstGeom>
          <a:solidFill xmlns:a="http://schemas.openxmlformats.org/drawingml/2006/main">
            <a:srgbClr val="FFFFFF"/>
          </a:solidFill>
          <a:ln xmlns:a="http://schemas.openxmlformats.org/drawingml/2006/main" w="9525">
            <a:solidFill>
              <a:srgbClr val="7C3AED"/>
            </a:solidFill>
          </a:ln>
        </p:spPr>
      </p:sp>
      <p:sp>
        <p:nvSpPr>
          <p:cNvPr id="22" name="">
            <a:extLst xmlns:a="http://schemas.openxmlformats.org/drawingml/2006/main">
              <a:ext uri="{FF2B5EF4-FFF2-40B4-BE49-F238E27FC236}">
                <a16:creationId xmlns:a16="http://schemas.microsoft.com/office/drawing/2014/main" id="{30B5244D-DDFE-40C8-B15B-F5B040D63A4A}"/>
              </a:ext>
            </a:extLst>
          </p:cNvPr>
          <p:cNvSpPr>
            <a:spLocks xmlns:a="http://schemas.openxmlformats.org/drawingml/2006/main" noGrp="1"/>
          </p:cNvSpPr>
          <p:nvPr/>
        </p:nvSpPr>
        <p:spPr>
          <a:xfrm xmlns:a="http://schemas.openxmlformats.org/drawingml/2006/main">
            <a:off x="6991350" y="4829175"/>
            <a:ext cx="11049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713" b="1">
                <a:solidFill>
                  <a:srgbClr val="7C3AED"/>
                </a:solidFill>
                <a:latin typeface="Aptos"/>
                <a:ea typeface="Aptos"/>
                <a:cs typeface="Aptos"/>
              </a:defRPr>
            </a:pPr>
            <a:r>
              <a:rPr sz="713" b="1">
                <a:solidFill>
                  <a:srgbClr val="7C3AED"/>
                </a:solidFill>
                <a:latin typeface="Aptos"/>
                <a:ea typeface="Aptos"/>
                <a:cs typeface="Aptos"/>
              </a:rPr>
              <a:t>Constraints</a:t>
            </a:r>
          </a:p>
        </p:txBody>
      </p:sp>
      <p:sp>
        <p:nvSpPr>
          <p:cNvPr id="23" name="">
            <a:extLst xmlns:a="http://schemas.openxmlformats.org/drawingml/2006/main">
              <a:ext uri="{FF2B5EF4-FFF2-40B4-BE49-F238E27FC236}">
                <a16:creationId xmlns:a16="http://schemas.microsoft.com/office/drawing/2014/main" id="{C952554F-A8AF-46B8-ACF1-B520238FAA1E}"/>
              </a:ext>
            </a:extLst>
          </p:cNvPr>
          <p:cNvSpPr>
            <a:spLocks xmlns:a="http://schemas.openxmlformats.org/drawingml/2006/main" noGrp="1"/>
          </p:cNvSpPr>
          <p:nvPr/>
        </p:nvSpPr>
        <p:spPr>
          <a:xfrm xmlns:a="http://schemas.openxmlformats.org/drawingml/2006/main">
            <a:off x="8629650" y="4762500"/>
            <a:ext cx="1333500" cy="285750"/>
          </a:xfrm>
          <a:prstGeom xmlns:a="http://schemas.openxmlformats.org/drawingml/2006/main" prst="rect">
            <a:avLst/>
          </a:prstGeom>
          <a:solidFill xmlns:a="http://schemas.openxmlformats.org/drawingml/2006/main">
            <a:srgbClr val="FFFFFF"/>
          </a:solidFill>
          <a:ln xmlns:a="http://schemas.openxmlformats.org/drawingml/2006/main" w="9525">
            <a:solidFill>
              <a:srgbClr val="16A34A"/>
            </a:solidFill>
          </a:ln>
        </p:spPr>
      </p:sp>
      <p:sp>
        <p:nvSpPr>
          <p:cNvPr id="24" name="">
            <a:extLst xmlns:a="http://schemas.openxmlformats.org/drawingml/2006/main">
              <a:ext uri="{FF2B5EF4-FFF2-40B4-BE49-F238E27FC236}">
                <a16:creationId xmlns:a16="http://schemas.microsoft.com/office/drawing/2014/main" id="{364D5F94-7765-4E70-BFBE-DCA198DAEA01}"/>
              </a:ext>
            </a:extLst>
          </p:cNvPr>
          <p:cNvSpPr>
            <a:spLocks xmlns:a="http://schemas.openxmlformats.org/drawingml/2006/main" noGrp="1"/>
          </p:cNvSpPr>
          <p:nvPr/>
        </p:nvSpPr>
        <p:spPr>
          <a:xfrm xmlns:a="http://schemas.openxmlformats.org/drawingml/2006/main">
            <a:off x="8743950" y="4829175"/>
            <a:ext cx="11049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713" b="1">
                <a:solidFill>
                  <a:srgbClr val="16A34A"/>
                </a:solidFill>
                <a:latin typeface="Aptos"/>
                <a:ea typeface="Aptos"/>
                <a:cs typeface="Aptos"/>
              </a:defRPr>
            </a:pPr>
            <a:r>
              <a:rPr sz="713" b="1">
                <a:solidFill>
                  <a:srgbClr val="16A34A"/>
                </a:solidFill>
                <a:latin typeface="Aptos"/>
                <a:ea typeface="Aptos"/>
                <a:cs typeface="Aptos"/>
              </a:rPr>
              <a:t>Definition of done</a:t>
            </a:r>
          </a:p>
        </p:txBody>
      </p:sp>
      <p:sp>
        <p:nvSpPr>
          <p:cNvPr id="25" name="">
            <a:extLst xmlns:a="http://schemas.openxmlformats.org/drawingml/2006/main">
              <a:ext uri="{FF2B5EF4-FFF2-40B4-BE49-F238E27FC236}">
                <a16:creationId xmlns:a16="http://schemas.microsoft.com/office/drawing/2014/main" id="{8741E036-D165-45EE-A789-23F415CC736B}"/>
              </a:ext>
            </a:extLst>
          </p:cNvPr>
          <p:cNvSpPr>
            <a:spLocks xmlns:a="http://schemas.openxmlformats.org/drawingml/2006/main" noGrp="1"/>
          </p:cNvSpPr>
          <p:nvPr/>
        </p:nvSpPr>
        <p:spPr>
          <a:xfrm xmlns:a="http://schemas.openxmlformats.org/drawingml/2006/main">
            <a:off x="1714500" y="5572125"/>
            <a:ext cx="8763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425" b="1">
                <a:solidFill>
                  <a:srgbClr val="172033"/>
                </a:solidFill>
                <a:latin typeface="Aptos"/>
                <a:ea typeface="Aptos"/>
                <a:cs typeface="Aptos"/>
              </a:defRPr>
            </a:pPr>
            <a:r>
              <a:rPr sz="1425" b="1">
                <a:solidFill>
                  <a:srgbClr val="172033"/>
                </a:solidFill>
                <a:latin typeface="Aptos"/>
                <a:ea typeface="Aptos"/>
                <a:cs typeface="Aptos"/>
              </a:rPr>
              <a:t>Prompt quality is context selection plus acceptance criteria. The words matter less than the boundaries.</a:t>
            </a:r>
          </a:p>
        </p:txBody>
      </p:sp>
    </p:spTree>
    <p:extLst>
      <p:ext uri="{BB962C8B-B14F-4D97-AF65-F5344CB8AC3E}">
        <p14:creationId xmlns:p14="http://schemas.microsoft.com/office/powerpoint/2010/main" val="1908439305"/>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E82B1F9-3B2E-48D8-9AD3-DC083C90F4E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6F8F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70FE04F-8242-4879-B6DF-457D27D35E58}"/>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9F9A"/>
          </a:solidFill>
          <a:ln xmlns:a="http://schemas.openxmlformats.org/drawingml/2006/main" w="0">
            <a:noFill/>
          </a:ln>
        </p:spPr>
      </p:sp>
      <p:pic>
        <p:nvPicPr>
          <p:cNvPr id="3" name=""/>
          <p:cNvPicPr>
            <a:picLocks xmlns:a="http://schemas.openxmlformats.org/drawingml/2006/main" noChangeAspect="1"/>
          </p:cNvPicPr>
          <p:nvPr/>
        </p:nvPicPr>
        <p:blipFill>
          <a:blip xmlns:r="http://schemas.openxmlformats.org/officeDocument/2006/relationships" xmlns:a="http://schemas.openxmlformats.org/drawingml/2006/main" r:embed="R2a6a040470de41b7"/>
          <a:srcRect xmlns:a="http://schemas.openxmlformats.org/drawingml/2006/main" l="4545" t="0" r="4545" b="0"/>
          <a:stretch xmlns:a="http://schemas.openxmlformats.org/drawingml/2006/main">
            <a:fillRect l="0" t="0" r="0" b="0"/>
          </a:stretch>
        </p:blipFill>
        <p:spPr>
          <a:xfrm xmlns:a="http://schemas.openxmlformats.org/drawingml/2006/main">
            <a:off x="6800850" y="762000"/>
            <a:ext cx="4762500" cy="28575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97565F7-C550-4B69-B281-6E253EEE153A}"/>
              </a:ext>
            </a:extLst>
          </p:cNvPr>
          <p:cNvSpPr>
            <a:spLocks xmlns:a="http://schemas.openxmlformats.org/drawingml/2006/main" noGrp="1"/>
          </p:cNvSpPr>
          <p:nvPr/>
        </p:nvSpPr>
        <p:spPr>
          <a:xfrm xmlns:a="http://schemas.openxmlformats.org/drawingml/2006/main">
            <a:off x="6572250" y="762000"/>
            <a:ext cx="5143500" cy="2857500"/>
          </a:xfrm>
          <a:prstGeom xmlns:a="http://schemas.openxmlformats.org/drawingml/2006/main" prst="rect">
            <a:avLst/>
          </a:prstGeom>
          <a:solidFill xmlns:a="http://schemas.openxmlformats.org/drawingml/2006/main">
            <a:srgbClr val="FFFFFF">
              <a:alpha val="85098"/>
            </a:srgbClr>
          </a:solidFill>
          <a:ln xmlns:a="http://schemas.openxmlformats.org/drawingml/2006/main" w="9525">
            <a:solidFill>
              <a:srgbClr val="D8E0EA"/>
            </a:solidFill>
          </a:ln>
        </p:spPr>
      </p:sp>
      <p:sp>
        <p:nvSpPr>
          <p:cNvPr id="5" name="">
            <a:extLst xmlns:a="http://schemas.openxmlformats.org/drawingml/2006/main">
              <a:ext uri="{FF2B5EF4-FFF2-40B4-BE49-F238E27FC236}">
                <a16:creationId xmlns:a16="http://schemas.microsoft.com/office/drawing/2014/main" id="{5F52CD98-0509-44C9-B213-D1569CCA9F6B}"/>
              </a:ext>
            </a:extLst>
          </p:cNvPr>
          <p:cNvSpPr>
            <a:spLocks xmlns:a="http://schemas.openxmlformats.org/drawingml/2006/main" noGrp="1"/>
          </p:cNvSpPr>
          <p:nvPr/>
        </p:nvSpPr>
        <p:spPr>
          <a:xfrm xmlns:a="http://schemas.openxmlformats.org/drawingml/2006/main">
            <a:off x="514350" y="400050"/>
            <a:ext cx="5143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788" b="1">
                <a:solidFill>
                  <a:srgbClr val="0E9F9A"/>
                </a:solidFill>
                <a:latin typeface="Aptos"/>
                <a:ea typeface="Aptos"/>
                <a:cs typeface="Aptos"/>
              </a:defRPr>
            </a:pPr>
            <a:r>
              <a:rPr sz="788" b="1">
                <a:solidFill>
                  <a:srgbClr val="0E9F9A"/>
                </a:solidFill>
                <a:latin typeface="Aptos"/>
                <a:ea typeface="Aptos"/>
                <a:cs typeface="Aptos"/>
              </a:rPr>
              <a:t>HOW COPILOT TRAVERSES A REPO</a:t>
            </a:r>
          </a:p>
        </p:txBody>
      </p:sp>
      <p:sp>
        <p:nvSpPr>
          <p:cNvPr id="6" name="">
            <a:extLst xmlns:a="http://schemas.openxmlformats.org/drawingml/2006/main">
              <a:ext uri="{FF2B5EF4-FFF2-40B4-BE49-F238E27FC236}">
                <a16:creationId xmlns:a16="http://schemas.microsoft.com/office/drawing/2014/main" id="{3C6967AE-EF9F-4BEB-917C-AEA66D52A8A9}"/>
              </a:ext>
            </a:extLst>
          </p:cNvPr>
          <p:cNvSpPr>
            <a:spLocks xmlns:a="http://schemas.openxmlformats.org/drawingml/2006/main" noGrp="1"/>
          </p:cNvSpPr>
          <p:nvPr/>
        </p:nvSpPr>
        <p:spPr>
          <a:xfrm xmlns:a="http://schemas.openxmlformats.org/drawingml/2006/main">
            <a:off x="514350" y="685800"/>
            <a:ext cx="8382000" cy="8763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172033"/>
                </a:solidFill>
                <a:latin typeface="Aptos Display"/>
                <a:ea typeface="Aptos Display"/>
                <a:cs typeface="Aptos Display"/>
              </a:defRPr>
            </a:pPr>
            <a:r>
              <a:rPr sz="2550" b="1">
                <a:solidFill>
                  <a:srgbClr val="172033"/>
                </a:solidFill>
                <a:latin typeface="Aptos Display"/>
                <a:ea typeface="Aptos Display"/>
                <a:cs typeface="Aptos Display"/>
              </a:rPr>
              <a:t>It does not load the whole repo. It assembles working context.</a:t>
            </a:r>
          </a:p>
        </p:txBody>
      </p:sp>
      <p:sp>
        <p:nvSpPr>
          <p:cNvPr id="7" name="">
            <a:extLst xmlns:a="http://schemas.openxmlformats.org/drawingml/2006/main">
              <a:ext uri="{FF2B5EF4-FFF2-40B4-BE49-F238E27FC236}">
                <a16:creationId xmlns:a16="http://schemas.microsoft.com/office/drawing/2014/main" id="{BEF4ECF0-A132-4153-9F12-72F027A11111}"/>
              </a:ext>
            </a:extLst>
          </p:cNvPr>
          <p:cNvSpPr>
            <a:spLocks xmlns:a="http://schemas.openxmlformats.org/drawingml/2006/main" noGrp="1"/>
          </p:cNvSpPr>
          <p:nvPr/>
        </p:nvSpPr>
        <p:spPr>
          <a:xfrm xmlns:a="http://schemas.openxmlformats.org/drawingml/2006/main">
            <a:off x="514350" y="6515100"/>
            <a:ext cx="88582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638" b="0">
                <a:solidFill>
                  <a:srgbClr val="7B8798"/>
                </a:solidFill>
                <a:latin typeface="Aptos"/>
                <a:ea typeface="Aptos"/>
                <a:cs typeface="Aptos"/>
              </a:defRPr>
            </a:pPr>
            <a:r>
              <a:rPr sz="638" b="0">
                <a:solidFill>
                  <a:srgbClr val="7B8798"/>
                </a:solidFill>
                <a:latin typeface="Aptos"/>
                <a:ea typeface="Aptos"/>
                <a:cs typeface="Aptos"/>
              </a:rPr>
              <a:t>GitHub Docs: repo indexing + semantic code search | GitHub Docs: Copilot CLI context management</a:t>
            </a:r>
          </a:p>
        </p:txBody>
      </p:sp>
      <p:sp>
        <p:nvSpPr>
          <p:cNvPr id="8" name="">
            <a:extLst xmlns:a="http://schemas.openxmlformats.org/drawingml/2006/main">
              <a:ext uri="{FF2B5EF4-FFF2-40B4-BE49-F238E27FC236}">
                <a16:creationId xmlns:a16="http://schemas.microsoft.com/office/drawing/2014/main" id="{A58CA937-E3E5-48F0-BCBC-15753148D78D}"/>
              </a:ext>
            </a:extLst>
          </p:cNvPr>
          <p:cNvSpPr>
            <a:spLocks xmlns:a="http://schemas.openxmlformats.org/drawingml/2006/main" noGrp="1"/>
          </p:cNvSpPr>
          <p:nvPr/>
        </p:nvSpPr>
        <p:spPr>
          <a:xfrm xmlns:a="http://schemas.openxmlformats.org/drawingml/2006/main">
            <a:off x="11239500" y="6477000"/>
            <a:ext cx="4381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r">
              <a:defRPr sz="750" b="1">
                <a:solidFill>
                  <a:srgbClr val="7B8798"/>
                </a:solidFill>
                <a:latin typeface="Aptos"/>
                <a:ea typeface="Aptos"/>
                <a:cs typeface="Aptos"/>
              </a:defRPr>
            </a:pPr>
            <a:r>
              <a:rPr sz="750" b="1">
                <a:solidFill>
                  <a:srgbClr val="7B8798"/>
                </a:solidFill>
                <a:latin typeface="Aptos"/>
                <a:ea typeface="Aptos"/>
                <a:cs typeface="Aptos"/>
              </a:rPr>
              <a:t>04</a:t>
            </a:r>
          </a:p>
        </p:txBody>
      </p:sp>
      <p:sp>
        <p:nvSpPr>
          <p:cNvPr id="9" name="">
            <a:extLst xmlns:a="http://schemas.openxmlformats.org/drawingml/2006/main">
              <a:ext uri="{FF2B5EF4-FFF2-40B4-BE49-F238E27FC236}">
                <a16:creationId xmlns:a16="http://schemas.microsoft.com/office/drawing/2014/main" id="{1D2BBCA7-8432-4F3C-9323-3B9D2E73A782}"/>
              </a:ext>
            </a:extLst>
          </p:cNvPr>
          <p:cNvSpPr>
            <a:spLocks xmlns:a="http://schemas.openxmlformats.org/drawingml/2006/main" noGrp="1"/>
          </p:cNvSpPr>
          <p:nvPr/>
        </p:nvSpPr>
        <p:spPr>
          <a:xfrm xmlns:a="http://schemas.openxmlformats.org/drawingml/2006/main">
            <a:off x="704850" y="1905000"/>
            <a:ext cx="400050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D8E0EA"/>
            </a:solidFill>
          </a:ln>
        </p:spPr>
      </p:sp>
      <p:sp>
        <p:nvSpPr>
          <p:cNvPr id="10" name="">
            <a:extLst xmlns:a="http://schemas.openxmlformats.org/drawingml/2006/main">
              <a:ext uri="{FF2B5EF4-FFF2-40B4-BE49-F238E27FC236}">
                <a16:creationId xmlns:a16="http://schemas.microsoft.com/office/drawing/2014/main" id="{DE8E7411-0B77-463D-9EFC-DB70B9AE89EC}"/>
              </a:ext>
            </a:extLst>
          </p:cNvPr>
          <p:cNvSpPr>
            <a:spLocks xmlns:a="http://schemas.openxmlformats.org/drawingml/2006/main" noGrp="1"/>
          </p:cNvSpPr>
          <p:nvPr/>
        </p:nvSpPr>
        <p:spPr>
          <a:xfrm xmlns:a="http://schemas.openxmlformats.org/drawingml/2006/main">
            <a:off x="704850" y="1905000"/>
            <a:ext cx="38100" cy="495300"/>
          </a:xfrm>
          <a:prstGeom xmlns:a="http://schemas.openxmlformats.org/drawingml/2006/main" prst="rect">
            <a:avLst/>
          </a:prstGeom>
          <a:solidFill xmlns:a="http://schemas.openxmlformats.org/drawingml/2006/main">
            <a:srgbClr val="0E9F9A"/>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E8D5B40F-7708-4C1E-BC91-04A5AFEFF635}"/>
              </a:ext>
            </a:extLst>
          </p:cNvPr>
          <p:cNvSpPr>
            <a:spLocks xmlns:a="http://schemas.openxmlformats.org/drawingml/2006/main" noGrp="1"/>
          </p:cNvSpPr>
          <p:nvPr/>
        </p:nvSpPr>
        <p:spPr>
          <a:xfrm xmlns:a="http://schemas.openxmlformats.org/drawingml/2006/main">
            <a:off x="895350" y="1990725"/>
            <a:ext cx="1381125" cy="1524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38" b="1">
                <a:solidFill>
                  <a:srgbClr val="172033"/>
                </a:solidFill>
                <a:latin typeface="Aptos"/>
                <a:ea typeface="Aptos"/>
                <a:cs typeface="Aptos"/>
              </a:defRPr>
            </a:pPr>
            <a:r>
              <a:rPr sz="938" b="1">
                <a:solidFill>
                  <a:srgbClr val="172033"/>
                </a:solidFill>
                <a:latin typeface="Aptos"/>
                <a:ea typeface="Aptos"/>
                <a:cs typeface="Aptos"/>
              </a:rPr>
              <a:t>Repo surface</a:t>
            </a:r>
          </a:p>
        </p:txBody>
      </p:sp>
      <p:sp>
        <p:nvSpPr>
          <p:cNvPr id="12" name="">
            <a:extLst xmlns:a="http://schemas.openxmlformats.org/drawingml/2006/main">
              <a:ext uri="{FF2B5EF4-FFF2-40B4-BE49-F238E27FC236}">
                <a16:creationId xmlns:a16="http://schemas.microsoft.com/office/drawing/2014/main" id="{A7092029-3973-4FBC-A29A-12AF2BDED493}"/>
              </a:ext>
            </a:extLst>
          </p:cNvPr>
          <p:cNvSpPr>
            <a:spLocks xmlns:a="http://schemas.openxmlformats.org/drawingml/2006/main" noGrp="1"/>
          </p:cNvSpPr>
          <p:nvPr/>
        </p:nvSpPr>
        <p:spPr>
          <a:xfrm xmlns:a="http://schemas.openxmlformats.org/drawingml/2006/main">
            <a:off x="2381250" y="1990725"/>
            <a:ext cx="20002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788" b="0">
                <a:solidFill>
                  <a:srgbClr val="526179"/>
                </a:solidFill>
                <a:latin typeface="Aptos"/>
                <a:ea typeface="Aptos"/>
                <a:cs typeface="Aptos"/>
              </a:defRPr>
            </a:pPr>
            <a:r>
              <a:rPr sz="788" b="0">
                <a:solidFill>
                  <a:srgbClr val="526179"/>
                </a:solidFill>
                <a:latin typeface="Aptos"/>
                <a:ea typeface="Aptos"/>
                <a:cs typeface="Aptos"/>
              </a:rPr>
              <a:t>Files, folders, symbols, tests, docs, issues</a:t>
            </a:r>
          </a:p>
        </p:txBody>
      </p:sp>
      <p:sp>
        <p:nvSpPr>
          <p:cNvPr id="13" name="">
            <a:extLst xmlns:a="http://schemas.openxmlformats.org/drawingml/2006/main">
              <a:ext uri="{FF2B5EF4-FFF2-40B4-BE49-F238E27FC236}">
                <a16:creationId xmlns:a16="http://schemas.microsoft.com/office/drawing/2014/main" id="{A76D5D5F-B582-4783-9FD2-85B210E7212C}"/>
              </a:ext>
            </a:extLst>
          </p:cNvPr>
          <p:cNvSpPr>
            <a:spLocks xmlns:a="http://schemas.openxmlformats.org/drawingml/2006/main" noGrp="1"/>
          </p:cNvSpPr>
          <p:nvPr/>
        </p:nvSpPr>
        <p:spPr>
          <a:xfrm xmlns:a="http://schemas.openxmlformats.org/drawingml/2006/main">
            <a:off x="2686050" y="2428875"/>
            <a:ext cx="38100" cy="219075"/>
          </a:xfrm>
          <a:prstGeom xmlns:a="http://schemas.openxmlformats.org/drawingml/2006/main" prst="rect">
            <a:avLst/>
          </a:prstGeom>
          <a:solidFill xmlns:a="http://schemas.openxmlformats.org/drawingml/2006/main">
            <a:srgbClr val="0E9F9A"/>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C4A3BB7D-896A-416D-9ACF-D08D28C153A1}"/>
              </a:ext>
            </a:extLst>
          </p:cNvPr>
          <p:cNvSpPr>
            <a:spLocks xmlns:a="http://schemas.openxmlformats.org/drawingml/2006/main" noGrp="1"/>
          </p:cNvSpPr>
          <p:nvPr/>
        </p:nvSpPr>
        <p:spPr>
          <a:xfrm xmlns:a="http://schemas.openxmlformats.org/drawingml/2006/main">
            <a:off x="2638425" y="2571750"/>
            <a:ext cx="190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0E9F9A"/>
                </a:solidFill>
                <a:latin typeface="Aptos"/>
                <a:ea typeface="Aptos"/>
                <a:cs typeface="Aptos"/>
              </a:defRPr>
            </a:pPr>
            <a:r>
              <a:rPr sz="1200" b="1">
                <a:solidFill>
                  <a:srgbClr val="0E9F9A"/>
                </a:solidFill>
                <a:latin typeface="Aptos"/>
                <a:ea typeface="Aptos"/>
                <a:cs typeface="Aptos"/>
              </a:rPr>
              <a:t>v</a:t>
            </a:r>
          </a:p>
        </p:txBody>
      </p:sp>
      <p:sp>
        <p:nvSpPr>
          <p:cNvPr id="15" name="">
            <a:extLst xmlns:a="http://schemas.openxmlformats.org/drawingml/2006/main">
              <a:ext uri="{FF2B5EF4-FFF2-40B4-BE49-F238E27FC236}">
                <a16:creationId xmlns:a16="http://schemas.microsoft.com/office/drawing/2014/main" id="{37863D2C-63D1-454E-AC02-1052A1D3770F}"/>
              </a:ext>
            </a:extLst>
          </p:cNvPr>
          <p:cNvSpPr>
            <a:spLocks xmlns:a="http://schemas.openxmlformats.org/drawingml/2006/main" noGrp="1"/>
          </p:cNvSpPr>
          <p:nvPr/>
        </p:nvSpPr>
        <p:spPr>
          <a:xfrm xmlns:a="http://schemas.openxmlformats.org/drawingml/2006/main">
            <a:off x="704850" y="2686050"/>
            <a:ext cx="400050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D8E0EA"/>
            </a:solidFill>
          </a:ln>
        </p:spPr>
      </p:sp>
      <p:sp>
        <p:nvSpPr>
          <p:cNvPr id="16" name="">
            <a:extLst xmlns:a="http://schemas.openxmlformats.org/drawingml/2006/main">
              <a:ext uri="{FF2B5EF4-FFF2-40B4-BE49-F238E27FC236}">
                <a16:creationId xmlns:a16="http://schemas.microsoft.com/office/drawing/2014/main" id="{CFFE9FA4-5E50-45D7-BBA4-F8EC0EFA0840}"/>
              </a:ext>
            </a:extLst>
          </p:cNvPr>
          <p:cNvSpPr>
            <a:spLocks xmlns:a="http://schemas.openxmlformats.org/drawingml/2006/main" noGrp="1"/>
          </p:cNvSpPr>
          <p:nvPr/>
        </p:nvSpPr>
        <p:spPr>
          <a:xfrm xmlns:a="http://schemas.openxmlformats.org/drawingml/2006/main">
            <a:off x="704850" y="2686050"/>
            <a:ext cx="38100" cy="495300"/>
          </a:xfrm>
          <a:prstGeom xmlns:a="http://schemas.openxmlformats.org/drawingml/2006/main" prst="rect">
            <a:avLst/>
          </a:prstGeom>
          <a:solidFill xmlns:a="http://schemas.openxmlformats.org/drawingml/2006/main">
            <a:srgbClr val="2563EB"/>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BF9DBFF5-02DB-43D5-86A2-0F5DC31AB158}"/>
              </a:ext>
            </a:extLst>
          </p:cNvPr>
          <p:cNvSpPr>
            <a:spLocks xmlns:a="http://schemas.openxmlformats.org/drawingml/2006/main" noGrp="1"/>
          </p:cNvSpPr>
          <p:nvPr/>
        </p:nvSpPr>
        <p:spPr>
          <a:xfrm xmlns:a="http://schemas.openxmlformats.org/drawingml/2006/main">
            <a:off x="895350" y="2771775"/>
            <a:ext cx="1381125" cy="1524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38" b="1">
                <a:solidFill>
                  <a:srgbClr val="172033"/>
                </a:solidFill>
                <a:latin typeface="Aptos"/>
                <a:ea typeface="Aptos"/>
                <a:cs typeface="Aptos"/>
              </a:defRPr>
            </a:pPr>
            <a:r>
              <a:rPr sz="938" b="1">
                <a:solidFill>
                  <a:srgbClr val="172033"/>
                </a:solidFill>
                <a:latin typeface="Aptos"/>
                <a:ea typeface="Aptos"/>
                <a:cs typeface="Aptos"/>
              </a:rPr>
              <a:t>Repo index</a:t>
            </a:r>
          </a:p>
        </p:txBody>
      </p:sp>
      <p:sp>
        <p:nvSpPr>
          <p:cNvPr id="18" name="">
            <a:extLst xmlns:a="http://schemas.openxmlformats.org/drawingml/2006/main">
              <a:ext uri="{FF2B5EF4-FFF2-40B4-BE49-F238E27FC236}">
                <a16:creationId xmlns:a16="http://schemas.microsoft.com/office/drawing/2014/main" id="{37F15032-78BA-4850-9276-2D50239EEEEF}"/>
              </a:ext>
            </a:extLst>
          </p:cNvPr>
          <p:cNvSpPr>
            <a:spLocks xmlns:a="http://schemas.openxmlformats.org/drawingml/2006/main" noGrp="1"/>
          </p:cNvSpPr>
          <p:nvPr/>
        </p:nvSpPr>
        <p:spPr>
          <a:xfrm xmlns:a="http://schemas.openxmlformats.org/drawingml/2006/main">
            <a:off x="2381250" y="2771775"/>
            <a:ext cx="20002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788" b="0">
                <a:solidFill>
                  <a:srgbClr val="526179"/>
                </a:solidFill>
                <a:latin typeface="Aptos"/>
                <a:ea typeface="Aptos"/>
                <a:cs typeface="Aptos"/>
              </a:defRPr>
            </a:pPr>
            <a:r>
              <a:rPr sz="788" b="0">
                <a:solidFill>
                  <a:srgbClr val="526179"/>
                </a:solidFill>
                <a:latin typeface="Aptos"/>
                <a:ea typeface="Aptos"/>
                <a:cs typeface="Aptos"/>
              </a:rPr>
              <a:t>Semantic code search finds relevant code by meaning</a:t>
            </a:r>
          </a:p>
        </p:txBody>
      </p:sp>
      <p:sp>
        <p:nvSpPr>
          <p:cNvPr id="19" name="">
            <a:extLst xmlns:a="http://schemas.openxmlformats.org/drawingml/2006/main">
              <a:ext uri="{FF2B5EF4-FFF2-40B4-BE49-F238E27FC236}">
                <a16:creationId xmlns:a16="http://schemas.microsoft.com/office/drawing/2014/main" id="{A56F11E5-B19A-4794-8425-F6BA2CC7201C}"/>
              </a:ext>
            </a:extLst>
          </p:cNvPr>
          <p:cNvSpPr>
            <a:spLocks xmlns:a="http://schemas.openxmlformats.org/drawingml/2006/main" noGrp="1"/>
          </p:cNvSpPr>
          <p:nvPr/>
        </p:nvSpPr>
        <p:spPr>
          <a:xfrm xmlns:a="http://schemas.openxmlformats.org/drawingml/2006/main">
            <a:off x="2686050" y="3209925"/>
            <a:ext cx="38100" cy="219075"/>
          </a:xfrm>
          <a:prstGeom xmlns:a="http://schemas.openxmlformats.org/drawingml/2006/main" prst="rect">
            <a:avLst/>
          </a:prstGeom>
          <a:solidFill xmlns:a="http://schemas.openxmlformats.org/drawingml/2006/main">
            <a:srgbClr val="2563EB"/>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5B762B1B-D907-4407-85E7-A7E6DF00E0B0}"/>
              </a:ext>
            </a:extLst>
          </p:cNvPr>
          <p:cNvSpPr>
            <a:spLocks xmlns:a="http://schemas.openxmlformats.org/drawingml/2006/main" noGrp="1"/>
          </p:cNvSpPr>
          <p:nvPr/>
        </p:nvSpPr>
        <p:spPr>
          <a:xfrm xmlns:a="http://schemas.openxmlformats.org/drawingml/2006/main">
            <a:off x="2638425" y="3352800"/>
            <a:ext cx="190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2563EB"/>
                </a:solidFill>
                <a:latin typeface="Aptos"/>
                <a:ea typeface="Aptos"/>
                <a:cs typeface="Aptos"/>
              </a:defRPr>
            </a:pPr>
            <a:r>
              <a:rPr sz="1200" b="1">
                <a:solidFill>
                  <a:srgbClr val="2563EB"/>
                </a:solidFill>
                <a:latin typeface="Aptos"/>
                <a:ea typeface="Aptos"/>
                <a:cs typeface="Aptos"/>
              </a:rPr>
              <a:t>v</a:t>
            </a:r>
          </a:p>
        </p:txBody>
      </p:sp>
      <p:sp>
        <p:nvSpPr>
          <p:cNvPr id="21" name="">
            <a:extLst xmlns:a="http://schemas.openxmlformats.org/drawingml/2006/main">
              <a:ext uri="{FF2B5EF4-FFF2-40B4-BE49-F238E27FC236}">
                <a16:creationId xmlns:a16="http://schemas.microsoft.com/office/drawing/2014/main" id="{39CDE510-94C5-4E00-9110-C2B690E08DF3}"/>
              </a:ext>
            </a:extLst>
          </p:cNvPr>
          <p:cNvSpPr>
            <a:spLocks xmlns:a="http://schemas.openxmlformats.org/drawingml/2006/main" noGrp="1"/>
          </p:cNvSpPr>
          <p:nvPr/>
        </p:nvSpPr>
        <p:spPr>
          <a:xfrm xmlns:a="http://schemas.openxmlformats.org/drawingml/2006/main">
            <a:off x="704850" y="3467100"/>
            <a:ext cx="400050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D8E0EA"/>
            </a:solidFill>
          </a:ln>
        </p:spPr>
      </p:sp>
      <p:sp>
        <p:nvSpPr>
          <p:cNvPr id="22" name="">
            <a:extLst xmlns:a="http://schemas.openxmlformats.org/drawingml/2006/main">
              <a:ext uri="{FF2B5EF4-FFF2-40B4-BE49-F238E27FC236}">
                <a16:creationId xmlns:a16="http://schemas.microsoft.com/office/drawing/2014/main" id="{23295100-83F4-4502-AA98-5D6A5C916C36}"/>
              </a:ext>
            </a:extLst>
          </p:cNvPr>
          <p:cNvSpPr>
            <a:spLocks xmlns:a="http://schemas.openxmlformats.org/drawingml/2006/main" noGrp="1"/>
          </p:cNvSpPr>
          <p:nvPr/>
        </p:nvSpPr>
        <p:spPr>
          <a:xfrm xmlns:a="http://schemas.openxmlformats.org/drawingml/2006/main">
            <a:off x="704850" y="3467100"/>
            <a:ext cx="38100" cy="495300"/>
          </a:xfrm>
          <a:prstGeom xmlns:a="http://schemas.openxmlformats.org/drawingml/2006/main" prst="rect">
            <a:avLst/>
          </a:prstGeom>
          <a:solidFill xmlns:a="http://schemas.openxmlformats.org/drawingml/2006/main">
            <a:srgbClr val="F59E0B"/>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73AB069E-8576-4589-BE44-C6398F2E063E}"/>
              </a:ext>
            </a:extLst>
          </p:cNvPr>
          <p:cNvSpPr>
            <a:spLocks xmlns:a="http://schemas.openxmlformats.org/drawingml/2006/main" noGrp="1"/>
          </p:cNvSpPr>
          <p:nvPr/>
        </p:nvSpPr>
        <p:spPr>
          <a:xfrm xmlns:a="http://schemas.openxmlformats.org/drawingml/2006/main">
            <a:off x="895350" y="3552825"/>
            <a:ext cx="1381125" cy="1524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38" b="1">
                <a:solidFill>
                  <a:srgbClr val="172033"/>
                </a:solidFill>
                <a:latin typeface="Aptos"/>
                <a:ea typeface="Aptos"/>
                <a:cs typeface="Aptos"/>
              </a:defRPr>
            </a:pPr>
            <a:r>
              <a:rPr sz="938" b="1">
                <a:solidFill>
                  <a:srgbClr val="172033"/>
                </a:solidFill>
                <a:latin typeface="Aptos"/>
                <a:ea typeface="Aptos"/>
                <a:cs typeface="Aptos"/>
              </a:rPr>
              <a:t>Explicit context</a:t>
            </a:r>
          </a:p>
        </p:txBody>
      </p:sp>
      <p:sp>
        <p:nvSpPr>
          <p:cNvPr id="24" name="">
            <a:extLst xmlns:a="http://schemas.openxmlformats.org/drawingml/2006/main">
              <a:ext uri="{FF2B5EF4-FFF2-40B4-BE49-F238E27FC236}">
                <a16:creationId xmlns:a16="http://schemas.microsoft.com/office/drawing/2014/main" id="{4EC7D56D-2B04-42F9-B684-1B4CC25444FC}"/>
              </a:ext>
            </a:extLst>
          </p:cNvPr>
          <p:cNvSpPr>
            <a:spLocks xmlns:a="http://schemas.openxmlformats.org/drawingml/2006/main" noGrp="1"/>
          </p:cNvSpPr>
          <p:nvPr/>
        </p:nvSpPr>
        <p:spPr>
          <a:xfrm xmlns:a="http://schemas.openxmlformats.org/drawingml/2006/main">
            <a:off x="2381250" y="3552825"/>
            <a:ext cx="20002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788" b="0">
                <a:solidFill>
                  <a:srgbClr val="526179"/>
                </a:solidFill>
                <a:latin typeface="Aptos"/>
                <a:ea typeface="Aptos"/>
                <a:cs typeface="Aptos"/>
              </a:defRPr>
            </a:pPr>
            <a:r>
              <a:rPr sz="788" b="0">
                <a:solidFill>
                  <a:srgbClr val="526179"/>
                </a:solidFill>
                <a:latin typeface="Aptos"/>
                <a:ea typeface="Aptos"/>
                <a:cs typeface="Aptos"/>
              </a:rPr>
              <a:t>Selected files, prompt text, logs, instructions</a:t>
            </a:r>
          </a:p>
        </p:txBody>
      </p:sp>
      <p:sp>
        <p:nvSpPr>
          <p:cNvPr id="25" name="">
            <a:extLst xmlns:a="http://schemas.openxmlformats.org/drawingml/2006/main">
              <a:ext uri="{FF2B5EF4-FFF2-40B4-BE49-F238E27FC236}">
                <a16:creationId xmlns:a16="http://schemas.microsoft.com/office/drawing/2014/main" id="{1067DF6B-ED65-40AF-BF2D-D30F69B640C4}"/>
              </a:ext>
            </a:extLst>
          </p:cNvPr>
          <p:cNvSpPr>
            <a:spLocks xmlns:a="http://schemas.openxmlformats.org/drawingml/2006/main" noGrp="1"/>
          </p:cNvSpPr>
          <p:nvPr/>
        </p:nvSpPr>
        <p:spPr>
          <a:xfrm xmlns:a="http://schemas.openxmlformats.org/drawingml/2006/main">
            <a:off x="2686050" y="3990975"/>
            <a:ext cx="38100" cy="219075"/>
          </a:xfrm>
          <a:prstGeom xmlns:a="http://schemas.openxmlformats.org/drawingml/2006/main" prst="rect">
            <a:avLst/>
          </a:prstGeom>
          <a:solidFill xmlns:a="http://schemas.openxmlformats.org/drawingml/2006/main">
            <a:srgbClr val="F59E0B"/>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B0028AA2-206E-48FB-BB77-6C48A4AB5CC3}"/>
              </a:ext>
            </a:extLst>
          </p:cNvPr>
          <p:cNvSpPr>
            <a:spLocks xmlns:a="http://schemas.openxmlformats.org/drawingml/2006/main" noGrp="1"/>
          </p:cNvSpPr>
          <p:nvPr/>
        </p:nvSpPr>
        <p:spPr>
          <a:xfrm xmlns:a="http://schemas.openxmlformats.org/drawingml/2006/main">
            <a:off x="2638425" y="4133850"/>
            <a:ext cx="190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F59E0B"/>
                </a:solidFill>
                <a:latin typeface="Aptos"/>
                <a:ea typeface="Aptos"/>
                <a:cs typeface="Aptos"/>
              </a:defRPr>
            </a:pPr>
            <a:r>
              <a:rPr sz="1200" b="1">
                <a:solidFill>
                  <a:srgbClr val="F59E0B"/>
                </a:solidFill>
                <a:latin typeface="Aptos"/>
                <a:ea typeface="Aptos"/>
                <a:cs typeface="Aptos"/>
              </a:rPr>
              <a:t>v</a:t>
            </a:r>
          </a:p>
        </p:txBody>
      </p:sp>
      <p:sp>
        <p:nvSpPr>
          <p:cNvPr id="27" name="">
            <a:extLst xmlns:a="http://schemas.openxmlformats.org/drawingml/2006/main">
              <a:ext uri="{FF2B5EF4-FFF2-40B4-BE49-F238E27FC236}">
                <a16:creationId xmlns:a16="http://schemas.microsoft.com/office/drawing/2014/main" id="{5496673A-3386-48D4-9F53-AC656F2C091A}"/>
              </a:ext>
            </a:extLst>
          </p:cNvPr>
          <p:cNvSpPr>
            <a:spLocks xmlns:a="http://schemas.openxmlformats.org/drawingml/2006/main" noGrp="1"/>
          </p:cNvSpPr>
          <p:nvPr/>
        </p:nvSpPr>
        <p:spPr>
          <a:xfrm xmlns:a="http://schemas.openxmlformats.org/drawingml/2006/main">
            <a:off x="704850" y="4248150"/>
            <a:ext cx="400050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D8E0EA"/>
            </a:solidFill>
          </a:ln>
        </p:spPr>
      </p:sp>
      <p:sp>
        <p:nvSpPr>
          <p:cNvPr id="28" name="">
            <a:extLst xmlns:a="http://schemas.openxmlformats.org/drawingml/2006/main">
              <a:ext uri="{FF2B5EF4-FFF2-40B4-BE49-F238E27FC236}">
                <a16:creationId xmlns:a16="http://schemas.microsoft.com/office/drawing/2014/main" id="{623D39D2-14E8-4B8F-AA27-C978B0D645E1}"/>
              </a:ext>
            </a:extLst>
          </p:cNvPr>
          <p:cNvSpPr>
            <a:spLocks xmlns:a="http://schemas.openxmlformats.org/drawingml/2006/main" noGrp="1"/>
          </p:cNvSpPr>
          <p:nvPr/>
        </p:nvSpPr>
        <p:spPr>
          <a:xfrm xmlns:a="http://schemas.openxmlformats.org/drawingml/2006/main">
            <a:off x="704850" y="4248150"/>
            <a:ext cx="38100" cy="495300"/>
          </a:xfrm>
          <a:prstGeom xmlns:a="http://schemas.openxmlformats.org/drawingml/2006/main" prst="rect">
            <a:avLst/>
          </a:prstGeom>
          <a:solidFill xmlns:a="http://schemas.openxmlformats.org/drawingml/2006/main">
            <a:srgbClr val="7C3AED"/>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C7F6A9CE-16F0-42A3-A92C-559EE4FD9C67}"/>
              </a:ext>
            </a:extLst>
          </p:cNvPr>
          <p:cNvSpPr>
            <a:spLocks xmlns:a="http://schemas.openxmlformats.org/drawingml/2006/main" noGrp="1"/>
          </p:cNvSpPr>
          <p:nvPr/>
        </p:nvSpPr>
        <p:spPr>
          <a:xfrm xmlns:a="http://schemas.openxmlformats.org/drawingml/2006/main">
            <a:off x="895350" y="4333875"/>
            <a:ext cx="1381125" cy="1524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38" b="1">
                <a:solidFill>
                  <a:srgbClr val="172033"/>
                </a:solidFill>
                <a:latin typeface="Aptos"/>
                <a:ea typeface="Aptos"/>
                <a:cs typeface="Aptos"/>
              </a:defRPr>
            </a:pPr>
            <a:r>
              <a:rPr sz="938" b="1">
                <a:solidFill>
                  <a:srgbClr val="172033"/>
                </a:solidFill>
                <a:latin typeface="Aptos"/>
                <a:ea typeface="Aptos"/>
                <a:cs typeface="Aptos"/>
              </a:rPr>
              <a:t>Agent tools</a:t>
            </a:r>
          </a:p>
        </p:txBody>
      </p:sp>
      <p:sp>
        <p:nvSpPr>
          <p:cNvPr id="30" name="">
            <a:extLst xmlns:a="http://schemas.openxmlformats.org/drawingml/2006/main">
              <a:ext uri="{FF2B5EF4-FFF2-40B4-BE49-F238E27FC236}">
                <a16:creationId xmlns:a16="http://schemas.microsoft.com/office/drawing/2014/main" id="{B1B76E8C-F7F9-4CAD-B5DE-138BA02A2F3D}"/>
              </a:ext>
            </a:extLst>
          </p:cNvPr>
          <p:cNvSpPr>
            <a:spLocks xmlns:a="http://schemas.openxmlformats.org/drawingml/2006/main" noGrp="1"/>
          </p:cNvSpPr>
          <p:nvPr/>
        </p:nvSpPr>
        <p:spPr>
          <a:xfrm xmlns:a="http://schemas.openxmlformats.org/drawingml/2006/main">
            <a:off x="2381250" y="4333875"/>
            <a:ext cx="20002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788" b="0">
                <a:solidFill>
                  <a:srgbClr val="526179"/>
                </a:solidFill>
                <a:latin typeface="Aptos"/>
                <a:ea typeface="Aptos"/>
                <a:cs typeface="Aptos"/>
              </a:defRPr>
            </a:pPr>
            <a:r>
              <a:rPr sz="788" b="0">
                <a:solidFill>
                  <a:srgbClr val="526179"/>
                </a:solidFill>
                <a:latin typeface="Aptos"/>
                <a:ea typeface="Aptos"/>
                <a:cs typeface="Aptos"/>
              </a:rPr>
              <a:t>Search, read, run commands, edit, inspect diffs</a:t>
            </a:r>
          </a:p>
        </p:txBody>
      </p:sp>
      <p:sp>
        <p:nvSpPr>
          <p:cNvPr id="31" name="">
            <a:extLst xmlns:a="http://schemas.openxmlformats.org/drawingml/2006/main">
              <a:ext uri="{FF2B5EF4-FFF2-40B4-BE49-F238E27FC236}">
                <a16:creationId xmlns:a16="http://schemas.microsoft.com/office/drawing/2014/main" id="{583179FE-DF23-4086-A6BE-5CA16C0E3FCC}"/>
              </a:ext>
            </a:extLst>
          </p:cNvPr>
          <p:cNvSpPr>
            <a:spLocks xmlns:a="http://schemas.openxmlformats.org/drawingml/2006/main" noGrp="1"/>
          </p:cNvSpPr>
          <p:nvPr/>
        </p:nvSpPr>
        <p:spPr>
          <a:xfrm xmlns:a="http://schemas.openxmlformats.org/drawingml/2006/main">
            <a:off x="2686050" y="4772025"/>
            <a:ext cx="38100" cy="219075"/>
          </a:xfrm>
          <a:prstGeom xmlns:a="http://schemas.openxmlformats.org/drawingml/2006/main" prst="rect">
            <a:avLst/>
          </a:prstGeom>
          <a:solidFill xmlns:a="http://schemas.openxmlformats.org/drawingml/2006/main">
            <a:srgbClr val="7C3AED"/>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DB1593B8-CEE0-4EF8-8314-DB3F628C220B}"/>
              </a:ext>
            </a:extLst>
          </p:cNvPr>
          <p:cNvSpPr>
            <a:spLocks xmlns:a="http://schemas.openxmlformats.org/drawingml/2006/main" noGrp="1"/>
          </p:cNvSpPr>
          <p:nvPr/>
        </p:nvSpPr>
        <p:spPr>
          <a:xfrm xmlns:a="http://schemas.openxmlformats.org/drawingml/2006/main">
            <a:off x="2638425" y="4914900"/>
            <a:ext cx="190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7C3AED"/>
                </a:solidFill>
                <a:latin typeface="Aptos"/>
                <a:ea typeface="Aptos"/>
                <a:cs typeface="Aptos"/>
              </a:defRPr>
            </a:pPr>
            <a:r>
              <a:rPr sz="1200" b="1">
                <a:solidFill>
                  <a:srgbClr val="7C3AED"/>
                </a:solidFill>
                <a:latin typeface="Aptos"/>
                <a:ea typeface="Aptos"/>
                <a:cs typeface="Aptos"/>
              </a:rPr>
              <a:t>v</a:t>
            </a:r>
          </a:p>
        </p:txBody>
      </p:sp>
      <p:sp>
        <p:nvSpPr>
          <p:cNvPr id="33" name="">
            <a:extLst xmlns:a="http://schemas.openxmlformats.org/drawingml/2006/main">
              <a:ext uri="{FF2B5EF4-FFF2-40B4-BE49-F238E27FC236}">
                <a16:creationId xmlns:a16="http://schemas.microsoft.com/office/drawing/2014/main" id="{7D065379-4E15-4332-A907-949FFC4E5CC1}"/>
              </a:ext>
            </a:extLst>
          </p:cNvPr>
          <p:cNvSpPr>
            <a:spLocks xmlns:a="http://schemas.openxmlformats.org/drawingml/2006/main" noGrp="1"/>
          </p:cNvSpPr>
          <p:nvPr/>
        </p:nvSpPr>
        <p:spPr>
          <a:xfrm xmlns:a="http://schemas.openxmlformats.org/drawingml/2006/main">
            <a:off x="704850" y="5029200"/>
            <a:ext cx="400050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D8E0EA"/>
            </a:solidFill>
          </a:ln>
        </p:spPr>
      </p:sp>
      <p:sp>
        <p:nvSpPr>
          <p:cNvPr id="34" name="">
            <a:extLst xmlns:a="http://schemas.openxmlformats.org/drawingml/2006/main">
              <a:ext uri="{FF2B5EF4-FFF2-40B4-BE49-F238E27FC236}">
                <a16:creationId xmlns:a16="http://schemas.microsoft.com/office/drawing/2014/main" id="{6B8453C9-0656-4E68-BF79-804A23BD5769}"/>
              </a:ext>
            </a:extLst>
          </p:cNvPr>
          <p:cNvSpPr>
            <a:spLocks xmlns:a="http://schemas.openxmlformats.org/drawingml/2006/main" noGrp="1"/>
          </p:cNvSpPr>
          <p:nvPr/>
        </p:nvSpPr>
        <p:spPr>
          <a:xfrm xmlns:a="http://schemas.openxmlformats.org/drawingml/2006/main">
            <a:off x="704850" y="5029200"/>
            <a:ext cx="38100" cy="495300"/>
          </a:xfrm>
          <a:prstGeom xmlns:a="http://schemas.openxmlformats.org/drawingml/2006/main" prst="rect">
            <a:avLst/>
          </a:prstGeom>
          <a:solidFill xmlns:a="http://schemas.openxmlformats.org/drawingml/2006/main">
            <a:srgbClr val="16A34A"/>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06F7E81E-9D5C-4663-B20E-C60CC216CC22}"/>
              </a:ext>
            </a:extLst>
          </p:cNvPr>
          <p:cNvSpPr>
            <a:spLocks xmlns:a="http://schemas.openxmlformats.org/drawingml/2006/main" noGrp="1"/>
          </p:cNvSpPr>
          <p:nvPr/>
        </p:nvSpPr>
        <p:spPr>
          <a:xfrm xmlns:a="http://schemas.openxmlformats.org/drawingml/2006/main">
            <a:off x="895350" y="5114925"/>
            <a:ext cx="1381125" cy="1524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38" b="1">
                <a:solidFill>
                  <a:srgbClr val="172033"/>
                </a:solidFill>
                <a:latin typeface="Aptos"/>
                <a:ea typeface="Aptos"/>
                <a:cs typeface="Aptos"/>
              </a:defRPr>
            </a:pPr>
            <a:r>
              <a:rPr sz="938" b="1">
                <a:solidFill>
                  <a:srgbClr val="172033"/>
                </a:solidFill>
                <a:latin typeface="Aptos"/>
                <a:ea typeface="Aptos"/>
                <a:cs typeface="Aptos"/>
              </a:rPr>
              <a:t>Context window</a:t>
            </a:r>
          </a:p>
        </p:txBody>
      </p:sp>
      <p:sp>
        <p:nvSpPr>
          <p:cNvPr id="36" name="">
            <a:extLst xmlns:a="http://schemas.openxmlformats.org/drawingml/2006/main">
              <a:ext uri="{FF2B5EF4-FFF2-40B4-BE49-F238E27FC236}">
                <a16:creationId xmlns:a16="http://schemas.microsoft.com/office/drawing/2014/main" id="{D312BB2A-9C13-41FB-A145-980BEA784816}"/>
              </a:ext>
            </a:extLst>
          </p:cNvPr>
          <p:cNvSpPr>
            <a:spLocks xmlns:a="http://schemas.openxmlformats.org/drawingml/2006/main" noGrp="1"/>
          </p:cNvSpPr>
          <p:nvPr/>
        </p:nvSpPr>
        <p:spPr>
          <a:xfrm xmlns:a="http://schemas.openxmlformats.org/drawingml/2006/main">
            <a:off x="2381250" y="5114925"/>
            <a:ext cx="20002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788" b="0">
                <a:solidFill>
                  <a:srgbClr val="526179"/>
                </a:solidFill>
                <a:latin typeface="Aptos"/>
                <a:ea typeface="Aptos"/>
                <a:cs typeface="Aptos"/>
              </a:defRPr>
            </a:pPr>
            <a:r>
              <a:rPr sz="788" b="0">
                <a:solidFill>
                  <a:srgbClr val="526179"/>
                </a:solidFill>
                <a:latin typeface="Aptos"/>
                <a:ea typeface="Aptos"/>
                <a:cs typeface="Aptos"/>
              </a:rPr>
              <a:t>Only assembled state fits; long sessions compact</a:t>
            </a:r>
          </a:p>
        </p:txBody>
      </p:sp>
      <p:sp>
        <p:nvSpPr>
          <p:cNvPr id="37" name="">
            <a:extLst xmlns:a="http://schemas.openxmlformats.org/drawingml/2006/main">
              <a:ext uri="{FF2B5EF4-FFF2-40B4-BE49-F238E27FC236}">
                <a16:creationId xmlns:a16="http://schemas.microsoft.com/office/drawing/2014/main" id="{8831B383-92F0-430D-924F-D03C47338E48}"/>
              </a:ext>
            </a:extLst>
          </p:cNvPr>
          <p:cNvSpPr>
            <a:spLocks xmlns:a="http://schemas.openxmlformats.org/drawingml/2006/main" noGrp="1"/>
          </p:cNvSpPr>
          <p:nvPr/>
        </p:nvSpPr>
        <p:spPr>
          <a:xfrm xmlns:a="http://schemas.openxmlformats.org/drawingml/2006/main">
            <a:off x="5334000" y="2143125"/>
            <a:ext cx="2038350" cy="2266950"/>
          </a:xfrm>
          <a:prstGeom xmlns:a="http://schemas.openxmlformats.org/drawingml/2006/main" prst="rect">
            <a:avLst/>
          </a:prstGeom>
          <a:solidFill xmlns:a="http://schemas.openxmlformats.org/drawingml/2006/main">
            <a:srgbClr val="F8FAFC"/>
          </a:solidFill>
          <a:ln xmlns:a="http://schemas.openxmlformats.org/drawingml/2006/main" w="9525">
            <a:solidFill>
              <a:srgbClr val="D8E0EA"/>
            </a:solidFill>
          </a:ln>
        </p:spPr>
      </p:sp>
      <p:sp>
        <p:nvSpPr>
          <p:cNvPr id="38" name="">
            <a:extLst xmlns:a="http://schemas.openxmlformats.org/drawingml/2006/main">
              <a:ext uri="{FF2B5EF4-FFF2-40B4-BE49-F238E27FC236}">
                <a16:creationId xmlns:a16="http://schemas.microsoft.com/office/drawing/2014/main" id="{ACAC538E-1DAF-4E66-A775-FC6214509FA7}"/>
              </a:ext>
            </a:extLst>
          </p:cNvPr>
          <p:cNvSpPr>
            <a:spLocks xmlns:a="http://schemas.openxmlformats.org/drawingml/2006/main" noGrp="1"/>
          </p:cNvSpPr>
          <p:nvPr/>
        </p:nvSpPr>
        <p:spPr>
          <a:xfrm xmlns:a="http://schemas.openxmlformats.org/drawingml/2006/main">
            <a:off x="5581650" y="2343150"/>
            <a:ext cx="1524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275" b="1">
                <a:solidFill>
                  <a:srgbClr val="172033"/>
                </a:solidFill>
                <a:latin typeface="Aptos"/>
                <a:ea typeface="Aptos"/>
                <a:cs typeface="Aptos"/>
              </a:defRPr>
            </a:pPr>
            <a:r>
              <a:rPr sz="1275" b="1">
                <a:solidFill>
                  <a:srgbClr val="172033"/>
                </a:solidFill>
                <a:latin typeface="Aptos"/>
                <a:ea typeface="Aptos"/>
                <a:cs typeface="Aptos"/>
              </a:rPr>
              <a:t>Working context</a:t>
            </a:r>
          </a:p>
        </p:txBody>
      </p:sp>
      <p:sp>
        <p:nvSpPr>
          <p:cNvPr id="39" name="">
            <a:extLst xmlns:a="http://schemas.openxmlformats.org/drawingml/2006/main">
              <a:ext uri="{FF2B5EF4-FFF2-40B4-BE49-F238E27FC236}">
                <a16:creationId xmlns:a16="http://schemas.microsoft.com/office/drawing/2014/main" id="{442794DE-B61F-4647-BEA6-C0E501D3A8B2}"/>
              </a:ext>
            </a:extLst>
          </p:cNvPr>
          <p:cNvSpPr>
            <a:spLocks xmlns:a="http://schemas.openxmlformats.org/drawingml/2006/main" noGrp="1"/>
          </p:cNvSpPr>
          <p:nvPr/>
        </p:nvSpPr>
        <p:spPr>
          <a:xfrm xmlns:a="http://schemas.openxmlformats.org/drawingml/2006/main">
            <a:off x="5657850" y="2857500"/>
            <a:ext cx="1352550" cy="8763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900" b="0">
                <a:solidFill>
                  <a:srgbClr val="526179"/>
                </a:solidFill>
                <a:latin typeface="Aptos"/>
                <a:ea typeface="Aptos"/>
                <a:cs typeface="Aptos"/>
              </a:defRPr>
            </a:pPr>
            <a:r>
              <a:rPr sz="900" b="0">
                <a:solidFill>
                  <a:srgbClr val="526179"/>
                </a:solidFill>
                <a:latin typeface="Aptos"/>
                <a:ea typeface="Aptos"/>
                <a:cs typeface="Aptos"/>
              </a:rPr>
              <a:t>A temporary bundle of retrieved code, explicit prompt material, tool results, and session memory.</a:t>
            </a:r>
          </a:p>
        </p:txBody>
      </p:sp>
      <p:sp>
        <p:nvSpPr>
          <p:cNvPr id="40" name="">
            <a:extLst xmlns:a="http://schemas.openxmlformats.org/drawingml/2006/main">
              <a:ext uri="{FF2B5EF4-FFF2-40B4-BE49-F238E27FC236}">
                <a16:creationId xmlns:a16="http://schemas.microsoft.com/office/drawing/2014/main" id="{EC270BFF-21C9-40E7-A18D-F672A18B0249}"/>
              </a:ext>
            </a:extLst>
          </p:cNvPr>
          <p:cNvSpPr>
            <a:spLocks xmlns:a="http://schemas.openxmlformats.org/drawingml/2006/main" noGrp="1"/>
          </p:cNvSpPr>
          <p:nvPr/>
        </p:nvSpPr>
        <p:spPr>
          <a:xfrm xmlns:a="http://schemas.openxmlformats.org/drawingml/2006/main">
            <a:off x="4743450" y="3838575"/>
            <a:ext cx="571500" cy="38100"/>
          </a:xfrm>
          <a:prstGeom xmlns:a="http://schemas.openxmlformats.org/drawingml/2006/main" prst="rect">
            <a:avLst/>
          </a:prstGeom>
          <a:solidFill xmlns:a="http://schemas.openxmlformats.org/drawingml/2006/main">
            <a:srgbClr val="0E9F9A"/>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B23B4FAA-7DFA-4D03-96BD-909A762903D3}"/>
              </a:ext>
            </a:extLst>
          </p:cNvPr>
          <p:cNvSpPr>
            <a:spLocks xmlns:a="http://schemas.openxmlformats.org/drawingml/2006/main" noGrp="1"/>
          </p:cNvSpPr>
          <p:nvPr/>
        </p:nvSpPr>
        <p:spPr>
          <a:xfrm xmlns:a="http://schemas.openxmlformats.org/drawingml/2006/main">
            <a:off x="5248275" y="3743325"/>
            <a:ext cx="190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0E9F9A"/>
                </a:solidFill>
                <a:latin typeface="Aptos"/>
                <a:ea typeface="Aptos"/>
                <a:cs typeface="Aptos"/>
              </a:defRPr>
            </a:pPr>
            <a:r>
              <a:rPr sz="1350" b="1">
                <a:solidFill>
                  <a:srgbClr val="0E9F9A"/>
                </a:solidFill>
                <a:latin typeface="Aptos"/>
                <a:ea typeface="Aptos"/>
                <a:cs typeface="Aptos"/>
              </a:rPr>
              <a:t>&gt;</a:t>
            </a:r>
          </a:p>
        </p:txBody>
      </p:sp>
      <p:sp>
        <p:nvSpPr>
          <p:cNvPr id="42" name="">
            <a:extLst xmlns:a="http://schemas.openxmlformats.org/drawingml/2006/main">
              <a:ext uri="{FF2B5EF4-FFF2-40B4-BE49-F238E27FC236}">
                <a16:creationId xmlns:a16="http://schemas.microsoft.com/office/drawing/2014/main" id="{C21DD879-D7D5-4AE3-87CA-0F5D5AA6FAC5}"/>
              </a:ext>
            </a:extLst>
          </p:cNvPr>
          <p:cNvSpPr>
            <a:spLocks xmlns:a="http://schemas.openxmlformats.org/drawingml/2006/main" noGrp="1"/>
          </p:cNvSpPr>
          <p:nvPr/>
        </p:nvSpPr>
        <p:spPr>
          <a:xfrm xmlns:a="http://schemas.openxmlformats.org/drawingml/2006/main">
            <a:off x="7372350" y="3276600"/>
            <a:ext cx="685800" cy="38100"/>
          </a:xfrm>
          <a:prstGeom xmlns:a="http://schemas.openxmlformats.org/drawingml/2006/main" prst="rect">
            <a:avLst/>
          </a:prstGeom>
          <a:solidFill xmlns:a="http://schemas.openxmlformats.org/drawingml/2006/main">
            <a:srgbClr val="0E9F9A"/>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8EC75F16-8671-4236-9CBF-923F247FFE63}"/>
              </a:ext>
            </a:extLst>
          </p:cNvPr>
          <p:cNvSpPr>
            <a:spLocks xmlns:a="http://schemas.openxmlformats.org/drawingml/2006/main" noGrp="1"/>
          </p:cNvSpPr>
          <p:nvPr/>
        </p:nvSpPr>
        <p:spPr>
          <a:xfrm xmlns:a="http://schemas.openxmlformats.org/drawingml/2006/main">
            <a:off x="7991475" y="3181350"/>
            <a:ext cx="190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0E9F9A"/>
                </a:solidFill>
                <a:latin typeface="Aptos"/>
                <a:ea typeface="Aptos"/>
                <a:cs typeface="Aptos"/>
              </a:defRPr>
            </a:pPr>
            <a:r>
              <a:rPr sz="1350" b="1">
                <a:solidFill>
                  <a:srgbClr val="0E9F9A"/>
                </a:solidFill>
                <a:latin typeface="Aptos"/>
                <a:ea typeface="Aptos"/>
                <a:cs typeface="Aptos"/>
              </a:rPr>
              <a:t>&gt;</a:t>
            </a:r>
          </a:p>
        </p:txBody>
      </p:sp>
      <p:sp>
        <p:nvSpPr>
          <p:cNvPr id="44" name="">
            <a:extLst xmlns:a="http://schemas.openxmlformats.org/drawingml/2006/main">
              <a:ext uri="{FF2B5EF4-FFF2-40B4-BE49-F238E27FC236}">
                <a16:creationId xmlns:a16="http://schemas.microsoft.com/office/drawing/2014/main" id="{21A856EB-B271-4EEC-BB4C-C782B08FC539}"/>
              </a:ext>
            </a:extLst>
          </p:cNvPr>
          <p:cNvSpPr>
            <a:spLocks xmlns:a="http://schemas.openxmlformats.org/drawingml/2006/main" noGrp="1"/>
          </p:cNvSpPr>
          <p:nvPr/>
        </p:nvSpPr>
        <p:spPr>
          <a:xfrm xmlns:a="http://schemas.openxmlformats.org/drawingml/2006/main">
            <a:off x="8096250" y="4048125"/>
            <a:ext cx="2857500" cy="971550"/>
          </a:xfrm>
          <a:prstGeom xmlns:a="http://schemas.openxmlformats.org/drawingml/2006/main" prst="rect">
            <a:avLst/>
          </a:prstGeom>
          <a:solidFill xmlns:a="http://schemas.openxmlformats.org/drawingml/2006/main">
            <a:srgbClr val="FFFFFF"/>
          </a:solidFill>
          <a:ln xmlns:a="http://schemas.openxmlformats.org/drawingml/2006/main" w="9525">
            <a:solidFill>
              <a:srgbClr val="D8E0EA"/>
            </a:solidFill>
          </a:ln>
        </p:spPr>
      </p:sp>
      <p:sp>
        <p:nvSpPr>
          <p:cNvPr id="45" name="">
            <a:extLst xmlns:a="http://schemas.openxmlformats.org/drawingml/2006/main">
              <a:ext uri="{FF2B5EF4-FFF2-40B4-BE49-F238E27FC236}">
                <a16:creationId xmlns:a16="http://schemas.microsoft.com/office/drawing/2014/main" id="{393DF45F-1C80-4F6C-82D5-7248A39A43B1}"/>
              </a:ext>
            </a:extLst>
          </p:cNvPr>
          <p:cNvSpPr>
            <a:spLocks xmlns:a="http://schemas.openxmlformats.org/drawingml/2006/main" noGrp="1"/>
          </p:cNvSpPr>
          <p:nvPr/>
        </p:nvSpPr>
        <p:spPr>
          <a:xfrm xmlns:a="http://schemas.openxmlformats.org/drawingml/2006/main">
            <a:off x="8096250" y="4048125"/>
            <a:ext cx="47625" cy="971550"/>
          </a:xfrm>
          <a:prstGeom xmlns:a="http://schemas.openxmlformats.org/drawingml/2006/main" prst="rect">
            <a:avLst/>
          </a:prstGeom>
          <a:solidFill xmlns:a="http://schemas.openxmlformats.org/drawingml/2006/main">
            <a:srgbClr val="F59E0B"/>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77BE39B5-2804-449A-BA61-1FD083CE7628}"/>
              </a:ext>
            </a:extLst>
          </p:cNvPr>
          <p:cNvSpPr>
            <a:spLocks xmlns:a="http://schemas.openxmlformats.org/drawingml/2006/main" noGrp="1"/>
          </p:cNvSpPr>
          <p:nvPr/>
        </p:nvSpPr>
        <p:spPr>
          <a:xfrm xmlns:a="http://schemas.openxmlformats.org/drawingml/2006/main">
            <a:off x="8305800" y="4257675"/>
            <a:ext cx="24384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172033"/>
                </a:solidFill>
                <a:latin typeface="Aptos"/>
                <a:ea typeface="Aptos"/>
                <a:cs typeface="Aptos"/>
              </a:defRPr>
            </a:pPr>
            <a:r>
              <a:rPr sz="1275" b="1">
                <a:solidFill>
                  <a:srgbClr val="172033"/>
                </a:solidFill>
                <a:latin typeface="Aptos"/>
                <a:ea typeface="Aptos"/>
                <a:cs typeface="Aptos"/>
              </a:rPr>
              <a:t>Careful mental model</a:t>
            </a:r>
          </a:p>
        </p:txBody>
      </p:sp>
      <p:sp>
        <p:nvSpPr>
          <p:cNvPr id="47" name="">
            <a:extLst xmlns:a="http://schemas.openxmlformats.org/drawingml/2006/main">
              <a:ext uri="{FF2B5EF4-FFF2-40B4-BE49-F238E27FC236}">
                <a16:creationId xmlns:a16="http://schemas.microsoft.com/office/drawing/2014/main" id="{2FFDC38D-17C4-4F92-91A6-26F4F864D986}"/>
              </a:ext>
            </a:extLst>
          </p:cNvPr>
          <p:cNvSpPr>
            <a:spLocks xmlns:a="http://schemas.openxmlformats.org/drawingml/2006/main" noGrp="1"/>
          </p:cNvSpPr>
          <p:nvPr/>
        </p:nvSpPr>
        <p:spPr>
          <a:xfrm xmlns:a="http://schemas.openxmlformats.org/drawingml/2006/main">
            <a:off x="8305800" y="4600575"/>
            <a:ext cx="24384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38" b="0">
                <a:solidFill>
                  <a:srgbClr val="526179"/>
                </a:solidFill>
                <a:latin typeface="Aptos"/>
                <a:ea typeface="Aptos"/>
                <a:cs typeface="Aptos"/>
              </a:defRPr>
            </a:pPr>
            <a:r>
              <a:rPr sz="938" b="0">
                <a:solidFill>
                  <a:srgbClr val="526179"/>
                </a:solidFill>
                <a:latin typeface="Aptos"/>
                <a:ea typeface="Aptos"/>
                <a:cs typeface="Aptos"/>
              </a:rPr>
              <a:t>Copilot assembles context. It does not simply paste the whole repository into the model.</a:t>
            </a:r>
          </a:p>
        </p:txBody>
      </p:sp>
    </p:spTree>
    <p:extLst>
      <p:ext uri="{BB962C8B-B14F-4D97-AF65-F5344CB8AC3E}">
        <p14:creationId xmlns:p14="http://schemas.microsoft.com/office/powerpoint/2010/main" val="94846908"/>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EE97A5B-AD9E-4585-AB39-08B3DC36FA4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6F8F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A086DD9-785D-4511-B9BF-C098A7B55EBC}"/>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9F9A"/>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9FC2B50-9DF4-4238-BFE4-BD14C05D7D30}"/>
              </a:ext>
            </a:extLst>
          </p:cNvPr>
          <p:cNvSpPr>
            <a:spLocks xmlns:a="http://schemas.openxmlformats.org/drawingml/2006/main" noGrp="1"/>
          </p:cNvSpPr>
          <p:nvPr/>
        </p:nvSpPr>
        <p:spPr>
          <a:xfrm xmlns:a="http://schemas.openxmlformats.org/drawingml/2006/main">
            <a:off x="514350" y="400050"/>
            <a:ext cx="5143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788" b="1">
                <a:solidFill>
                  <a:srgbClr val="0E9F9A"/>
                </a:solidFill>
                <a:latin typeface="Aptos"/>
                <a:ea typeface="Aptos"/>
                <a:cs typeface="Aptos"/>
              </a:defRPr>
            </a:pPr>
            <a:r>
              <a:rPr sz="788" b="1">
                <a:solidFill>
                  <a:srgbClr val="0E9F9A"/>
                </a:solidFill>
                <a:latin typeface="Aptos"/>
                <a:ea typeface="Aptos"/>
                <a:cs typeface="Aptos"/>
              </a:rPr>
              <a:t>CONTEXT ENGINEERING</a:t>
            </a:r>
          </a:p>
        </p:txBody>
      </p:sp>
      <p:sp>
        <p:nvSpPr>
          <p:cNvPr id="4" name="">
            <a:extLst xmlns:a="http://schemas.openxmlformats.org/drawingml/2006/main">
              <a:ext uri="{FF2B5EF4-FFF2-40B4-BE49-F238E27FC236}">
                <a16:creationId xmlns:a16="http://schemas.microsoft.com/office/drawing/2014/main" id="{6506BACA-93B0-4F06-A44D-784A76873EDF}"/>
              </a:ext>
            </a:extLst>
          </p:cNvPr>
          <p:cNvSpPr>
            <a:spLocks xmlns:a="http://schemas.openxmlformats.org/drawingml/2006/main" noGrp="1"/>
          </p:cNvSpPr>
          <p:nvPr/>
        </p:nvSpPr>
        <p:spPr>
          <a:xfrm xmlns:a="http://schemas.openxmlformats.org/drawingml/2006/main">
            <a:off x="514350" y="685800"/>
            <a:ext cx="8382000" cy="8763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172033"/>
                </a:solidFill>
                <a:latin typeface="Aptos Display"/>
                <a:ea typeface="Aptos Display"/>
                <a:cs typeface="Aptos Display"/>
              </a:defRPr>
            </a:pPr>
            <a:r>
              <a:rPr sz="2550" b="1">
                <a:solidFill>
                  <a:srgbClr val="172033"/>
                </a:solidFill>
                <a:latin typeface="Aptos Display"/>
                <a:ea typeface="Aptos Display"/>
                <a:cs typeface="Aptos Display"/>
              </a:rPr>
              <a:t>The most useful skill is choosing what the agent should see first.</a:t>
            </a:r>
          </a:p>
        </p:txBody>
      </p:sp>
      <p:sp>
        <p:nvSpPr>
          <p:cNvPr id="5" name="">
            <a:extLst xmlns:a="http://schemas.openxmlformats.org/drawingml/2006/main">
              <a:ext uri="{FF2B5EF4-FFF2-40B4-BE49-F238E27FC236}">
                <a16:creationId xmlns:a16="http://schemas.microsoft.com/office/drawing/2014/main" id="{41278019-0CE7-455B-9D10-E8A9699A4082}"/>
              </a:ext>
            </a:extLst>
          </p:cNvPr>
          <p:cNvSpPr>
            <a:spLocks xmlns:a="http://schemas.openxmlformats.org/drawingml/2006/main" noGrp="1"/>
          </p:cNvSpPr>
          <p:nvPr/>
        </p:nvSpPr>
        <p:spPr>
          <a:xfrm xmlns:a="http://schemas.openxmlformats.org/drawingml/2006/main">
            <a:off x="514350" y="6515100"/>
            <a:ext cx="88582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638" b="0">
                <a:solidFill>
                  <a:srgbClr val="7B8798"/>
                </a:solidFill>
                <a:latin typeface="Aptos"/>
                <a:ea typeface="Aptos"/>
                <a:cs typeface="Aptos"/>
              </a:defRPr>
            </a:pPr>
            <a:r>
              <a:rPr sz="638" b="0">
                <a:solidFill>
                  <a:srgbClr val="7B8798"/>
                </a:solidFill>
                <a:latin typeface="Aptos"/>
                <a:ea typeface="Aptos"/>
                <a:cs typeface="Aptos"/>
              </a:rPr>
              <a:t>GitHub Docs: custom instructions | GitHub Docs: Copilot CLI context management</a:t>
            </a:r>
          </a:p>
        </p:txBody>
      </p:sp>
      <p:sp>
        <p:nvSpPr>
          <p:cNvPr id="6" name="">
            <a:extLst xmlns:a="http://schemas.openxmlformats.org/drawingml/2006/main">
              <a:ext uri="{FF2B5EF4-FFF2-40B4-BE49-F238E27FC236}">
                <a16:creationId xmlns:a16="http://schemas.microsoft.com/office/drawing/2014/main" id="{4BAEA063-7317-4596-8E4E-C1EE0AE85229}"/>
              </a:ext>
            </a:extLst>
          </p:cNvPr>
          <p:cNvSpPr>
            <a:spLocks xmlns:a="http://schemas.openxmlformats.org/drawingml/2006/main" noGrp="1"/>
          </p:cNvSpPr>
          <p:nvPr/>
        </p:nvSpPr>
        <p:spPr>
          <a:xfrm xmlns:a="http://schemas.openxmlformats.org/drawingml/2006/main">
            <a:off x="11239500" y="6477000"/>
            <a:ext cx="4381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r">
              <a:defRPr sz="750" b="1">
                <a:solidFill>
                  <a:srgbClr val="7B8798"/>
                </a:solidFill>
                <a:latin typeface="Aptos"/>
                <a:ea typeface="Aptos"/>
                <a:cs typeface="Aptos"/>
              </a:defRPr>
            </a:pPr>
            <a:r>
              <a:rPr sz="750" b="1">
                <a:solidFill>
                  <a:srgbClr val="7B8798"/>
                </a:solidFill>
                <a:latin typeface="Aptos"/>
                <a:ea typeface="Aptos"/>
                <a:cs typeface="Aptos"/>
              </a:rPr>
              <a:t>05</a:t>
            </a:r>
          </a:p>
        </p:txBody>
      </p:sp>
      <p:sp>
        <p:nvSpPr>
          <p:cNvPr id="7" name="">
            <a:extLst xmlns:a="http://schemas.openxmlformats.org/drawingml/2006/main">
              <a:ext uri="{FF2B5EF4-FFF2-40B4-BE49-F238E27FC236}">
                <a16:creationId xmlns:a16="http://schemas.microsoft.com/office/drawing/2014/main" id="{AB52A9CC-8614-4609-8E11-B514A1C61950}"/>
              </a:ext>
            </a:extLst>
          </p:cNvPr>
          <p:cNvSpPr>
            <a:spLocks xmlns:a="http://schemas.openxmlformats.org/drawingml/2006/main" noGrp="1"/>
          </p:cNvSpPr>
          <p:nvPr/>
        </p:nvSpPr>
        <p:spPr>
          <a:xfrm xmlns:a="http://schemas.openxmlformats.org/drawingml/2006/main">
            <a:off x="876300" y="2114550"/>
            <a:ext cx="2152650" cy="2571750"/>
          </a:xfrm>
          <a:prstGeom xmlns:a="http://schemas.openxmlformats.org/drawingml/2006/main" prst="rect">
            <a:avLst/>
          </a:prstGeom>
          <a:solidFill xmlns:a="http://schemas.openxmlformats.org/drawingml/2006/main">
            <a:srgbClr val="FFFFFF"/>
          </a:solidFill>
          <a:ln xmlns:a="http://schemas.openxmlformats.org/drawingml/2006/main" w="9525">
            <a:solidFill>
              <a:srgbClr val="D8E0EA"/>
            </a:solidFill>
          </a:ln>
        </p:spPr>
      </p:sp>
      <p:sp>
        <p:nvSpPr>
          <p:cNvPr id="8" name="">
            <a:extLst xmlns:a="http://schemas.openxmlformats.org/drawingml/2006/main">
              <a:ext uri="{FF2B5EF4-FFF2-40B4-BE49-F238E27FC236}">
                <a16:creationId xmlns:a16="http://schemas.microsoft.com/office/drawing/2014/main" id="{7E2812CC-30AA-426C-90BF-5423878DAEE0}"/>
              </a:ext>
            </a:extLst>
          </p:cNvPr>
          <p:cNvSpPr>
            <a:spLocks xmlns:a="http://schemas.openxmlformats.org/drawingml/2006/main" noGrp="1"/>
          </p:cNvSpPr>
          <p:nvPr/>
        </p:nvSpPr>
        <p:spPr>
          <a:xfrm xmlns:a="http://schemas.openxmlformats.org/drawingml/2006/main">
            <a:off x="1066800" y="2362200"/>
            <a:ext cx="17145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0E9F9A"/>
                </a:solidFill>
                <a:latin typeface="Aptos"/>
                <a:ea typeface="Aptos"/>
                <a:cs typeface="Aptos"/>
              </a:defRPr>
            </a:pPr>
            <a:r>
              <a:rPr sz="1650" b="1">
                <a:solidFill>
                  <a:srgbClr val="0E9F9A"/>
                </a:solidFill>
                <a:latin typeface="Aptos"/>
                <a:ea typeface="Aptos"/>
                <a:cs typeface="Aptos"/>
              </a:rPr>
              <a:t>Explicit</a:t>
            </a:r>
          </a:p>
        </p:txBody>
      </p:sp>
      <p:sp>
        <p:nvSpPr>
          <p:cNvPr id="9" name="">
            <a:extLst xmlns:a="http://schemas.openxmlformats.org/drawingml/2006/main">
              <a:ext uri="{FF2B5EF4-FFF2-40B4-BE49-F238E27FC236}">
                <a16:creationId xmlns:a16="http://schemas.microsoft.com/office/drawing/2014/main" id="{1B0F4E2F-EAAD-4E27-A23F-463F483819B2}"/>
              </a:ext>
            </a:extLst>
          </p:cNvPr>
          <p:cNvSpPr>
            <a:spLocks xmlns:a="http://schemas.openxmlformats.org/drawingml/2006/main" noGrp="1"/>
          </p:cNvSpPr>
          <p:nvPr/>
        </p:nvSpPr>
        <p:spPr>
          <a:xfrm xmlns:a="http://schemas.openxmlformats.org/drawingml/2006/main">
            <a:off x="1066800" y="3067050"/>
            <a:ext cx="1714500" cy="9144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26179"/>
                </a:solidFill>
                <a:latin typeface="Aptos"/>
                <a:ea typeface="Aptos"/>
                <a:cs typeface="Aptos"/>
              </a:defRPr>
            </a:pPr>
            <a:r>
              <a:rPr sz="1050" b="0">
                <a:solidFill>
                  <a:srgbClr val="526179"/>
                </a:solidFill>
                <a:latin typeface="Aptos"/>
                <a:ea typeface="Aptos"/>
                <a:cs typeface="Aptos"/>
              </a:rPr>
              <a:t>Selected files, issue text, pasted logs, failing stack traces.</a:t>
            </a:r>
          </a:p>
        </p:txBody>
      </p:sp>
      <p:sp>
        <p:nvSpPr>
          <p:cNvPr id="10" name="">
            <a:extLst xmlns:a="http://schemas.openxmlformats.org/drawingml/2006/main">
              <a:ext uri="{FF2B5EF4-FFF2-40B4-BE49-F238E27FC236}">
                <a16:creationId xmlns:a16="http://schemas.microsoft.com/office/drawing/2014/main" id="{83C2AF08-7E44-46FC-BD61-3D08396B960E}"/>
              </a:ext>
            </a:extLst>
          </p:cNvPr>
          <p:cNvSpPr>
            <a:spLocks xmlns:a="http://schemas.openxmlformats.org/drawingml/2006/main" noGrp="1"/>
          </p:cNvSpPr>
          <p:nvPr/>
        </p:nvSpPr>
        <p:spPr>
          <a:xfrm xmlns:a="http://schemas.openxmlformats.org/drawingml/2006/main">
            <a:off x="3581400" y="2114550"/>
            <a:ext cx="2152650" cy="2571750"/>
          </a:xfrm>
          <a:prstGeom xmlns:a="http://schemas.openxmlformats.org/drawingml/2006/main" prst="rect">
            <a:avLst/>
          </a:prstGeom>
          <a:solidFill xmlns:a="http://schemas.openxmlformats.org/drawingml/2006/main">
            <a:srgbClr val="FFFFFF"/>
          </a:solidFill>
          <a:ln xmlns:a="http://schemas.openxmlformats.org/drawingml/2006/main" w="9525">
            <a:solidFill>
              <a:srgbClr val="D8E0EA"/>
            </a:solidFill>
          </a:ln>
        </p:spPr>
      </p:sp>
      <p:sp>
        <p:nvSpPr>
          <p:cNvPr id="11" name="">
            <a:extLst xmlns:a="http://schemas.openxmlformats.org/drawingml/2006/main">
              <a:ext uri="{FF2B5EF4-FFF2-40B4-BE49-F238E27FC236}">
                <a16:creationId xmlns:a16="http://schemas.microsoft.com/office/drawing/2014/main" id="{BF124517-ACAE-446F-AC4B-4E10BACBE5CB}"/>
              </a:ext>
            </a:extLst>
          </p:cNvPr>
          <p:cNvSpPr>
            <a:spLocks xmlns:a="http://schemas.openxmlformats.org/drawingml/2006/main" noGrp="1"/>
          </p:cNvSpPr>
          <p:nvPr/>
        </p:nvSpPr>
        <p:spPr>
          <a:xfrm xmlns:a="http://schemas.openxmlformats.org/drawingml/2006/main">
            <a:off x="3771900" y="2362200"/>
            <a:ext cx="17145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2563EB"/>
                </a:solidFill>
                <a:latin typeface="Aptos"/>
                <a:ea typeface="Aptos"/>
                <a:cs typeface="Aptos"/>
              </a:defRPr>
            </a:pPr>
            <a:r>
              <a:rPr sz="1650" b="1">
                <a:solidFill>
                  <a:srgbClr val="2563EB"/>
                </a:solidFill>
                <a:latin typeface="Aptos"/>
                <a:ea typeface="Aptos"/>
                <a:cs typeface="Aptos"/>
              </a:rPr>
              <a:t>Persistent</a:t>
            </a:r>
          </a:p>
        </p:txBody>
      </p:sp>
      <p:sp>
        <p:nvSpPr>
          <p:cNvPr id="12" name="">
            <a:extLst xmlns:a="http://schemas.openxmlformats.org/drawingml/2006/main">
              <a:ext uri="{FF2B5EF4-FFF2-40B4-BE49-F238E27FC236}">
                <a16:creationId xmlns:a16="http://schemas.microsoft.com/office/drawing/2014/main" id="{04006A62-9436-4E46-B68D-252D3FE6D71F}"/>
              </a:ext>
            </a:extLst>
          </p:cNvPr>
          <p:cNvSpPr>
            <a:spLocks xmlns:a="http://schemas.openxmlformats.org/drawingml/2006/main" noGrp="1"/>
          </p:cNvSpPr>
          <p:nvPr/>
        </p:nvSpPr>
        <p:spPr>
          <a:xfrm xmlns:a="http://schemas.openxmlformats.org/drawingml/2006/main">
            <a:off x="3771900" y="3067050"/>
            <a:ext cx="1714500" cy="9144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26179"/>
                </a:solidFill>
                <a:latin typeface="Aptos"/>
                <a:ea typeface="Aptos"/>
                <a:cs typeface="Aptos"/>
              </a:defRPr>
            </a:pPr>
            <a:r>
              <a:rPr sz="1050" b="0">
                <a:solidFill>
                  <a:srgbClr val="526179"/>
                </a:solidFill>
                <a:latin typeface="Aptos"/>
                <a:ea typeface="Aptos"/>
                <a:cs typeface="Aptos"/>
              </a:rPr>
              <a:t>.github/copilot-instructions.md, path instructions, AGENTS.md-style guidance.</a:t>
            </a:r>
          </a:p>
        </p:txBody>
      </p:sp>
      <p:sp>
        <p:nvSpPr>
          <p:cNvPr id="13" name="">
            <a:extLst xmlns:a="http://schemas.openxmlformats.org/drawingml/2006/main">
              <a:ext uri="{FF2B5EF4-FFF2-40B4-BE49-F238E27FC236}">
                <a16:creationId xmlns:a16="http://schemas.microsoft.com/office/drawing/2014/main" id="{7DBD73C1-AC1A-43BF-93A8-84BC69A853B6}"/>
              </a:ext>
            </a:extLst>
          </p:cNvPr>
          <p:cNvSpPr>
            <a:spLocks xmlns:a="http://schemas.openxmlformats.org/drawingml/2006/main" noGrp="1"/>
          </p:cNvSpPr>
          <p:nvPr/>
        </p:nvSpPr>
        <p:spPr>
          <a:xfrm xmlns:a="http://schemas.openxmlformats.org/drawingml/2006/main">
            <a:off x="6286500" y="2114550"/>
            <a:ext cx="2152650" cy="2571750"/>
          </a:xfrm>
          <a:prstGeom xmlns:a="http://schemas.openxmlformats.org/drawingml/2006/main" prst="rect">
            <a:avLst/>
          </a:prstGeom>
          <a:solidFill xmlns:a="http://schemas.openxmlformats.org/drawingml/2006/main">
            <a:srgbClr val="FFFFFF"/>
          </a:solidFill>
          <a:ln xmlns:a="http://schemas.openxmlformats.org/drawingml/2006/main" w="9525">
            <a:solidFill>
              <a:srgbClr val="D8E0EA"/>
            </a:solidFill>
          </a:ln>
        </p:spPr>
      </p:sp>
      <p:sp>
        <p:nvSpPr>
          <p:cNvPr id="14" name="">
            <a:extLst xmlns:a="http://schemas.openxmlformats.org/drawingml/2006/main">
              <a:ext uri="{FF2B5EF4-FFF2-40B4-BE49-F238E27FC236}">
                <a16:creationId xmlns:a16="http://schemas.microsoft.com/office/drawing/2014/main" id="{FAA54077-426C-4458-905E-27A8F383DBA5}"/>
              </a:ext>
            </a:extLst>
          </p:cNvPr>
          <p:cNvSpPr>
            <a:spLocks xmlns:a="http://schemas.openxmlformats.org/drawingml/2006/main" noGrp="1"/>
          </p:cNvSpPr>
          <p:nvPr/>
        </p:nvSpPr>
        <p:spPr>
          <a:xfrm xmlns:a="http://schemas.openxmlformats.org/drawingml/2006/main">
            <a:off x="6477000" y="2362200"/>
            <a:ext cx="17145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F59E0B"/>
                </a:solidFill>
                <a:latin typeface="Aptos"/>
                <a:ea typeface="Aptos"/>
                <a:cs typeface="Aptos"/>
              </a:defRPr>
            </a:pPr>
            <a:r>
              <a:rPr sz="1650" b="1">
                <a:solidFill>
                  <a:srgbClr val="F59E0B"/>
                </a:solidFill>
                <a:latin typeface="Aptos"/>
                <a:ea typeface="Aptos"/>
                <a:cs typeface="Aptos"/>
              </a:rPr>
              <a:t>Retrieved</a:t>
            </a:r>
          </a:p>
        </p:txBody>
      </p:sp>
      <p:sp>
        <p:nvSpPr>
          <p:cNvPr id="15" name="">
            <a:extLst xmlns:a="http://schemas.openxmlformats.org/drawingml/2006/main">
              <a:ext uri="{FF2B5EF4-FFF2-40B4-BE49-F238E27FC236}">
                <a16:creationId xmlns:a16="http://schemas.microsoft.com/office/drawing/2014/main" id="{EC29367B-92C6-4680-A593-45C86F6A1292}"/>
              </a:ext>
            </a:extLst>
          </p:cNvPr>
          <p:cNvSpPr>
            <a:spLocks xmlns:a="http://schemas.openxmlformats.org/drawingml/2006/main" noGrp="1"/>
          </p:cNvSpPr>
          <p:nvPr/>
        </p:nvSpPr>
        <p:spPr>
          <a:xfrm xmlns:a="http://schemas.openxmlformats.org/drawingml/2006/main">
            <a:off x="6477000" y="3067050"/>
            <a:ext cx="1714500" cy="9144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26179"/>
                </a:solidFill>
                <a:latin typeface="Aptos"/>
                <a:ea typeface="Aptos"/>
                <a:cs typeface="Aptos"/>
              </a:defRPr>
            </a:pPr>
            <a:r>
              <a:rPr sz="1050" b="0">
                <a:solidFill>
                  <a:srgbClr val="526179"/>
                </a:solidFill>
                <a:latin typeface="Aptos"/>
                <a:ea typeface="Aptos"/>
                <a:cs typeface="Aptos"/>
              </a:rPr>
              <a:t>Semantic code search, repo index, file search, related symbols.</a:t>
            </a:r>
          </a:p>
        </p:txBody>
      </p:sp>
      <p:sp>
        <p:nvSpPr>
          <p:cNvPr id="16" name="">
            <a:extLst xmlns:a="http://schemas.openxmlformats.org/drawingml/2006/main">
              <a:ext uri="{FF2B5EF4-FFF2-40B4-BE49-F238E27FC236}">
                <a16:creationId xmlns:a16="http://schemas.microsoft.com/office/drawing/2014/main" id="{B6631625-EE08-4F62-89C1-865A7A3F77E1}"/>
              </a:ext>
            </a:extLst>
          </p:cNvPr>
          <p:cNvSpPr>
            <a:spLocks xmlns:a="http://schemas.openxmlformats.org/drawingml/2006/main" noGrp="1"/>
          </p:cNvSpPr>
          <p:nvPr/>
        </p:nvSpPr>
        <p:spPr>
          <a:xfrm xmlns:a="http://schemas.openxmlformats.org/drawingml/2006/main">
            <a:off x="8991600" y="2114550"/>
            <a:ext cx="2152650" cy="2571750"/>
          </a:xfrm>
          <a:prstGeom xmlns:a="http://schemas.openxmlformats.org/drawingml/2006/main" prst="rect">
            <a:avLst/>
          </a:prstGeom>
          <a:solidFill xmlns:a="http://schemas.openxmlformats.org/drawingml/2006/main">
            <a:srgbClr val="FFFFFF"/>
          </a:solidFill>
          <a:ln xmlns:a="http://schemas.openxmlformats.org/drawingml/2006/main" w="9525">
            <a:solidFill>
              <a:srgbClr val="D8E0EA"/>
            </a:solidFill>
          </a:ln>
        </p:spPr>
      </p:sp>
      <p:sp>
        <p:nvSpPr>
          <p:cNvPr id="17" name="">
            <a:extLst xmlns:a="http://schemas.openxmlformats.org/drawingml/2006/main">
              <a:ext uri="{FF2B5EF4-FFF2-40B4-BE49-F238E27FC236}">
                <a16:creationId xmlns:a16="http://schemas.microsoft.com/office/drawing/2014/main" id="{DE5D09A9-AD22-4F00-B7C7-7DE4A4E21597}"/>
              </a:ext>
            </a:extLst>
          </p:cNvPr>
          <p:cNvSpPr>
            <a:spLocks xmlns:a="http://schemas.openxmlformats.org/drawingml/2006/main" noGrp="1"/>
          </p:cNvSpPr>
          <p:nvPr/>
        </p:nvSpPr>
        <p:spPr>
          <a:xfrm xmlns:a="http://schemas.openxmlformats.org/drawingml/2006/main">
            <a:off x="9182100" y="2362200"/>
            <a:ext cx="17145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7C3AED"/>
                </a:solidFill>
                <a:latin typeface="Aptos"/>
                <a:ea typeface="Aptos"/>
                <a:cs typeface="Aptos"/>
              </a:defRPr>
            </a:pPr>
            <a:r>
              <a:rPr sz="1650" b="1">
                <a:solidFill>
                  <a:srgbClr val="7C3AED"/>
                </a:solidFill>
                <a:latin typeface="Aptos"/>
                <a:ea typeface="Aptos"/>
                <a:cs typeface="Aptos"/>
              </a:rPr>
              <a:t>Generated</a:t>
            </a:r>
          </a:p>
        </p:txBody>
      </p:sp>
      <p:sp>
        <p:nvSpPr>
          <p:cNvPr id="18" name="">
            <a:extLst xmlns:a="http://schemas.openxmlformats.org/drawingml/2006/main">
              <a:ext uri="{FF2B5EF4-FFF2-40B4-BE49-F238E27FC236}">
                <a16:creationId xmlns:a16="http://schemas.microsoft.com/office/drawing/2014/main" id="{D563FF9D-2961-4816-9801-C1352BD2225F}"/>
              </a:ext>
            </a:extLst>
          </p:cNvPr>
          <p:cNvSpPr>
            <a:spLocks xmlns:a="http://schemas.openxmlformats.org/drawingml/2006/main" noGrp="1"/>
          </p:cNvSpPr>
          <p:nvPr/>
        </p:nvSpPr>
        <p:spPr>
          <a:xfrm xmlns:a="http://schemas.openxmlformats.org/drawingml/2006/main">
            <a:off x="9182100" y="3067050"/>
            <a:ext cx="1714500" cy="9144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26179"/>
                </a:solidFill>
                <a:latin typeface="Aptos"/>
                <a:ea typeface="Aptos"/>
                <a:cs typeface="Aptos"/>
              </a:defRPr>
            </a:pPr>
            <a:r>
              <a:rPr sz="1050" b="0">
                <a:solidFill>
                  <a:srgbClr val="526179"/>
                </a:solidFill>
                <a:latin typeface="Aptos"/>
                <a:ea typeface="Aptos"/>
                <a:cs typeface="Aptos"/>
              </a:rPr>
              <a:t>Tool results, test output, diffs, plans, summaries, checkpoints.</a:t>
            </a:r>
          </a:p>
        </p:txBody>
      </p:sp>
      <p:sp>
        <p:nvSpPr>
          <p:cNvPr id="19" name="">
            <a:extLst xmlns:a="http://schemas.openxmlformats.org/drawingml/2006/main">
              <a:ext uri="{FF2B5EF4-FFF2-40B4-BE49-F238E27FC236}">
                <a16:creationId xmlns:a16="http://schemas.microsoft.com/office/drawing/2014/main" id="{6B7EC9DD-44DB-499C-A217-3377AD81D858}"/>
              </a:ext>
            </a:extLst>
          </p:cNvPr>
          <p:cNvSpPr>
            <a:spLocks xmlns:a="http://schemas.openxmlformats.org/drawingml/2006/main" noGrp="1"/>
          </p:cNvSpPr>
          <p:nvPr/>
        </p:nvSpPr>
        <p:spPr>
          <a:xfrm xmlns:a="http://schemas.openxmlformats.org/drawingml/2006/main">
            <a:off x="1943100" y="4933950"/>
            <a:ext cx="8039100" cy="38100"/>
          </a:xfrm>
          <a:prstGeom xmlns:a="http://schemas.openxmlformats.org/drawingml/2006/main" prst="rect">
            <a:avLst/>
          </a:prstGeom>
          <a:solidFill xmlns:a="http://schemas.openxmlformats.org/drawingml/2006/main">
            <a:srgbClr val="0E9F9A"/>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F4073978-BB97-41E1-AADE-BD57F0324822}"/>
              </a:ext>
            </a:extLst>
          </p:cNvPr>
          <p:cNvSpPr>
            <a:spLocks xmlns:a="http://schemas.openxmlformats.org/drawingml/2006/main" noGrp="1"/>
          </p:cNvSpPr>
          <p:nvPr/>
        </p:nvSpPr>
        <p:spPr>
          <a:xfrm xmlns:a="http://schemas.openxmlformats.org/drawingml/2006/main">
            <a:off x="9915525" y="4838700"/>
            <a:ext cx="190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0E9F9A"/>
                </a:solidFill>
                <a:latin typeface="Aptos"/>
                <a:ea typeface="Aptos"/>
                <a:cs typeface="Aptos"/>
              </a:defRPr>
            </a:pPr>
            <a:r>
              <a:rPr sz="1350" b="1">
                <a:solidFill>
                  <a:srgbClr val="0E9F9A"/>
                </a:solidFill>
                <a:latin typeface="Aptos"/>
                <a:ea typeface="Aptos"/>
                <a:cs typeface="Aptos"/>
              </a:rPr>
              <a:t>&gt;</a:t>
            </a:r>
          </a:p>
        </p:txBody>
      </p:sp>
      <p:sp>
        <p:nvSpPr>
          <p:cNvPr id="21" name="">
            <a:extLst xmlns:a="http://schemas.openxmlformats.org/drawingml/2006/main">
              <a:ext uri="{FF2B5EF4-FFF2-40B4-BE49-F238E27FC236}">
                <a16:creationId xmlns:a16="http://schemas.microsoft.com/office/drawing/2014/main" id="{4CAC18EE-7D1B-4159-B6E9-C3CE43DC4024}"/>
              </a:ext>
            </a:extLst>
          </p:cNvPr>
          <p:cNvSpPr>
            <a:spLocks xmlns:a="http://schemas.openxmlformats.org/drawingml/2006/main" noGrp="1"/>
          </p:cNvSpPr>
          <p:nvPr/>
        </p:nvSpPr>
        <p:spPr>
          <a:xfrm xmlns:a="http://schemas.openxmlformats.org/drawingml/2006/main">
            <a:off x="2476500" y="5391150"/>
            <a:ext cx="7239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575" b="1">
                <a:solidFill>
                  <a:srgbClr val="172033"/>
                </a:solidFill>
                <a:latin typeface="Aptos"/>
                <a:ea typeface="Aptos"/>
                <a:cs typeface="Aptos"/>
              </a:defRPr>
            </a:pPr>
            <a:r>
              <a:rPr sz="1575" b="1">
                <a:solidFill>
                  <a:srgbClr val="172033"/>
                </a:solidFill>
                <a:latin typeface="Aptos"/>
                <a:ea typeface="Aptos"/>
                <a:cs typeface="Aptos"/>
              </a:rPr>
              <a:t>Better inputs reduce guessing. Better checkpoints reduce drift.</a:t>
            </a:r>
          </a:p>
        </p:txBody>
      </p:sp>
    </p:spTree>
    <p:extLst>
      <p:ext uri="{BB962C8B-B14F-4D97-AF65-F5344CB8AC3E}">
        <p14:creationId xmlns:p14="http://schemas.microsoft.com/office/powerpoint/2010/main" val="518310868"/>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6A893DB-22E0-4891-AE71-2AC2E3B4CC8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6F8F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60314D6-3336-4AF4-832B-3C9E96C98989}"/>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9F9A"/>
          </a:solidFill>
          <a:ln xmlns:a="http://schemas.openxmlformats.org/drawingml/2006/main" w="0">
            <a:noFill/>
          </a:ln>
        </p:spPr>
      </p:sp>
      <p:pic>
        <p:nvPicPr>
          <p:cNvPr id="3" name=""/>
          <p:cNvPicPr>
            <a:picLocks xmlns:a="http://schemas.openxmlformats.org/drawingml/2006/main" noChangeAspect="1"/>
          </p:cNvPicPr>
          <p:nvPr/>
        </p:nvPicPr>
        <p:blipFill>
          <a:blip xmlns:r="http://schemas.openxmlformats.org/officeDocument/2006/relationships" xmlns:a="http://schemas.openxmlformats.org/drawingml/2006/main" r:embed="R4bd7ad18ae7d4da0"/>
          <a:srcRect xmlns:a="http://schemas.openxmlformats.org/drawingml/2006/main" l="1515" t="0" r="1515"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9FB17467-164E-4515-806D-F8E7B8E6E99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6F8FB">
              <a:alpha val="93725"/>
            </a:srgbClr>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8F1E562-9A37-4973-96DD-CD9796FC3851}"/>
              </a:ext>
            </a:extLst>
          </p:cNvPr>
          <p:cNvSpPr>
            <a:spLocks xmlns:a="http://schemas.openxmlformats.org/drawingml/2006/main" noGrp="1"/>
          </p:cNvSpPr>
          <p:nvPr/>
        </p:nvSpPr>
        <p:spPr>
          <a:xfrm xmlns:a="http://schemas.openxmlformats.org/drawingml/2006/main">
            <a:off x="514350" y="400050"/>
            <a:ext cx="5143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788" b="1">
                <a:solidFill>
                  <a:srgbClr val="0E9F9A"/>
                </a:solidFill>
                <a:latin typeface="Aptos"/>
                <a:ea typeface="Aptos"/>
                <a:cs typeface="Aptos"/>
              </a:defRPr>
            </a:pPr>
            <a:r>
              <a:rPr sz="788" b="1">
                <a:solidFill>
                  <a:srgbClr val="0E9F9A"/>
                </a:solidFill>
                <a:latin typeface="Aptos"/>
                <a:ea typeface="Aptos"/>
                <a:cs typeface="Aptos"/>
              </a:rPr>
              <a:t>TOOL CALLING</a:t>
            </a:r>
          </a:p>
        </p:txBody>
      </p:sp>
      <p:sp>
        <p:nvSpPr>
          <p:cNvPr id="6" name="">
            <a:extLst xmlns:a="http://schemas.openxmlformats.org/drawingml/2006/main">
              <a:ext uri="{FF2B5EF4-FFF2-40B4-BE49-F238E27FC236}">
                <a16:creationId xmlns:a16="http://schemas.microsoft.com/office/drawing/2014/main" id="{C81E4C5A-3789-47F0-803F-3ABAD93450CC}"/>
              </a:ext>
            </a:extLst>
          </p:cNvPr>
          <p:cNvSpPr>
            <a:spLocks xmlns:a="http://schemas.openxmlformats.org/drawingml/2006/main" noGrp="1"/>
          </p:cNvSpPr>
          <p:nvPr/>
        </p:nvSpPr>
        <p:spPr>
          <a:xfrm xmlns:a="http://schemas.openxmlformats.org/drawingml/2006/main">
            <a:off x="514350" y="685800"/>
            <a:ext cx="8382000" cy="8763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172033"/>
                </a:solidFill>
                <a:latin typeface="Aptos Display"/>
                <a:ea typeface="Aptos Display"/>
                <a:cs typeface="Aptos Display"/>
              </a:defRPr>
            </a:pPr>
            <a:r>
              <a:rPr sz="2550" b="1">
                <a:solidFill>
                  <a:srgbClr val="172033"/>
                </a:solidFill>
                <a:latin typeface="Aptos Display"/>
                <a:ea typeface="Aptos Display"/>
                <a:cs typeface="Aptos Display"/>
              </a:rPr>
              <a:t>Agents become useful when the model can ask the environment for facts.</a:t>
            </a:r>
          </a:p>
        </p:txBody>
      </p:sp>
      <p:sp>
        <p:nvSpPr>
          <p:cNvPr id="7" name="">
            <a:extLst xmlns:a="http://schemas.openxmlformats.org/drawingml/2006/main">
              <a:ext uri="{FF2B5EF4-FFF2-40B4-BE49-F238E27FC236}">
                <a16:creationId xmlns:a16="http://schemas.microsoft.com/office/drawing/2014/main" id="{6029851D-29EF-41A6-81BA-FBCFAE91DFFF}"/>
              </a:ext>
            </a:extLst>
          </p:cNvPr>
          <p:cNvSpPr>
            <a:spLocks xmlns:a="http://schemas.openxmlformats.org/drawingml/2006/main" noGrp="1"/>
          </p:cNvSpPr>
          <p:nvPr/>
        </p:nvSpPr>
        <p:spPr>
          <a:xfrm xmlns:a="http://schemas.openxmlformats.org/drawingml/2006/main">
            <a:off x="514350" y="6515100"/>
            <a:ext cx="88582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638" b="0">
                <a:solidFill>
                  <a:srgbClr val="7B8798"/>
                </a:solidFill>
                <a:latin typeface="Aptos"/>
                <a:ea typeface="Aptos"/>
                <a:cs typeface="Aptos"/>
              </a:defRPr>
            </a:pPr>
            <a:r>
              <a:rPr sz="638" b="0">
                <a:solidFill>
                  <a:srgbClr val="7B8798"/>
                </a:solidFill>
                <a:latin typeface="Aptos"/>
                <a:ea typeface="Aptos"/>
                <a:cs typeface="Aptos"/>
              </a:rPr>
              <a:t>OpenAI Docs: function/tool calling</a:t>
            </a:r>
          </a:p>
        </p:txBody>
      </p:sp>
      <p:sp>
        <p:nvSpPr>
          <p:cNvPr id="8" name="">
            <a:extLst xmlns:a="http://schemas.openxmlformats.org/drawingml/2006/main">
              <a:ext uri="{FF2B5EF4-FFF2-40B4-BE49-F238E27FC236}">
                <a16:creationId xmlns:a16="http://schemas.microsoft.com/office/drawing/2014/main" id="{BBEB12C9-38A8-4BBF-8BF9-D7A2FF2100FD}"/>
              </a:ext>
            </a:extLst>
          </p:cNvPr>
          <p:cNvSpPr>
            <a:spLocks xmlns:a="http://schemas.openxmlformats.org/drawingml/2006/main" noGrp="1"/>
          </p:cNvSpPr>
          <p:nvPr/>
        </p:nvSpPr>
        <p:spPr>
          <a:xfrm xmlns:a="http://schemas.openxmlformats.org/drawingml/2006/main">
            <a:off x="11239500" y="6477000"/>
            <a:ext cx="4381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r">
              <a:defRPr sz="750" b="1">
                <a:solidFill>
                  <a:srgbClr val="7B8798"/>
                </a:solidFill>
                <a:latin typeface="Aptos"/>
                <a:ea typeface="Aptos"/>
                <a:cs typeface="Aptos"/>
              </a:defRPr>
            </a:pPr>
            <a:r>
              <a:rPr sz="750" b="1">
                <a:solidFill>
                  <a:srgbClr val="7B8798"/>
                </a:solidFill>
                <a:latin typeface="Aptos"/>
                <a:ea typeface="Aptos"/>
                <a:cs typeface="Aptos"/>
              </a:rPr>
              <a:t>06</a:t>
            </a:r>
          </a:p>
        </p:txBody>
      </p:sp>
      <p:sp>
        <p:nvSpPr>
          <p:cNvPr id="9" name="">
            <a:extLst xmlns:a="http://schemas.openxmlformats.org/drawingml/2006/main">
              <a:ext uri="{FF2B5EF4-FFF2-40B4-BE49-F238E27FC236}">
                <a16:creationId xmlns:a16="http://schemas.microsoft.com/office/drawing/2014/main" id="{4F291949-EED5-464B-BA19-CEB7A688CD92}"/>
              </a:ext>
            </a:extLst>
          </p:cNvPr>
          <p:cNvSpPr>
            <a:spLocks xmlns:a="http://schemas.openxmlformats.org/drawingml/2006/main" noGrp="1"/>
          </p:cNvSpPr>
          <p:nvPr/>
        </p:nvSpPr>
        <p:spPr>
          <a:xfrm xmlns:a="http://schemas.openxmlformats.org/drawingml/2006/main">
            <a:off x="1143000" y="2381250"/>
            <a:ext cx="2000250" cy="723900"/>
          </a:xfrm>
          <a:prstGeom xmlns:a="http://schemas.openxmlformats.org/drawingml/2006/main" prst="rect">
            <a:avLst/>
          </a:prstGeom>
          <a:solidFill xmlns:a="http://schemas.openxmlformats.org/drawingml/2006/main">
            <a:srgbClr val="FFFFFF"/>
          </a:solidFill>
          <a:ln xmlns:a="http://schemas.openxmlformats.org/drawingml/2006/main" w="9525">
            <a:solidFill>
              <a:srgbClr val="D8E0EA"/>
            </a:solidFill>
          </a:ln>
        </p:spPr>
      </p:sp>
      <p:sp>
        <p:nvSpPr>
          <p:cNvPr id="10" name="">
            <a:extLst xmlns:a="http://schemas.openxmlformats.org/drawingml/2006/main">
              <a:ext uri="{FF2B5EF4-FFF2-40B4-BE49-F238E27FC236}">
                <a16:creationId xmlns:a16="http://schemas.microsoft.com/office/drawing/2014/main" id="{3B086069-438B-4765-9247-BB01231A7014}"/>
              </a:ext>
            </a:extLst>
          </p:cNvPr>
          <p:cNvSpPr>
            <a:spLocks xmlns:a="http://schemas.openxmlformats.org/drawingml/2006/main" noGrp="1"/>
          </p:cNvSpPr>
          <p:nvPr/>
        </p:nvSpPr>
        <p:spPr>
          <a:xfrm xmlns:a="http://schemas.openxmlformats.org/drawingml/2006/main">
            <a:off x="1295400" y="2552700"/>
            <a:ext cx="2667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0E9F9A"/>
                </a:solidFill>
                <a:latin typeface="Aptos"/>
                <a:ea typeface="Aptos"/>
                <a:cs typeface="Aptos"/>
              </a:defRPr>
            </a:pPr>
            <a:r>
              <a:rPr sz="1575" b="1">
                <a:solidFill>
                  <a:srgbClr val="0E9F9A"/>
                </a:solidFill>
                <a:latin typeface="Aptos"/>
                <a:ea typeface="Aptos"/>
                <a:cs typeface="Aptos"/>
              </a:rPr>
              <a:t>1</a:t>
            </a:r>
          </a:p>
        </p:txBody>
      </p:sp>
      <p:sp>
        <p:nvSpPr>
          <p:cNvPr id="11" name="">
            <a:extLst xmlns:a="http://schemas.openxmlformats.org/drawingml/2006/main">
              <a:ext uri="{FF2B5EF4-FFF2-40B4-BE49-F238E27FC236}">
                <a16:creationId xmlns:a16="http://schemas.microsoft.com/office/drawing/2014/main" id="{EED7CB50-4C4B-4104-A083-145A38168975}"/>
              </a:ext>
            </a:extLst>
          </p:cNvPr>
          <p:cNvSpPr>
            <a:spLocks xmlns:a="http://schemas.openxmlformats.org/drawingml/2006/main" noGrp="1"/>
          </p:cNvSpPr>
          <p:nvPr/>
        </p:nvSpPr>
        <p:spPr>
          <a:xfrm xmlns:a="http://schemas.openxmlformats.org/drawingml/2006/main">
            <a:off x="1657350" y="2552700"/>
            <a:ext cx="12573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38" b="1">
                <a:solidFill>
                  <a:srgbClr val="172033"/>
                </a:solidFill>
                <a:latin typeface="Aptos"/>
                <a:ea typeface="Aptos"/>
                <a:cs typeface="Aptos"/>
              </a:defRPr>
            </a:pPr>
            <a:r>
              <a:rPr sz="938" b="1">
                <a:solidFill>
                  <a:srgbClr val="172033"/>
                </a:solidFill>
                <a:latin typeface="Aptos"/>
                <a:ea typeface="Aptos"/>
                <a:cs typeface="Aptos"/>
              </a:rPr>
              <a:t>Model receives prompt + tool definitions</a:t>
            </a:r>
          </a:p>
        </p:txBody>
      </p:sp>
      <p:sp>
        <p:nvSpPr>
          <p:cNvPr id="12" name="">
            <a:extLst xmlns:a="http://schemas.openxmlformats.org/drawingml/2006/main">
              <a:ext uri="{FF2B5EF4-FFF2-40B4-BE49-F238E27FC236}">
                <a16:creationId xmlns:a16="http://schemas.microsoft.com/office/drawing/2014/main" id="{E6D93FE7-38C7-4361-B045-A6D3CDD31A5B}"/>
              </a:ext>
            </a:extLst>
          </p:cNvPr>
          <p:cNvSpPr>
            <a:spLocks xmlns:a="http://schemas.openxmlformats.org/drawingml/2006/main" noGrp="1"/>
          </p:cNvSpPr>
          <p:nvPr/>
        </p:nvSpPr>
        <p:spPr>
          <a:xfrm xmlns:a="http://schemas.openxmlformats.org/drawingml/2006/main">
            <a:off x="3714750" y="1790700"/>
            <a:ext cx="2000250" cy="723900"/>
          </a:xfrm>
          <a:prstGeom xmlns:a="http://schemas.openxmlformats.org/drawingml/2006/main" prst="rect">
            <a:avLst/>
          </a:prstGeom>
          <a:solidFill xmlns:a="http://schemas.openxmlformats.org/drawingml/2006/main">
            <a:srgbClr val="FFFFFF"/>
          </a:solidFill>
          <a:ln xmlns:a="http://schemas.openxmlformats.org/drawingml/2006/main" w="9525">
            <a:solidFill>
              <a:srgbClr val="D8E0EA"/>
            </a:solidFill>
          </a:ln>
        </p:spPr>
      </p:sp>
      <p:sp>
        <p:nvSpPr>
          <p:cNvPr id="13" name="">
            <a:extLst xmlns:a="http://schemas.openxmlformats.org/drawingml/2006/main">
              <a:ext uri="{FF2B5EF4-FFF2-40B4-BE49-F238E27FC236}">
                <a16:creationId xmlns:a16="http://schemas.microsoft.com/office/drawing/2014/main" id="{8D8B4806-5DD4-4B44-9D26-5D34B67E8FB7}"/>
              </a:ext>
            </a:extLst>
          </p:cNvPr>
          <p:cNvSpPr>
            <a:spLocks xmlns:a="http://schemas.openxmlformats.org/drawingml/2006/main" noGrp="1"/>
          </p:cNvSpPr>
          <p:nvPr/>
        </p:nvSpPr>
        <p:spPr>
          <a:xfrm xmlns:a="http://schemas.openxmlformats.org/drawingml/2006/main">
            <a:off x="3867150" y="1962150"/>
            <a:ext cx="2667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2563EB"/>
                </a:solidFill>
                <a:latin typeface="Aptos"/>
                <a:ea typeface="Aptos"/>
                <a:cs typeface="Aptos"/>
              </a:defRPr>
            </a:pPr>
            <a:r>
              <a:rPr sz="1575" b="1">
                <a:solidFill>
                  <a:srgbClr val="2563EB"/>
                </a:solidFill>
                <a:latin typeface="Aptos"/>
                <a:ea typeface="Aptos"/>
                <a:cs typeface="Aptos"/>
              </a:rPr>
              <a:t>2</a:t>
            </a:r>
          </a:p>
        </p:txBody>
      </p:sp>
      <p:sp>
        <p:nvSpPr>
          <p:cNvPr id="14" name="">
            <a:extLst xmlns:a="http://schemas.openxmlformats.org/drawingml/2006/main">
              <a:ext uri="{FF2B5EF4-FFF2-40B4-BE49-F238E27FC236}">
                <a16:creationId xmlns:a16="http://schemas.microsoft.com/office/drawing/2014/main" id="{ACAB69A0-99CC-4E41-A4A3-9971F16D1CFC}"/>
              </a:ext>
            </a:extLst>
          </p:cNvPr>
          <p:cNvSpPr>
            <a:spLocks xmlns:a="http://schemas.openxmlformats.org/drawingml/2006/main" noGrp="1"/>
          </p:cNvSpPr>
          <p:nvPr/>
        </p:nvSpPr>
        <p:spPr>
          <a:xfrm xmlns:a="http://schemas.openxmlformats.org/drawingml/2006/main">
            <a:off x="4229100" y="1962150"/>
            <a:ext cx="12573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38" b="1">
                <a:solidFill>
                  <a:srgbClr val="172033"/>
                </a:solidFill>
                <a:latin typeface="Aptos"/>
                <a:ea typeface="Aptos"/>
                <a:cs typeface="Aptos"/>
              </a:defRPr>
            </a:pPr>
            <a:r>
              <a:rPr sz="938" b="1">
                <a:solidFill>
                  <a:srgbClr val="172033"/>
                </a:solidFill>
                <a:latin typeface="Aptos"/>
                <a:ea typeface="Aptos"/>
                <a:cs typeface="Aptos"/>
              </a:rPr>
              <a:t>Model requests a tool call</a:t>
            </a:r>
          </a:p>
        </p:txBody>
      </p:sp>
      <p:sp>
        <p:nvSpPr>
          <p:cNvPr id="15" name="">
            <a:extLst xmlns:a="http://schemas.openxmlformats.org/drawingml/2006/main">
              <a:ext uri="{FF2B5EF4-FFF2-40B4-BE49-F238E27FC236}">
                <a16:creationId xmlns:a16="http://schemas.microsoft.com/office/drawing/2014/main" id="{1D083790-782A-4704-BAB5-DE07228E4FD0}"/>
              </a:ext>
            </a:extLst>
          </p:cNvPr>
          <p:cNvSpPr>
            <a:spLocks xmlns:a="http://schemas.openxmlformats.org/drawingml/2006/main" noGrp="1"/>
          </p:cNvSpPr>
          <p:nvPr/>
        </p:nvSpPr>
        <p:spPr>
          <a:xfrm xmlns:a="http://schemas.openxmlformats.org/drawingml/2006/main">
            <a:off x="6477000" y="2381250"/>
            <a:ext cx="2000250" cy="723900"/>
          </a:xfrm>
          <a:prstGeom xmlns:a="http://schemas.openxmlformats.org/drawingml/2006/main" prst="rect">
            <a:avLst/>
          </a:prstGeom>
          <a:solidFill xmlns:a="http://schemas.openxmlformats.org/drawingml/2006/main">
            <a:srgbClr val="FFFFFF"/>
          </a:solidFill>
          <a:ln xmlns:a="http://schemas.openxmlformats.org/drawingml/2006/main" w="9525">
            <a:solidFill>
              <a:srgbClr val="D8E0EA"/>
            </a:solidFill>
          </a:ln>
        </p:spPr>
      </p:sp>
      <p:sp>
        <p:nvSpPr>
          <p:cNvPr id="16" name="">
            <a:extLst xmlns:a="http://schemas.openxmlformats.org/drawingml/2006/main">
              <a:ext uri="{FF2B5EF4-FFF2-40B4-BE49-F238E27FC236}">
                <a16:creationId xmlns:a16="http://schemas.microsoft.com/office/drawing/2014/main" id="{6B85E4F2-3DDE-40A6-8D84-FFC6912C05CE}"/>
              </a:ext>
            </a:extLst>
          </p:cNvPr>
          <p:cNvSpPr>
            <a:spLocks xmlns:a="http://schemas.openxmlformats.org/drawingml/2006/main" noGrp="1"/>
          </p:cNvSpPr>
          <p:nvPr/>
        </p:nvSpPr>
        <p:spPr>
          <a:xfrm xmlns:a="http://schemas.openxmlformats.org/drawingml/2006/main">
            <a:off x="6629400" y="2552700"/>
            <a:ext cx="2667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F59E0B"/>
                </a:solidFill>
                <a:latin typeface="Aptos"/>
                <a:ea typeface="Aptos"/>
                <a:cs typeface="Aptos"/>
              </a:defRPr>
            </a:pPr>
            <a:r>
              <a:rPr sz="1575" b="1">
                <a:solidFill>
                  <a:srgbClr val="F59E0B"/>
                </a:solidFill>
                <a:latin typeface="Aptos"/>
                <a:ea typeface="Aptos"/>
                <a:cs typeface="Aptos"/>
              </a:rPr>
              <a:t>3</a:t>
            </a:r>
          </a:p>
        </p:txBody>
      </p:sp>
      <p:sp>
        <p:nvSpPr>
          <p:cNvPr id="17" name="">
            <a:extLst xmlns:a="http://schemas.openxmlformats.org/drawingml/2006/main">
              <a:ext uri="{FF2B5EF4-FFF2-40B4-BE49-F238E27FC236}">
                <a16:creationId xmlns:a16="http://schemas.microsoft.com/office/drawing/2014/main" id="{4DBE1619-FC24-4EA5-B69F-8846A9E7070D}"/>
              </a:ext>
            </a:extLst>
          </p:cNvPr>
          <p:cNvSpPr>
            <a:spLocks xmlns:a="http://schemas.openxmlformats.org/drawingml/2006/main" noGrp="1"/>
          </p:cNvSpPr>
          <p:nvPr/>
        </p:nvSpPr>
        <p:spPr>
          <a:xfrm xmlns:a="http://schemas.openxmlformats.org/drawingml/2006/main">
            <a:off x="6991350" y="2552700"/>
            <a:ext cx="12573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38" b="1">
                <a:solidFill>
                  <a:srgbClr val="172033"/>
                </a:solidFill>
                <a:latin typeface="Aptos"/>
                <a:ea typeface="Aptos"/>
                <a:cs typeface="Aptos"/>
              </a:defRPr>
            </a:pPr>
            <a:r>
              <a:rPr sz="938" b="1">
                <a:solidFill>
                  <a:srgbClr val="172033"/>
                </a:solidFill>
                <a:latin typeface="Aptos"/>
                <a:ea typeface="Aptos"/>
                <a:cs typeface="Aptos"/>
              </a:rPr>
              <a:t>App executes the tool outside the model</a:t>
            </a:r>
          </a:p>
        </p:txBody>
      </p:sp>
      <p:sp>
        <p:nvSpPr>
          <p:cNvPr id="18" name="">
            <a:extLst xmlns:a="http://schemas.openxmlformats.org/drawingml/2006/main">
              <a:ext uri="{FF2B5EF4-FFF2-40B4-BE49-F238E27FC236}">
                <a16:creationId xmlns:a16="http://schemas.microsoft.com/office/drawing/2014/main" id="{1C7CB051-B69A-4C9B-81EF-A399EED39DF7}"/>
              </a:ext>
            </a:extLst>
          </p:cNvPr>
          <p:cNvSpPr>
            <a:spLocks xmlns:a="http://schemas.openxmlformats.org/drawingml/2006/main" noGrp="1"/>
          </p:cNvSpPr>
          <p:nvPr/>
        </p:nvSpPr>
        <p:spPr>
          <a:xfrm xmlns:a="http://schemas.openxmlformats.org/drawingml/2006/main">
            <a:off x="6477000" y="4267200"/>
            <a:ext cx="2000250" cy="723900"/>
          </a:xfrm>
          <a:prstGeom xmlns:a="http://schemas.openxmlformats.org/drawingml/2006/main" prst="rect">
            <a:avLst/>
          </a:prstGeom>
          <a:solidFill xmlns:a="http://schemas.openxmlformats.org/drawingml/2006/main">
            <a:srgbClr val="FFFFFF"/>
          </a:solidFill>
          <a:ln xmlns:a="http://schemas.openxmlformats.org/drawingml/2006/main" w="9525">
            <a:solidFill>
              <a:srgbClr val="D8E0EA"/>
            </a:solidFill>
          </a:ln>
        </p:spPr>
      </p:sp>
      <p:sp>
        <p:nvSpPr>
          <p:cNvPr id="19" name="">
            <a:extLst xmlns:a="http://schemas.openxmlformats.org/drawingml/2006/main">
              <a:ext uri="{FF2B5EF4-FFF2-40B4-BE49-F238E27FC236}">
                <a16:creationId xmlns:a16="http://schemas.microsoft.com/office/drawing/2014/main" id="{6374DF4B-0595-4671-95A6-37F019E5ACA2}"/>
              </a:ext>
            </a:extLst>
          </p:cNvPr>
          <p:cNvSpPr>
            <a:spLocks xmlns:a="http://schemas.openxmlformats.org/drawingml/2006/main" noGrp="1"/>
          </p:cNvSpPr>
          <p:nvPr/>
        </p:nvSpPr>
        <p:spPr>
          <a:xfrm xmlns:a="http://schemas.openxmlformats.org/drawingml/2006/main">
            <a:off x="6629400" y="4438650"/>
            <a:ext cx="2667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7C3AED"/>
                </a:solidFill>
                <a:latin typeface="Aptos"/>
                <a:ea typeface="Aptos"/>
                <a:cs typeface="Aptos"/>
              </a:defRPr>
            </a:pPr>
            <a:r>
              <a:rPr sz="1575" b="1">
                <a:solidFill>
                  <a:srgbClr val="7C3AED"/>
                </a:solidFill>
                <a:latin typeface="Aptos"/>
                <a:ea typeface="Aptos"/>
                <a:cs typeface="Aptos"/>
              </a:rPr>
              <a:t>4</a:t>
            </a:r>
          </a:p>
        </p:txBody>
      </p:sp>
      <p:sp>
        <p:nvSpPr>
          <p:cNvPr id="20" name="">
            <a:extLst xmlns:a="http://schemas.openxmlformats.org/drawingml/2006/main">
              <a:ext uri="{FF2B5EF4-FFF2-40B4-BE49-F238E27FC236}">
                <a16:creationId xmlns:a16="http://schemas.microsoft.com/office/drawing/2014/main" id="{218037D9-9313-4207-959B-AB0293E364C9}"/>
              </a:ext>
            </a:extLst>
          </p:cNvPr>
          <p:cNvSpPr>
            <a:spLocks xmlns:a="http://schemas.openxmlformats.org/drawingml/2006/main" noGrp="1"/>
          </p:cNvSpPr>
          <p:nvPr/>
        </p:nvSpPr>
        <p:spPr>
          <a:xfrm xmlns:a="http://schemas.openxmlformats.org/drawingml/2006/main">
            <a:off x="6991350" y="4438650"/>
            <a:ext cx="12573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38" b="1">
                <a:solidFill>
                  <a:srgbClr val="172033"/>
                </a:solidFill>
                <a:latin typeface="Aptos"/>
                <a:ea typeface="Aptos"/>
                <a:cs typeface="Aptos"/>
              </a:defRPr>
            </a:pPr>
            <a:r>
              <a:rPr sz="938" b="1">
                <a:solidFill>
                  <a:srgbClr val="172033"/>
                </a:solidFill>
                <a:latin typeface="Aptos"/>
                <a:ea typeface="Aptos"/>
                <a:cs typeface="Aptos"/>
              </a:rPr>
              <a:t>Tool result returns into context</a:t>
            </a:r>
          </a:p>
        </p:txBody>
      </p:sp>
      <p:sp>
        <p:nvSpPr>
          <p:cNvPr id="21" name="">
            <a:extLst xmlns:a="http://schemas.openxmlformats.org/drawingml/2006/main">
              <a:ext uri="{FF2B5EF4-FFF2-40B4-BE49-F238E27FC236}">
                <a16:creationId xmlns:a16="http://schemas.microsoft.com/office/drawing/2014/main" id="{1B84633B-760B-40E1-AAD6-172D267F3E49}"/>
              </a:ext>
            </a:extLst>
          </p:cNvPr>
          <p:cNvSpPr>
            <a:spLocks xmlns:a="http://schemas.openxmlformats.org/drawingml/2006/main" noGrp="1"/>
          </p:cNvSpPr>
          <p:nvPr/>
        </p:nvSpPr>
        <p:spPr>
          <a:xfrm xmlns:a="http://schemas.openxmlformats.org/drawingml/2006/main">
            <a:off x="3714750" y="4857750"/>
            <a:ext cx="2000250" cy="723900"/>
          </a:xfrm>
          <a:prstGeom xmlns:a="http://schemas.openxmlformats.org/drawingml/2006/main" prst="rect">
            <a:avLst/>
          </a:prstGeom>
          <a:solidFill xmlns:a="http://schemas.openxmlformats.org/drawingml/2006/main">
            <a:srgbClr val="FFFFFF"/>
          </a:solidFill>
          <a:ln xmlns:a="http://schemas.openxmlformats.org/drawingml/2006/main" w="9525">
            <a:solidFill>
              <a:srgbClr val="D8E0EA"/>
            </a:solidFill>
          </a:ln>
        </p:spPr>
      </p:sp>
      <p:sp>
        <p:nvSpPr>
          <p:cNvPr id="22" name="">
            <a:extLst xmlns:a="http://schemas.openxmlformats.org/drawingml/2006/main">
              <a:ext uri="{FF2B5EF4-FFF2-40B4-BE49-F238E27FC236}">
                <a16:creationId xmlns:a16="http://schemas.microsoft.com/office/drawing/2014/main" id="{DBE8372E-846D-4382-891A-976C544077F4}"/>
              </a:ext>
            </a:extLst>
          </p:cNvPr>
          <p:cNvSpPr>
            <a:spLocks xmlns:a="http://schemas.openxmlformats.org/drawingml/2006/main" noGrp="1"/>
          </p:cNvSpPr>
          <p:nvPr/>
        </p:nvSpPr>
        <p:spPr>
          <a:xfrm xmlns:a="http://schemas.openxmlformats.org/drawingml/2006/main">
            <a:off x="3867150" y="5029200"/>
            <a:ext cx="2667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16A34A"/>
                </a:solidFill>
                <a:latin typeface="Aptos"/>
                <a:ea typeface="Aptos"/>
                <a:cs typeface="Aptos"/>
              </a:defRPr>
            </a:pPr>
            <a:r>
              <a:rPr sz="1575" b="1">
                <a:solidFill>
                  <a:srgbClr val="16A34A"/>
                </a:solidFill>
                <a:latin typeface="Aptos"/>
                <a:ea typeface="Aptos"/>
                <a:cs typeface="Aptos"/>
              </a:rPr>
              <a:t>5</a:t>
            </a:r>
          </a:p>
        </p:txBody>
      </p:sp>
      <p:sp>
        <p:nvSpPr>
          <p:cNvPr id="23" name="">
            <a:extLst xmlns:a="http://schemas.openxmlformats.org/drawingml/2006/main">
              <a:ext uri="{FF2B5EF4-FFF2-40B4-BE49-F238E27FC236}">
                <a16:creationId xmlns:a16="http://schemas.microsoft.com/office/drawing/2014/main" id="{055BB0FD-4B7E-4E85-AD5B-A83540999576}"/>
              </a:ext>
            </a:extLst>
          </p:cNvPr>
          <p:cNvSpPr>
            <a:spLocks xmlns:a="http://schemas.openxmlformats.org/drawingml/2006/main" noGrp="1"/>
          </p:cNvSpPr>
          <p:nvPr/>
        </p:nvSpPr>
        <p:spPr>
          <a:xfrm xmlns:a="http://schemas.openxmlformats.org/drawingml/2006/main">
            <a:off x="4229100" y="5029200"/>
            <a:ext cx="12573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38" b="1">
                <a:solidFill>
                  <a:srgbClr val="172033"/>
                </a:solidFill>
                <a:latin typeface="Aptos"/>
                <a:ea typeface="Aptos"/>
                <a:cs typeface="Aptos"/>
              </a:defRPr>
            </a:pPr>
            <a:r>
              <a:rPr sz="938" b="1">
                <a:solidFill>
                  <a:srgbClr val="172033"/>
                </a:solidFill>
                <a:latin typeface="Aptos"/>
                <a:ea typeface="Aptos"/>
                <a:cs typeface="Aptos"/>
              </a:rPr>
              <a:t>Model responds or calls another tool</a:t>
            </a:r>
          </a:p>
        </p:txBody>
      </p:sp>
      <p:sp>
        <p:nvSpPr>
          <p:cNvPr id="24" name="">
            <a:extLst xmlns:a="http://schemas.openxmlformats.org/drawingml/2006/main">
              <a:ext uri="{FF2B5EF4-FFF2-40B4-BE49-F238E27FC236}">
                <a16:creationId xmlns:a16="http://schemas.microsoft.com/office/drawing/2014/main" id="{2EC52C2E-723F-4437-A43F-E09064AA3AF0}"/>
              </a:ext>
            </a:extLst>
          </p:cNvPr>
          <p:cNvSpPr>
            <a:spLocks xmlns:a="http://schemas.openxmlformats.org/drawingml/2006/main" noGrp="1"/>
          </p:cNvSpPr>
          <p:nvPr/>
        </p:nvSpPr>
        <p:spPr>
          <a:xfrm xmlns:a="http://schemas.openxmlformats.org/drawingml/2006/main">
            <a:off x="3143250" y="2724150"/>
            <a:ext cx="571500" cy="38100"/>
          </a:xfrm>
          <a:prstGeom xmlns:a="http://schemas.openxmlformats.org/drawingml/2006/main" prst="rect">
            <a:avLst/>
          </a:prstGeom>
          <a:solidFill xmlns:a="http://schemas.openxmlformats.org/drawingml/2006/main">
            <a:srgbClr val="0E9F9A"/>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91D7D53F-4302-42B1-9A92-121360D26D26}"/>
              </a:ext>
            </a:extLst>
          </p:cNvPr>
          <p:cNvSpPr>
            <a:spLocks xmlns:a="http://schemas.openxmlformats.org/drawingml/2006/main" noGrp="1"/>
          </p:cNvSpPr>
          <p:nvPr/>
        </p:nvSpPr>
        <p:spPr>
          <a:xfrm xmlns:a="http://schemas.openxmlformats.org/drawingml/2006/main">
            <a:off x="3648075" y="2628900"/>
            <a:ext cx="190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0E9F9A"/>
                </a:solidFill>
                <a:latin typeface="Aptos"/>
                <a:ea typeface="Aptos"/>
                <a:cs typeface="Aptos"/>
              </a:defRPr>
            </a:pPr>
            <a:r>
              <a:rPr sz="1350" b="1">
                <a:solidFill>
                  <a:srgbClr val="0E9F9A"/>
                </a:solidFill>
                <a:latin typeface="Aptos"/>
                <a:ea typeface="Aptos"/>
                <a:cs typeface="Aptos"/>
              </a:rPr>
              <a:t>&gt;</a:t>
            </a:r>
          </a:p>
        </p:txBody>
      </p:sp>
      <p:sp>
        <p:nvSpPr>
          <p:cNvPr id="26" name="">
            <a:extLst xmlns:a="http://schemas.openxmlformats.org/drawingml/2006/main">
              <a:ext uri="{FF2B5EF4-FFF2-40B4-BE49-F238E27FC236}">
                <a16:creationId xmlns:a16="http://schemas.microsoft.com/office/drawing/2014/main" id="{A62BBD09-7D81-4CC3-8741-5DE36F57AC5E}"/>
              </a:ext>
            </a:extLst>
          </p:cNvPr>
          <p:cNvSpPr>
            <a:spLocks xmlns:a="http://schemas.openxmlformats.org/drawingml/2006/main" noGrp="1"/>
          </p:cNvSpPr>
          <p:nvPr/>
        </p:nvSpPr>
        <p:spPr>
          <a:xfrm xmlns:a="http://schemas.openxmlformats.org/drawingml/2006/main">
            <a:off x="5715000" y="2190750"/>
            <a:ext cx="762000" cy="38100"/>
          </a:xfrm>
          <a:prstGeom xmlns:a="http://schemas.openxmlformats.org/drawingml/2006/main" prst="rect">
            <a:avLst/>
          </a:prstGeom>
          <a:solidFill xmlns:a="http://schemas.openxmlformats.org/drawingml/2006/main">
            <a:srgbClr val="0E9F9A"/>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13E9E212-1CE0-4974-829F-3DD4DF9A8882}"/>
              </a:ext>
            </a:extLst>
          </p:cNvPr>
          <p:cNvSpPr>
            <a:spLocks xmlns:a="http://schemas.openxmlformats.org/drawingml/2006/main" noGrp="1"/>
          </p:cNvSpPr>
          <p:nvPr/>
        </p:nvSpPr>
        <p:spPr>
          <a:xfrm xmlns:a="http://schemas.openxmlformats.org/drawingml/2006/main">
            <a:off x="6410325" y="2095500"/>
            <a:ext cx="190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0E9F9A"/>
                </a:solidFill>
                <a:latin typeface="Aptos"/>
                <a:ea typeface="Aptos"/>
                <a:cs typeface="Aptos"/>
              </a:defRPr>
            </a:pPr>
            <a:r>
              <a:rPr sz="1350" b="1">
                <a:solidFill>
                  <a:srgbClr val="0E9F9A"/>
                </a:solidFill>
                <a:latin typeface="Aptos"/>
                <a:ea typeface="Aptos"/>
                <a:cs typeface="Aptos"/>
              </a:rPr>
              <a:t>&gt;</a:t>
            </a:r>
          </a:p>
        </p:txBody>
      </p:sp>
      <p:sp>
        <p:nvSpPr>
          <p:cNvPr id="28" name="">
            <a:extLst xmlns:a="http://schemas.openxmlformats.org/drawingml/2006/main">
              <a:ext uri="{FF2B5EF4-FFF2-40B4-BE49-F238E27FC236}">
                <a16:creationId xmlns:a16="http://schemas.microsoft.com/office/drawing/2014/main" id="{A4FDA4C2-9354-4677-9AB6-0858B5917F1E}"/>
              </a:ext>
            </a:extLst>
          </p:cNvPr>
          <p:cNvSpPr>
            <a:spLocks xmlns:a="http://schemas.openxmlformats.org/drawingml/2006/main" noGrp="1"/>
          </p:cNvSpPr>
          <p:nvPr/>
        </p:nvSpPr>
        <p:spPr>
          <a:xfrm xmlns:a="http://schemas.openxmlformats.org/drawingml/2006/main">
            <a:off x="7458075" y="3105150"/>
            <a:ext cx="38100" cy="1162050"/>
          </a:xfrm>
          <a:prstGeom xmlns:a="http://schemas.openxmlformats.org/drawingml/2006/main" prst="rect">
            <a:avLst/>
          </a:prstGeom>
          <a:solidFill xmlns:a="http://schemas.openxmlformats.org/drawingml/2006/main">
            <a:srgbClr val="0E9F9A"/>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CD1B8619-6009-412B-B41E-E5F322CAD594}"/>
              </a:ext>
            </a:extLst>
          </p:cNvPr>
          <p:cNvSpPr>
            <a:spLocks xmlns:a="http://schemas.openxmlformats.org/drawingml/2006/main" noGrp="1"/>
          </p:cNvSpPr>
          <p:nvPr/>
        </p:nvSpPr>
        <p:spPr>
          <a:xfrm xmlns:a="http://schemas.openxmlformats.org/drawingml/2006/main">
            <a:off x="7410450" y="4191000"/>
            <a:ext cx="190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0E9F9A"/>
                </a:solidFill>
                <a:latin typeface="Aptos"/>
                <a:ea typeface="Aptos"/>
                <a:cs typeface="Aptos"/>
              </a:defRPr>
            </a:pPr>
            <a:r>
              <a:rPr sz="1200" b="1">
                <a:solidFill>
                  <a:srgbClr val="0E9F9A"/>
                </a:solidFill>
                <a:latin typeface="Aptos"/>
                <a:ea typeface="Aptos"/>
                <a:cs typeface="Aptos"/>
              </a:rPr>
              <a:t>v</a:t>
            </a:r>
          </a:p>
        </p:txBody>
      </p:sp>
      <p:sp>
        <p:nvSpPr>
          <p:cNvPr id="30" name="">
            <a:extLst xmlns:a="http://schemas.openxmlformats.org/drawingml/2006/main">
              <a:ext uri="{FF2B5EF4-FFF2-40B4-BE49-F238E27FC236}">
                <a16:creationId xmlns:a16="http://schemas.microsoft.com/office/drawing/2014/main" id="{E3BE8919-2C34-4607-A141-9787BD419074}"/>
              </a:ext>
            </a:extLst>
          </p:cNvPr>
          <p:cNvSpPr>
            <a:spLocks xmlns:a="http://schemas.openxmlformats.org/drawingml/2006/main" noGrp="1"/>
          </p:cNvSpPr>
          <p:nvPr/>
        </p:nvSpPr>
        <p:spPr>
          <a:xfrm xmlns:a="http://schemas.openxmlformats.org/drawingml/2006/main">
            <a:off x="5715000" y="4610100"/>
            <a:ext cx="762000" cy="38100"/>
          </a:xfrm>
          <a:prstGeom xmlns:a="http://schemas.openxmlformats.org/drawingml/2006/main" prst="rect">
            <a:avLst/>
          </a:prstGeom>
          <a:solidFill xmlns:a="http://schemas.openxmlformats.org/drawingml/2006/main">
            <a:srgbClr val="0E9F9A"/>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4B33D47A-CB6D-4023-8AC1-AC6E90CE0546}"/>
              </a:ext>
            </a:extLst>
          </p:cNvPr>
          <p:cNvSpPr>
            <a:spLocks xmlns:a="http://schemas.openxmlformats.org/drawingml/2006/main" noGrp="1"/>
          </p:cNvSpPr>
          <p:nvPr/>
        </p:nvSpPr>
        <p:spPr>
          <a:xfrm xmlns:a="http://schemas.openxmlformats.org/drawingml/2006/main">
            <a:off x="5648325" y="4514850"/>
            <a:ext cx="190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0E9F9A"/>
                </a:solidFill>
                <a:latin typeface="Aptos"/>
                <a:ea typeface="Aptos"/>
                <a:cs typeface="Aptos"/>
              </a:defRPr>
            </a:pPr>
            <a:r>
              <a:rPr sz="1350" b="1">
                <a:solidFill>
                  <a:srgbClr val="0E9F9A"/>
                </a:solidFill>
                <a:latin typeface="Aptos"/>
                <a:ea typeface="Aptos"/>
                <a:cs typeface="Aptos"/>
              </a:rPr>
              <a:t>&gt;</a:t>
            </a:r>
          </a:p>
        </p:txBody>
      </p:sp>
      <p:sp>
        <p:nvSpPr>
          <p:cNvPr id="32" name="">
            <a:extLst xmlns:a="http://schemas.openxmlformats.org/drawingml/2006/main">
              <a:ext uri="{FF2B5EF4-FFF2-40B4-BE49-F238E27FC236}">
                <a16:creationId xmlns:a16="http://schemas.microsoft.com/office/drawing/2014/main" id="{4ED0D23E-86FE-4D38-B08C-88BCFC10BD80}"/>
              </a:ext>
            </a:extLst>
          </p:cNvPr>
          <p:cNvSpPr>
            <a:spLocks xmlns:a="http://schemas.openxmlformats.org/drawingml/2006/main" noGrp="1"/>
          </p:cNvSpPr>
          <p:nvPr/>
        </p:nvSpPr>
        <p:spPr>
          <a:xfrm xmlns:a="http://schemas.openxmlformats.org/drawingml/2006/main">
            <a:off x="3695700" y="3105150"/>
            <a:ext cx="38100" cy="2114550"/>
          </a:xfrm>
          <a:prstGeom xmlns:a="http://schemas.openxmlformats.org/drawingml/2006/main" prst="rect">
            <a:avLst/>
          </a:prstGeom>
          <a:solidFill xmlns:a="http://schemas.openxmlformats.org/drawingml/2006/main">
            <a:srgbClr val="0E9F9A"/>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B77649C1-0A09-43E3-8C9C-9BA0ADCFE209}"/>
              </a:ext>
            </a:extLst>
          </p:cNvPr>
          <p:cNvSpPr>
            <a:spLocks xmlns:a="http://schemas.openxmlformats.org/drawingml/2006/main" noGrp="1"/>
          </p:cNvSpPr>
          <p:nvPr/>
        </p:nvSpPr>
        <p:spPr>
          <a:xfrm xmlns:a="http://schemas.openxmlformats.org/drawingml/2006/main">
            <a:off x="3648075" y="3028950"/>
            <a:ext cx="190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0E9F9A"/>
                </a:solidFill>
                <a:latin typeface="Aptos"/>
                <a:ea typeface="Aptos"/>
                <a:cs typeface="Aptos"/>
              </a:defRPr>
            </a:pPr>
            <a:r>
              <a:rPr sz="1200" b="1">
                <a:solidFill>
                  <a:srgbClr val="0E9F9A"/>
                </a:solidFill>
                <a:latin typeface="Aptos"/>
                <a:ea typeface="Aptos"/>
                <a:cs typeface="Aptos"/>
              </a:rPr>
              <a:t>v</a:t>
            </a:r>
          </a:p>
        </p:txBody>
      </p:sp>
      <p:sp>
        <p:nvSpPr>
          <p:cNvPr id="34" name="">
            <a:extLst xmlns:a="http://schemas.openxmlformats.org/drawingml/2006/main">
              <a:ext uri="{FF2B5EF4-FFF2-40B4-BE49-F238E27FC236}">
                <a16:creationId xmlns:a16="http://schemas.microsoft.com/office/drawing/2014/main" id="{F2C6254F-B62C-4A14-B1C5-3F6CFE63C95E}"/>
              </a:ext>
            </a:extLst>
          </p:cNvPr>
          <p:cNvSpPr>
            <a:spLocks xmlns:a="http://schemas.openxmlformats.org/drawingml/2006/main" noGrp="1"/>
          </p:cNvSpPr>
          <p:nvPr/>
        </p:nvSpPr>
        <p:spPr>
          <a:xfrm xmlns:a="http://schemas.openxmlformats.org/drawingml/2006/main">
            <a:off x="9239250" y="2524125"/>
            <a:ext cx="2000250" cy="1619250"/>
          </a:xfrm>
          <a:prstGeom xmlns:a="http://schemas.openxmlformats.org/drawingml/2006/main" prst="rect">
            <a:avLst/>
          </a:prstGeom>
          <a:solidFill xmlns:a="http://schemas.openxmlformats.org/drawingml/2006/main">
            <a:srgbClr val="FFFFFF"/>
          </a:solidFill>
          <a:ln xmlns:a="http://schemas.openxmlformats.org/drawingml/2006/main" w="9525">
            <a:solidFill>
              <a:srgbClr val="D8E0EA"/>
            </a:solidFill>
          </a:ln>
        </p:spPr>
      </p:sp>
      <p:sp>
        <p:nvSpPr>
          <p:cNvPr id="35" name="">
            <a:extLst xmlns:a="http://schemas.openxmlformats.org/drawingml/2006/main">
              <a:ext uri="{FF2B5EF4-FFF2-40B4-BE49-F238E27FC236}">
                <a16:creationId xmlns:a16="http://schemas.microsoft.com/office/drawing/2014/main" id="{B8B84DEB-3923-4912-AEEF-8277AC8716A3}"/>
              </a:ext>
            </a:extLst>
          </p:cNvPr>
          <p:cNvSpPr>
            <a:spLocks xmlns:a="http://schemas.openxmlformats.org/drawingml/2006/main" noGrp="1"/>
          </p:cNvSpPr>
          <p:nvPr/>
        </p:nvSpPr>
        <p:spPr>
          <a:xfrm xmlns:a="http://schemas.openxmlformats.org/drawingml/2006/main">
            <a:off x="9239250" y="2524125"/>
            <a:ext cx="47625" cy="1619250"/>
          </a:xfrm>
          <a:prstGeom xmlns:a="http://schemas.openxmlformats.org/drawingml/2006/main" prst="rect">
            <a:avLst/>
          </a:prstGeom>
          <a:solidFill xmlns:a="http://schemas.openxmlformats.org/drawingml/2006/main">
            <a:srgbClr val="F59E0B"/>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45463A11-8A07-4EAC-93F0-6D88E7510589}"/>
              </a:ext>
            </a:extLst>
          </p:cNvPr>
          <p:cNvSpPr>
            <a:spLocks xmlns:a="http://schemas.openxmlformats.org/drawingml/2006/main" noGrp="1"/>
          </p:cNvSpPr>
          <p:nvPr/>
        </p:nvSpPr>
        <p:spPr>
          <a:xfrm xmlns:a="http://schemas.openxmlformats.org/drawingml/2006/main">
            <a:off x="9448800" y="2733675"/>
            <a:ext cx="15811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172033"/>
                </a:solidFill>
                <a:latin typeface="Aptos"/>
                <a:ea typeface="Aptos"/>
                <a:cs typeface="Aptos"/>
              </a:defRPr>
            </a:pPr>
            <a:r>
              <a:rPr sz="1275" b="1">
                <a:solidFill>
                  <a:srgbClr val="172033"/>
                </a:solidFill>
                <a:latin typeface="Aptos"/>
                <a:ea typeface="Aptos"/>
                <a:cs typeface="Aptos"/>
              </a:rPr>
              <a:t>Engineering rule</a:t>
            </a:r>
          </a:p>
        </p:txBody>
      </p:sp>
      <p:sp>
        <p:nvSpPr>
          <p:cNvPr id="37" name="">
            <a:extLst xmlns:a="http://schemas.openxmlformats.org/drawingml/2006/main">
              <a:ext uri="{FF2B5EF4-FFF2-40B4-BE49-F238E27FC236}">
                <a16:creationId xmlns:a16="http://schemas.microsoft.com/office/drawing/2014/main" id="{C0752209-B923-4199-A884-69F72BC005EB}"/>
              </a:ext>
            </a:extLst>
          </p:cNvPr>
          <p:cNvSpPr>
            <a:spLocks xmlns:a="http://schemas.openxmlformats.org/drawingml/2006/main" noGrp="1"/>
          </p:cNvSpPr>
          <p:nvPr/>
        </p:nvSpPr>
        <p:spPr>
          <a:xfrm xmlns:a="http://schemas.openxmlformats.org/drawingml/2006/main">
            <a:off x="9448800" y="3076575"/>
            <a:ext cx="1581150" cy="8763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38" b="0">
                <a:solidFill>
                  <a:srgbClr val="526179"/>
                </a:solidFill>
                <a:latin typeface="Aptos"/>
                <a:ea typeface="Aptos"/>
                <a:cs typeface="Aptos"/>
              </a:defRPr>
            </a:pPr>
            <a:r>
              <a:rPr sz="938" b="0">
                <a:solidFill>
                  <a:srgbClr val="526179"/>
                </a:solidFill>
                <a:latin typeface="Aptos"/>
                <a:ea typeface="Aptos"/>
                <a:cs typeface="Aptos"/>
              </a:rPr>
              <a:t>A tool call is not magic. Your app or IDE executes it, with permissions and consequences.</a:t>
            </a:r>
          </a:p>
        </p:txBody>
      </p:sp>
    </p:spTree>
    <p:extLst>
      <p:ext uri="{BB962C8B-B14F-4D97-AF65-F5344CB8AC3E}">
        <p14:creationId xmlns:p14="http://schemas.microsoft.com/office/powerpoint/2010/main" val="2050088129"/>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997015B-F622-4C14-AA33-B89AAB1FC18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6F8F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7502D49-6A50-4275-A8A9-59CCD2677B0B}"/>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9F9A"/>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ABF5DE2-C317-4D10-9E17-7B96E815A206}"/>
              </a:ext>
            </a:extLst>
          </p:cNvPr>
          <p:cNvSpPr>
            <a:spLocks xmlns:a="http://schemas.openxmlformats.org/drawingml/2006/main" noGrp="1"/>
          </p:cNvSpPr>
          <p:nvPr/>
        </p:nvSpPr>
        <p:spPr>
          <a:xfrm xmlns:a="http://schemas.openxmlformats.org/drawingml/2006/main">
            <a:off x="514350" y="400050"/>
            <a:ext cx="5143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788" b="1">
                <a:solidFill>
                  <a:srgbClr val="0E9F9A"/>
                </a:solidFill>
                <a:latin typeface="Aptos"/>
                <a:ea typeface="Aptos"/>
                <a:cs typeface="Aptos"/>
              </a:defRPr>
            </a:pPr>
            <a:r>
              <a:rPr sz="788" b="1">
                <a:solidFill>
                  <a:srgbClr val="0E9F9A"/>
                </a:solidFill>
                <a:latin typeface="Aptos"/>
                <a:ea typeface="Aptos"/>
                <a:cs typeface="Aptos"/>
              </a:rPr>
              <a:t>RAG AND SEMANTIC SEARCH</a:t>
            </a:r>
          </a:p>
        </p:txBody>
      </p:sp>
      <p:sp>
        <p:nvSpPr>
          <p:cNvPr id="4" name="">
            <a:extLst xmlns:a="http://schemas.openxmlformats.org/drawingml/2006/main">
              <a:ext uri="{FF2B5EF4-FFF2-40B4-BE49-F238E27FC236}">
                <a16:creationId xmlns:a16="http://schemas.microsoft.com/office/drawing/2014/main" id="{A77D646A-7431-4334-B03D-2F781E31C3BE}"/>
              </a:ext>
            </a:extLst>
          </p:cNvPr>
          <p:cNvSpPr>
            <a:spLocks xmlns:a="http://schemas.openxmlformats.org/drawingml/2006/main" noGrp="1"/>
          </p:cNvSpPr>
          <p:nvPr/>
        </p:nvSpPr>
        <p:spPr>
          <a:xfrm xmlns:a="http://schemas.openxmlformats.org/drawingml/2006/main">
            <a:off x="514350" y="685800"/>
            <a:ext cx="8382000" cy="8763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172033"/>
                </a:solidFill>
                <a:latin typeface="Aptos Display"/>
                <a:ea typeface="Aptos Display"/>
                <a:cs typeface="Aptos Display"/>
              </a:defRPr>
            </a:pPr>
            <a:r>
              <a:rPr sz="2550" b="1">
                <a:solidFill>
                  <a:srgbClr val="172033"/>
                </a:solidFill>
                <a:latin typeface="Aptos Display"/>
                <a:ea typeface="Aptos Display"/>
                <a:cs typeface="Aptos Display"/>
              </a:rPr>
              <a:t>Retrieval is how fresh repo facts get into a bounded context window.</a:t>
            </a:r>
          </a:p>
        </p:txBody>
      </p:sp>
      <p:sp>
        <p:nvSpPr>
          <p:cNvPr id="5" name="">
            <a:extLst xmlns:a="http://schemas.openxmlformats.org/drawingml/2006/main">
              <a:ext uri="{FF2B5EF4-FFF2-40B4-BE49-F238E27FC236}">
                <a16:creationId xmlns:a16="http://schemas.microsoft.com/office/drawing/2014/main" id="{4D0506AB-81B5-4646-9C00-2F7AA848172A}"/>
              </a:ext>
            </a:extLst>
          </p:cNvPr>
          <p:cNvSpPr>
            <a:spLocks xmlns:a="http://schemas.openxmlformats.org/drawingml/2006/main" noGrp="1"/>
          </p:cNvSpPr>
          <p:nvPr/>
        </p:nvSpPr>
        <p:spPr>
          <a:xfrm xmlns:a="http://schemas.openxmlformats.org/drawingml/2006/main">
            <a:off x="514350" y="6515100"/>
            <a:ext cx="88582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638" b="0">
                <a:solidFill>
                  <a:srgbClr val="7B8798"/>
                </a:solidFill>
                <a:latin typeface="Aptos"/>
                <a:ea typeface="Aptos"/>
                <a:cs typeface="Aptos"/>
              </a:defRPr>
            </a:pPr>
            <a:r>
              <a:rPr sz="638" b="0">
                <a:solidFill>
                  <a:srgbClr val="7B8798"/>
                </a:solidFill>
                <a:latin typeface="Aptos"/>
                <a:ea typeface="Aptos"/>
                <a:cs typeface="Aptos"/>
              </a:rPr>
              <a:t>OpenAI Docs: retrieval + vector stores</a:t>
            </a:r>
          </a:p>
        </p:txBody>
      </p:sp>
      <p:sp>
        <p:nvSpPr>
          <p:cNvPr id="6" name="">
            <a:extLst xmlns:a="http://schemas.openxmlformats.org/drawingml/2006/main">
              <a:ext uri="{FF2B5EF4-FFF2-40B4-BE49-F238E27FC236}">
                <a16:creationId xmlns:a16="http://schemas.microsoft.com/office/drawing/2014/main" id="{53679AEB-6275-4C7F-B574-DF94167B6E0F}"/>
              </a:ext>
            </a:extLst>
          </p:cNvPr>
          <p:cNvSpPr>
            <a:spLocks xmlns:a="http://schemas.openxmlformats.org/drawingml/2006/main" noGrp="1"/>
          </p:cNvSpPr>
          <p:nvPr/>
        </p:nvSpPr>
        <p:spPr>
          <a:xfrm xmlns:a="http://schemas.openxmlformats.org/drawingml/2006/main">
            <a:off x="11239500" y="6477000"/>
            <a:ext cx="4381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r">
              <a:defRPr sz="750" b="1">
                <a:solidFill>
                  <a:srgbClr val="7B8798"/>
                </a:solidFill>
                <a:latin typeface="Aptos"/>
                <a:ea typeface="Aptos"/>
                <a:cs typeface="Aptos"/>
              </a:defRPr>
            </a:pPr>
            <a:r>
              <a:rPr sz="750" b="1">
                <a:solidFill>
                  <a:srgbClr val="7B8798"/>
                </a:solidFill>
                <a:latin typeface="Aptos"/>
                <a:ea typeface="Aptos"/>
                <a:cs typeface="Aptos"/>
              </a:rPr>
              <a:t>07</a:t>
            </a:r>
          </a:p>
        </p:txBody>
      </p:sp>
      <p:sp>
        <p:nvSpPr>
          <p:cNvPr id="7" name="">
            <a:extLst xmlns:a="http://schemas.openxmlformats.org/drawingml/2006/main">
              <a:ext uri="{FF2B5EF4-FFF2-40B4-BE49-F238E27FC236}">
                <a16:creationId xmlns:a16="http://schemas.microsoft.com/office/drawing/2014/main" id="{4ACD40A5-6684-4106-9621-3CE110E220B4}"/>
              </a:ext>
            </a:extLst>
          </p:cNvPr>
          <p:cNvSpPr>
            <a:spLocks xmlns:a="http://schemas.openxmlformats.org/drawingml/2006/main" noGrp="1"/>
          </p:cNvSpPr>
          <p:nvPr/>
        </p:nvSpPr>
        <p:spPr>
          <a:xfrm xmlns:a="http://schemas.openxmlformats.org/drawingml/2006/main">
            <a:off x="857250" y="2724150"/>
            <a:ext cx="1524000"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2563EB"/>
            </a:solidFill>
          </a:ln>
        </p:spPr>
      </p:sp>
      <p:sp>
        <p:nvSpPr>
          <p:cNvPr id="8" name="">
            <a:extLst xmlns:a="http://schemas.openxmlformats.org/drawingml/2006/main">
              <a:ext uri="{FF2B5EF4-FFF2-40B4-BE49-F238E27FC236}">
                <a16:creationId xmlns:a16="http://schemas.microsoft.com/office/drawing/2014/main" id="{44B967DF-5130-4268-9053-165F3310111F}"/>
              </a:ext>
            </a:extLst>
          </p:cNvPr>
          <p:cNvSpPr>
            <a:spLocks xmlns:a="http://schemas.openxmlformats.org/drawingml/2006/main" noGrp="1"/>
          </p:cNvSpPr>
          <p:nvPr/>
        </p:nvSpPr>
        <p:spPr>
          <a:xfrm xmlns:a="http://schemas.openxmlformats.org/drawingml/2006/main">
            <a:off x="1028700" y="3009900"/>
            <a:ext cx="11811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125" b="1">
                <a:solidFill>
                  <a:srgbClr val="2563EB"/>
                </a:solidFill>
                <a:latin typeface="Aptos"/>
                <a:ea typeface="Aptos"/>
                <a:cs typeface="Aptos"/>
              </a:defRPr>
            </a:pPr>
            <a:r>
              <a:rPr sz="1125" b="1">
                <a:solidFill>
                  <a:srgbClr val="2563EB"/>
                </a:solidFill>
                <a:latin typeface="Aptos"/>
                <a:ea typeface="Aptos"/>
                <a:cs typeface="Aptos"/>
              </a:rPr>
              <a:t>Question</a:t>
            </a:r>
          </a:p>
        </p:txBody>
      </p:sp>
      <p:sp>
        <p:nvSpPr>
          <p:cNvPr id="9" name="">
            <a:extLst xmlns:a="http://schemas.openxmlformats.org/drawingml/2006/main">
              <a:ext uri="{FF2B5EF4-FFF2-40B4-BE49-F238E27FC236}">
                <a16:creationId xmlns:a16="http://schemas.microsoft.com/office/drawing/2014/main" id="{1CBC9CC4-9A4C-46A2-AFEC-D56BA1151F16}"/>
              </a:ext>
            </a:extLst>
          </p:cNvPr>
          <p:cNvSpPr>
            <a:spLocks xmlns:a="http://schemas.openxmlformats.org/drawingml/2006/main" noGrp="1"/>
          </p:cNvSpPr>
          <p:nvPr/>
        </p:nvSpPr>
        <p:spPr>
          <a:xfrm xmlns:a="http://schemas.openxmlformats.org/drawingml/2006/main">
            <a:off x="2857500" y="2724150"/>
            <a:ext cx="1524000"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0E9F9A"/>
            </a:solidFill>
          </a:ln>
        </p:spPr>
      </p:sp>
      <p:sp>
        <p:nvSpPr>
          <p:cNvPr id="10" name="">
            <a:extLst xmlns:a="http://schemas.openxmlformats.org/drawingml/2006/main">
              <a:ext uri="{FF2B5EF4-FFF2-40B4-BE49-F238E27FC236}">
                <a16:creationId xmlns:a16="http://schemas.microsoft.com/office/drawing/2014/main" id="{5B976E0A-A4BC-4CE4-9C6B-1AB0CAD8A806}"/>
              </a:ext>
            </a:extLst>
          </p:cNvPr>
          <p:cNvSpPr>
            <a:spLocks xmlns:a="http://schemas.openxmlformats.org/drawingml/2006/main" noGrp="1"/>
          </p:cNvSpPr>
          <p:nvPr/>
        </p:nvSpPr>
        <p:spPr>
          <a:xfrm xmlns:a="http://schemas.openxmlformats.org/drawingml/2006/main">
            <a:off x="3028950" y="3009900"/>
            <a:ext cx="11811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125" b="1">
                <a:solidFill>
                  <a:srgbClr val="0E9F9A"/>
                </a:solidFill>
                <a:latin typeface="Aptos"/>
                <a:ea typeface="Aptos"/>
                <a:cs typeface="Aptos"/>
              </a:defRPr>
            </a:pPr>
            <a:r>
              <a:rPr sz="1125" b="1">
                <a:solidFill>
                  <a:srgbClr val="0E9F9A"/>
                </a:solidFill>
                <a:latin typeface="Aptos"/>
                <a:ea typeface="Aptos"/>
                <a:cs typeface="Aptos"/>
              </a:rPr>
              <a:t>Search query</a:t>
            </a:r>
          </a:p>
        </p:txBody>
      </p:sp>
      <p:sp>
        <p:nvSpPr>
          <p:cNvPr id="11" name="">
            <a:extLst xmlns:a="http://schemas.openxmlformats.org/drawingml/2006/main">
              <a:ext uri="{FF2B5EF4-FFF2-40B4-BE49-F238E27FC236}">
                <a16:creationId xmlns:a16="http://schemas.microsoft.com/office/drawing/2014/main" id="{1781A9E1-FB85-4B75-889B-2FB4A95BB75B}"/>
              </a:ext>
            </a:extLst>
          </p:cNvPr>
          <p:cNvSpPr>
            <a:spLocks xmlns:a="http://schemas.openxmlformats.org/drawingml/2006/main" noGrp="1"/>
          </p:cNvSpPr>
          <p:nvPr/>
        </p:nvSpPr>
        <p:spPr>
          <a:xfrm xmlns:a="http://schemas.openxmlformats.org/drawingml/2006/main">
            <a:off x="4953000" y="2019300"/>
            <a:ext cx="1524000"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7C3AED"/>
            </a:solidFill>
          </a:ln>
        </p:spPr>
      </p:sp>
      <p:sp>
        <p:nvSpPr>
          <p:cNvPr id="12" name="">
            <a:extLst xmlns:a="http://schemas.openxmlformats.org/drawingml/2006/main">
              <a:ext uri="{FF2B5EF4-FFF2-40B4-BE49-F238E27FC236}">
                <a16:creationId xmlns:a16="http://schemas.microsoft.com/office/drawing/2014/main" id="{727C54EE-1EA8-43A0-85B8-821CC1D8629A}"/>
              </a:ext>
            </a:extLst>
          </p:cNvPr>
          <p:cNvSpPr>
            <a:spLocks xmlns:a="http://schemas.openxmlformats.org/drawingml/2006/main" noGrp="1"/>
          </p:cNvSpPr>
          <p:nvPr/>
        </p:nvSpPr>
        <p:spPr>
          <a:xfrm xmlns:a="http://schemas.openxmlformats.org/drawingml/2006/main">
            <a:off x="5124450" y="2305050"/>
            <a:ext cx="11811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125" b="1">
                <a:solidFill>
                  <a:srgbClr val="7C3AED"/>
                </a:solidFill>
                <a:latin typeface="Aptos"/>
                <a:ea typeface="Aptos"/>
                <a:cs typeface="Aptos"/>
              </a:defRPr>
            </a:pPr>
            <a:r>
              <a:rPr sz="1125" b="1">
                <a:solidFill>
                  <a:srgbClr val="7C3AED"/>
                </a:solidFill>
                <a:latin typeface="Aptos"/>
                <a:ea typeface="Aptos"/>
                <a:cs typeface="Aptos"/>
              </a:rPr>
              <a:t>Chunks + embeddings</a:t>
            </a:r>
          </a:p>
        </p:txBody>
      </p:sp>
      <p:sp>
        <p:nvSpPr>
          <p:cNvPr id="13" name="">
            <a:extLst xmlns:a="http://schemas.openxmlformats.org/drawingml/2006/main">
              <a:ext uri="{FF2B5EF4-FFF2-40B4-BE49-F238E27FC236}">
                <a16:creationId xmlns:a16="http://schemas.microsoft.com/office/drawing/2014/main" id="{E79A5EB4-82A2-49D3-9CEB-CC6BC39F23F3}"/>
              </a:ext>
            </a:extLst>
          </p:cNvPr>
          <p:cNvSpPr>
            <a:spLocks xmlns:a="http://schemas.openxmlformats.org/drawingml/2006/main" noGrp="1"/>
          </p:cNvSpPr>
          <p:nvPr/>
        </p:nvSpPr>
        <p:spPr>
          <a:xfrm xmlns:a="http://schemas.openxmlformats.org/drawingml/2006/main">
            <a:off x="7143750" y="2724150"/>
            <a:ext cx="1524000"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F59E0B"/>
            </a:solidFill>
          </a:ln>
        </p:spPr>
      </p:sp>
      <p:sp>
        <p:nvSpPr>
          <p:cNvPr id="14" name="">
            <a:extLst xmlns:a="http://schemas.openxmlformats.org/drawingml/2006/main">
              <a:ext uri="{FF2B5EF4-FFF2-40B4-BE49-F238E27FC236}">
                <a16:creationId xmlns:a16="http://schemas.microsoft.com/office/drawing/2014/main" id="{B6711D40-6B93-42CF-9C38-EC63E92595A1}"/>
              </a:ext>
            </a:extLst>
          </p:cNvPr>
          <p:cNvSpPr>
            <a:spLocks xmlns:a="http://schemas.openxmlformats.org/drawingml/2006/main" noGrp="1"/>
          </p:cNvSpPr>
          <p:nvPr/>
        </p:nvSpPr>
        <p:spPr>
          <a:xfrm xmlns:a="http://schemas.openxmlformats.org/drawingml/2006/main">
            <a:off x="7315200" y="3009900"/>
            <a:ext cx="11811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125" b="1">
                <a:solidFill>
                  <a:srgbClr val="F59E0B"/>
                </a:solidFill>
                <a:latin typeface="Aptos"/>
                <a:ea typeface="Aptos"/>
                <a:cs typeface="Aptos"/>
              </a:defRPr>
            </a:pPr>
            <a:r>
              <a:rPr sz="1125" b="1">
                <a:solidFill>
                  <a:srgbClr val="F59E0B"/>
                </a:solidFill>
                <a:latin typeface="Aptos"/>
                <a:ea typeface="Aptos"/>
                <a:cs typeface="Aptos"/>
              </a:rPr>
              <a:t>Relevant snippets</a:t>
            </a:r>
          </a:p>
        </p:txBody>
      </p:sp>
      <p:sp>
        <p:nvSpPr>
          <p:cNvPr id="15" name="">
            <a:extLst xmlns:a="http://schemas.openxmlformats.org/drawingml/2006/main">
              <a:ext uri="{FF2B5EF4-FFF2-40B4-BE49-F238E27FC236}">
                <a16:creationId xmlns:a16="http://schemas.microsoft.com/office/drawing/2014/main" id="{2D905CFF-70EE-40EC-AB46-67D149C30762}"/>
              </a:ext>
            </a:extLst>
          </p:cNvPr>
          <p:cNvSpPr>
            <a:spLocks xmlns:a="http://schemas.openxmlformats.org/drawingml/2006/main" noGrp="1"/>
          </p:cNvSpPr>
          <p:nvPr/>
        </p:nvSpPr>
        <p:spPr>
          <a:xfrm xmlns:a="http://schemas.openxmlformats.org/drawingml/2006/main">
            <a:off x="9334500" y="2724150"/>
            <a:ext cx="1524000"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16A34A"/>
            </a:solidFill>
          </a:ln>
        </p:spPr>
      </p:sp>
      <p:sp>
        <p:nvSpPr>
          <p:cNvPr id="16" name="">
            <a:extLst xmlns:a="http://schemas.openxmlformats.org/drawingml/2006/main">
              <a:ext uri="{FF2B5EF4-FFF2-40B4-BE49-F238E27FC236}">
                <a16:creationId xmlns:a16="http://schemas.microsoft.com/office/drawing/2014/main" id="{B7DB0860-16BD-40DD-B985-C1F3EEEE4659}"/>
              </a:ext>
            </a:extLst>
          </p:cNvPr>
          <p:cNvSpPr>
            <a:spLocks xmlns:a="http://schemas.openxmlformats.org/drawingml/2006/main" noGrp="1"/>
          </p:cNvSpPr>
          <p:nvPr/>
        </p:nvSpPr>
        <p:spPr>
          <a:xfrm xmlns:a="http://schemas.openxmlformats.org/drawingml/2006/main">
            <a:off x="9505950" y="3009900"/>
            <a:ext cx="11811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125" b="1">
                <a:solidFill>
                  <a:srgbClr val="16A34A"/>
                </a:solidFill>
                <a:latin typeface="Aptos"/>
                <a:ea typeface="Aptos"/>
                <a:cs typeface="Aptos"/>
              </a:defRPr>
            </a:pPr>
            <a:r>
              <a:rPr sz="1125" b="1">
                <a:solidFill>
                  <a:srgbClr val="16A34A"/>
                </a:solidFill>
                <a:latin typeface="Aptos"/>
                <a:ea typeface="Aptos"/>
                <a:cs typeface="Aptos"/>
              </a:rPr>
              <a:t>Grounded answer</a:t>
            </a:r>
          </a:p>
        </p:txBody>
      </p:sp>
      <p:sp>
        <p:nvSpPr>
          <p:cNvPr id="17" name="">
            <a:extLst xmlns:a="http://schemas.openxmlformats.org/drawingml/2006/main">
              <a:ext uri="{FF2B5EF4-FFF2-40B4-BE49-F238E27FC236}">
                <a16:creationId xmlns:a16="http://schemas.microsoft.com/office/drawing/2014/main" id="{36BB45AC-AF92-4891-8C3D-3EBD1ACDAACD}"/>
              </a:ext>
            </a:extLst>
          </p:cNvPr>
          <p:cNvSpPr>
            <a:spLocks xmlns:a="http://schemas.openxmlformats.org/drawingml/2006/main" noGrp="1"/>
          </p:cNvSpPr>
          <p:nvPr/>
        </p:nvSpPr>
        <p:spPr>
          <a:xfrm xmlns:a="http://schemas.openxmlformats.org/drawingml/2006/main">
            <a:off x="2381250" y="3105150"/>
            <a:ext cx="476250" cy="38100"/>
          </a:xfrm>
          <a:prstGeom xmlns:a="http://schemas.openxmlformats.org/drawingml/2006/main" prst="rect">
            <a:avLst/>
          </a:prstGeom>
          <a:solidFill xmlns:a="http://schemas.openxmlformats.org/drawingml/2006/main">
            <a:srgbClr val="0E9F9A"/>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62FB5B85-772C-4E8E-87A3-2AC5DF9D788A}"/>
              </a:ext>
            </a:extLst>
          </p:cNvPr>
          <p:cNvSpPr>
            <a:spLocks xmlns:a="http://schemas.openxmlformats.org/drawingml/2006/main" noGrp="1"/>
          </p:cNvSpPr>
          <p:nvPr/>
        </p:nvSpPr>
        <p:spPr>
          <a:xfrm xmlns:a="http://schemas.openxmlformats.org/drawingml/2006/main">
            <a:off x="2790825" y="3009900"/>
            <a:ext cx="190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0E9F9A"/>
                </a:solidFill>
                <a:latin typeface="Aptos"/>
                <a:ea typeface="Aptos"/>
                <a:cs typeface="Aptos"/>
              </a:defRPr>
            </a:pPr>
            <a:r>
              <a:rPr sz="1350" b="1">
                <a:solidFill>
                  <a:srgbClr val="0E9F9A"/>
                </a:solidFill>
                <a:latin typeface="Aptos"/>
                <a:ea typeface="Aptos"/>
                <a:cs typeface="Aptos"/>
              </a:rPr>
              <a:t>&gt;</a:t>
            </a:r>
          </a:p>
        </p:txBody>
      </p:sp>
      <p:sp>
        <p:nvSpPr>
          <p:cNvPr id="19" name="">
            <a:extLst xmlns:a="http://schemas.openxmlformats.org/drawingml/2006/main">
              <a:ext uri="{FF2B5EF4-FFF2-40B4-BE49-F238E27FC236}">
                <a16:creationId xmlns:a16="http://schemas.microsoft.com/office/drawing/2014/main" id="{560254DD-9F04-4A63-A968-C06D8CC3B51E}"/>
              </a:ext>
            </a:extLst>
          </p:cNvPr>
          <p:cNvSpPr>
            <a:spLocks xmlns:a="http://schemas.openxmlformats.org/drawingml/2006/main" noGrp="1"/>
          </p:cNvSpPr>
          <p:nvPr/>
        </p:nvSpPr>
        <p:spPr>
          <a:xfrm xmlns:a="http://schemas.openxmlformats.org/drawingml/2006/main">
            <a:off x="4362450" y="2419350"/>
            <a:ext cx="38100" cy="704850"/>
          </a:xfrm>
          <a:prstGeom xmlns:a="http://schemas.openxmlformats.org/drawingml/2006/main" prst="rect">
            <a:avLst/>
          </a:prstGeom>
          <a:solidFill xmlns:a="http://schemas.openxmlformats.org/drawingml/2006/main">
            <a:srgbClr val="0E9F9A"/>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F0542362-D85E-44C4-882D-37B5C0769595}"/>
              </a:ext>
            </a:extLst>
          </p:cNvPr>
          <p:cNvSpPr>
            <a:spLocks xmlns:a="http://schemas.openxmlformats.org/drawingml/2006/main" noGrp="1"/>
          </p:cNvSpPr>
          <p:nvPr/>
        </p:nvSpPr>
        <p:spPr>
          <a:xfrm xmlns:a="http://schemas.openxmlformats.org/drawingml/2006/main">
            <a:off x="4314825" y="2343150"/>
            <a:ext cx="190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0E9F9A"/>
                </a:solidFill>
                <a:latin typeface="Aptos"/>
                <a:ea typeface="Aptos"/>
                <a:cs typeface="Aptos"/>
              </a:defRPr>
            </a:pPr>
            <a:r>
              <a:rPr sz="1200" b="1">
                <a:solidFill>
                  <a:srgbClr val="0E9F9A"/>
                </a:solidFill>
                <a:latin typeface="Aptos"/>
                <a:ea typeface="Aptos"/>
                <a:cs typeface="Aptos"/>
              </a:rPr>
              <a:t>v</a:t>
            </a:r>
          </a:p>
        </p:txBody>
      </p:sp>
      <p:sp>
        <p:nvSpPr>
          <p:cNvPr id="21" name="">
            <a:extLst xmlns:a="http://schemas.openxmlformats.org/drawingml/2006/main">
              <a:ext uri="{FF2B5EF4-FFF2-40B4-BE49-F238E27FC236}">
                <a16:creationId xmlns:a16="http://schemas.microsoft.com/office/drawing/2014/main" id="{FF2F40AF-F41C-4F82-9F58-7E8FAB6833B7}"/>
              </a:ext>
            </a:extLst>
          </p:cNvPr>
          <p:cNvSpPr>
            <a:spLocks xmlns:a="http://schemas.openxmlformats.org/drawingml/2006/main" noGrp="1"/>
          </p:cNvSpPr>
          <p:nvPr/>
        </p:nvSpPr>
        <p:spPr>
          <a:xfrm xmlns:a="http://schemas.openxmlformats.org/drawingml/2006/main">
            <a:off x="6457950" y="2419350"/>
            <a:ext cx="38100" cy="704850"/>
          </a:xfrm>
          <a:prstGeom xmlns:a="http://schemas.openxmlformats.org/drawingml/2006/main" prst="rect">
            <a:avLst/>
          </a:prstGeom>
          <a:solidFill xmlns:a="http://schemas.openxmlformats.org/drawingml/2006/main">
            <a:srgbClr val="0E9F9A"/>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5889F5B7-3AB5-4111-B133-9402F52CE9C8}"/>
              </a:ext>
            </a:extLst>
          </p:cNvPr>
          <p:cNvSpPr>
            <a:spLocks xmlns:a="http://schemas.openxmlformats.org/drawingml/2006/main" noGrp="1"/>
          </p:cNvSpPr>
          <p:nvPr/>
        </p:nvSpPr>
        <p:spPr>
          <a:xfrm xmlns:a="http://schemas.openxmlformats.org/drawingml/2006/main">
            <a:off x="6410325" y="3048000"/>
            <a:ext cx="190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0E9F9A"/>
                </a:solidFill>
                <a:latin typeface="Aptos"/>
                <a:ea typeface="Aptos"/>
                <a:cs typeface="Aptos"/>
              </a:defRPr>
            </a:pPr>
            <a:r>
              <a:rPr sz="1200" b="1">
                <a:solidFill>
                  <a:srgbClr val="0E9F9A"/>
                </a:solidFill>
                <a:latin typeface="Aptos"/>
                <a:ea typeface="Aptos"/>
                <a:cs typeface="Aptos"/>
              </a:rPr>
              <a:t>v</a:t>
            </a:r>
          </a:p>
        </p:txBody>
      </p:sp>
      <p:sp>
        <p:nvSpPr>
          <p:cNvPr id="23" name="">
            <a:extLst xmlns:a="http://schemas.openxmlformats.org/drawingml/2006/main">
              <a:ext uri="{FF2B5EF4-FFF2-40B4-BE49-F238E27FC236}">
                <a16:creationId xmlns:a16="http://schemas.microsoft.com/office/drawing/2014/main" id="{1F399D0F-9F2A-4A46-88EF-6D97A3C99F22}"/>
              </a:ext>
            </a:extLst>
          </p:cNvPr>
          <p:cNvSpPr>
            <a:spLocks xmlns:a="http://schemas.openxmlformats.org/drawingml/2006/main" noGrp="1"/>
          </p:cNvSpPr>
          <p:nvPr/>
        </p:nvSpPr>
        <p:spPr>
          <a:xfrm xmlns:a="http://schemas.openxmlformats.org/drawingml/2006/main">
            <a:off x="8667750" y="3105150"/>
            <a:ext cx="666750" cy="38100"/>
          </a:xfrm>
          <a:prstGeom xmlns:a="http://schemas.openxmlformats.org/drawingml/2006/main" prst="rect">
            <a:avLst/>
          </a:prstGeom>
          <a:solidFill xmlns:a="http://schemas.openxmlformats.org/drawingml/2006/main">
            <a:srgbClr val="0E9F9A"/>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D8DC4839-E66C-4016-AFA0-6BFC7E15EE1D}"/>
              </a:ext>
            </a:extLst>
          </p:cNvPr>
          <p:cNvSpPr>
            <a:spLocks xmlns:a="http://schemas.openxmlformats.org/drawingml/2006/main" noGrp="1"/>
          </p:cNvSpPr>
          <p:nvPr/>
        </p:nvSpPr>
        <p:spPr>
          <a:xfrm xmlns:a="http://schemas.openxmlformats.org/drawingml/2006/main">
            <a:off x="9267825" y="3009900"/>
            <a:ext cx="190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0E9F9A"/>
                </a:solidFill>
                <a:latin typeface="Aptos"/>
                <a:ea typeface="Aptos"/>
                <a:cs typeface="Aptos"/>
              </a:defRPr>
            </a:pPr>
            <a:r>
              <a:rPr sz="1350" b="1">
                <a:solidFill>
                  <a:srgbClr val="0E9F9A"/>
                </a:solidFill>
                <a:latin typeface="Aptos"/>
                <a:ea typeface="Aptos"/>
                <a:cs typeface="Aptos"/>
              </a:rPr>
              <a:t>&gt;</a:t>
            </a:r>
          </a:p>
        </p:txBody>
      </p:sp>
      <p:sp>
        <p:nvSpPr>
          <p:cNvPr id="25" name="">
            <a:extLst xmlns:a="http://schemas.openxmlformats.org/drawingml/2006/main">
              <a:ext uri="{FF2B5EF4-FFF2-40B4-BE49-F238E27FC236}">
                <a16:creationId xmlns:a16="http://schemas.microsoft.com/office/drawing/2014/main" id="{86712CD7-5D9A-4B28-AB39-C66E779D7386}"/>
              </a:ext>
            </a:extLst>
          </p:cNvPr>
          <p:cNvSpPr>
            <a:spLocks xmlns:a="http://schemas.openxmlformats.org/drawingml/2006/main" noGrp="1"/>
          </p:cNvSpPr>
          <p:nvPr/>
        </p:nvSpPr>
        <p:spPr>
          <a:xfrm xmlns:a="http://schemas.openxmlformats.org/drawingml/2006/main">
            <a:off x="4953000" y="4095750"/>
            <a:ext cx="1524000" cy="800100"/>
          </a:xfrm>
          <a:prstGeom xmlns:a="http://schemas.openxmlformats.org/drawingml/2006/main" prst="rect">
            <a:avLst/>
          </a:prstGeom>
          <a:solidFill xmlns:a="http://schemas.openxmlformats.org/drawingml/2006/main">
            <a:srgbClr val="EEF2FF"/>
          </a:solidFill>
          <a:ln xmlns:a="http://schemas.openxmlformats.org/drawingml/2006/main" w="9525">
            <a:solidFill>
              <a:srgbClr val="7C3AED"/>
            </a:solidFill>
          </a:ln>
        </p:spPr>
      </p:sp>
      <p:sp>
        <p:nvSpPr>
          <p:cNvPr id="26" name="">
            <a:extLst xmlns:a="http://schemas.openxmlformats.org/drawingml/2006/main">
              <a:ext uri="{FF2B5EF4-FFF2-40B4-BE49-F238E27FC236}">
                <a16:creationId xmlns:a16="http://schemas.microsoft.com/office/drawing/2014/main" id="{85AF9435-01E3-4099-A94A-62EF5911A5E6}"/>
              </a:ext>
            </a:extLst>
          </p:cNvPr>
          <p:cNvSpPr>
            <a:spLocks xmlns:a="http://schemas.openxmlformats.org/drawingml/2006/main" noGrp="1"/>
          </p:cNvSpPr>
          <p:nvPr/>
        </p:nvSpPr>
        <p:spPr>
          <a:xfrm xmlns:a="http://schemas.openxmlformats.org/drawingml/2006/main">
            <a:off x="5162550" y="4400550"/>
            <a:ext cx="110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125" b="1">
                <a:solidFill>
                  <a:srgbClr val="7C3AED"/>
                </a:solidFill>
                <a:latin typeface="Aptos"/>
                <a:ea typeface="Aptos"/>
                <a:cs typeface="Aptos"/>
              </a:defRPr>
            </a:pPr>
            <a:r>
              <a:rPr sz="1125" b="1">
                <a:solidFill>
                  <a:srgbClr val="7C3AED"/>
                </a:solidFill>
                <a:latin typeface="Aptos"/>
                <a:ea typeface="Aptos"/>
                <a:cs typeface="Aptos"/>
              </a:rPr>
              <a:t>Vector store</a:t>
            </a:r>
          </a:p>
        </p:txBody>
      </p:sp>
      <p:sp>
        <p:nvSpPr>
          <p:cNvPr id="27" name="">
            <a:extLst xmlns:a="http://schemas.openxmlformats.org/drawingml/2006/main">
              <a:ext uri="{FF2B5EF4-FFF2-40B4-BE49-F238E27FC236}">
                <a16:creationId xmlns:a16="http://schemas.microsoft.com/office/drawing/2014/main" id="{ECEE7738-E21A-4410-BA66-47DE4978DB5F}"/>
              </a:ext>
            </a:extLst>
          </p:cNvPr>
          <p:cNvSpPr>
            <a:spLocks xmlns:a="http://schemas.openxmlformats.org/drawingml/2006/main" noGrp="1"/>
          </p:cNvSpPr>
          <p:nvPr/>
        </p:nvSpPr>
        <p:spPr>
          <a:xfrm xmlns:a="http://schemas.openxmlformats.org/drawingml/2006/main">
            <a:off x="5695950" y="2819400"/>
            <a:ext cx="38100" cy="1276350"/>
          </a:xfrm>
          <a:prstGeom xmlns:a="http://schemas.openxmlformats.org/drawingml/2006/main" prst="rect">
            <a:avLst/>
          </a:prstGeom>
          <a:solidFill xmlns:a="http://schemas.openxmlformats.org/drawingml/2006/main">
            <a:srgbClr val="7C3AED"/>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39110EC5-968D-4A15-9ABC-8EE0B829D67E}"/>
              </a:ext>
            </a:extLst>
          </p:cNvPr>
          <p:cNvSpPr>
            <a:spLocks xmlns:a="http://schemas.openxmlformats.org/drawingml/2006/main" noGrp="1"/>
          </p:cNvSpPr>
          <p:nvPr/>
        </p:nvSpPr>
        <p:spPr>
          <a:xfrm xmlns:a="http://schemas.openxmlformats.org/drawingml/2006/main">
            <a:off x="5648325" y="4019550"/>
            <a:ext cx="190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7C3AED"/>
                </a:solidFill>
                <a:latin typeface="Aptos"/>
                <a:ea typeface="Aptos"/>
                <a:cs typeface="Aptos"/>
              </a:defRPr>
            </a:pPr>
            <a:r>
              <a:rPr sz="1200" b="1">
                <a:solidFill>
                  <a:srgbClr val="7C3AED"/>
                </a:solidFill>
                <a:latin typeface="Aptos"/>
                <a:ea typeface="Aptos"/>
                <a:cs typeface="Aptos"/>
              </a:rPr>
              <a:t>v</a:t>
            </a:r>
          </a:p>
        </p:txBody>
      </p:sp>
      <p:sp>
        <p:nvSpPr>
          <p:cNvPr id="29" name="">
            <a:extLst xmlns:a="http://schemas.openxmlformats.org/drawingml/2006/main">
              <a:ext uri="{FF2B5EF4-FFF2-40B4-BE49-F238E27FC236}">
                <a16:creationId xmlns:a16="http://schemas.microsoft.com/office/drawing/2014/main" id="{D099A038-EF6E-4AA6-AB45-341CE3431ED4}"/>
              </a:ext>
            </a:extLst>
          </p:cNvPr>
          <p:cNvSpPr>
            <a:spLocks xmlns:a="http://schemas.openxmlformats.org/drawingml/2006/main" noGrp="1"/>
          </p:cNvSpPr>
          <p:nvPr/>
        </p:nvSpPr>
        <p:spPr>
          <a:xfrm xmlns:a="http://schemas.openxmlformats.org/drawingml/2006/main">
            <a:off x="1790700" y="5562600"/>
            <a:ext cx="86106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172033"/>
                </a:solidFill>
                <a:latin typeface="Aptos"/>
                <a:ea typeface="Aptos"/>
                <a:cs typeface="Aptos"/>
              </a:defRPr>
            </a:pPr>
            <a:r>
              <a:rPr sz="1350" b="1">
                <a:solidFill>
                  <a:srgbClr val="172033"/>
                </a:solidFill>
                <a:latin typeface="Aptos"/>
                <a:ea typeface="Aptos"/>
                <a:cs typeface="Aptos"/>
              </a:rPr>
              <a:t>Retrieval helps with facts, but it can still retrieve the wrong fact. Always inspect citations or files for important changes.</a:t>
            </a:r>
          </a:p>
        </p:txBody>
      </p:sp>
    </p:spTree>
    <p:extLst>
      <p:ext uri="{BB962C8B-B14F-4D97-AF65-F5344CB8AC3E}">
        <p14:creationId xmlns:p14="http://schemas.microsoft.com/office/powerpoint/2010/main" val="1217401943"/>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C7B4BDC-DBFA-431F-92E8-729CA08184B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6F8F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35F1BC0-F1AB-40AB-B88C-7305EEC5CC17}"/>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9F9A"/>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0A26B7C-A120-4C82-B408-3E979A999D16}"/>
              </a:ext>
            </a:extLst>
          </p:cNvPr>
          <p:cNvSpPr>
            <a:spLocks xmlns:a="http://schemas.openxmlformats.org/drawingml/2006/main" noGrp="1"/>
          </p:cNvSpPr>
          <p:nvPr/>
        </p:nvSpPr>
        <p:spPr>
          <a:xfrm xmlns:a="http://schemas.openxmlformats.org/drawingml/2006/main">
            <a:off x="514350" y="400050"/>
            <a:ext cx="5143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788" b="1">
                <a:solidFill>
                  <a:srgbClr val="0E9F9A"/>
                </a:solidFill>
                <a:latin typeface="Aptos"/>
                <a:ea typeface="Aptos"/>
                <a:cs typeface="Aptos"/>
              </a:defRPr>
            </a:pPr>
            <a:r>
              <a:rPr sz="788" b="1">
                <a:solidFill>
                  <a:srgbClr val="0E9F9A"/>
                </a:solidFill>
                <a:latin typeface="Aptos"/>
                <a:ea typeface="Aptos"/>
                <a:cs typeface="Aptos"/>
              </a:rPr>
              <a:t>MCP</a:t>
            </a:r>
          </a:p>
        </p:txBody>
      </p:sp>
      <p:sp>
        <p:nvSpPr>
          <p:cNvPr id="4" name="">
            <a:extLst xmlns:a="http://schemas.openxmlformats.org/drawingml/2006/main">
              <a:ext uri="{FF2B5EF4-FFF2-40B4-BE49-F238E27FC236}">
                <a16:creationId xmlns:a16="http://schemas.microsoft.com/office/drawing/2014/main" id="{B815FD6B-45B1-403A-8A55-5C7F4240368B}"/>
              </a:ext>
            </a:extLst>
          </p:cNvPr>
          <p:cNvSpPr>
            <a:spLocks xmlns:a="http://schemas.openxmlformats.org/drawingml/2006/main" noGrp="1"/>
          </p:cNvSpPr>
          <p:nvPr/>
        </p:nvSpPr>
        <p:spPr>
          <a:xfrm xmlns:a="http://schemas.openxmlformats.org/drawingml/2006/main">
            <a:off x="514350" y="685800"/>
            <a:ext cx="8382000" cy="8763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172033"/>
                </a:solidFill>
                <a:latin typeface="Aptos Display"/>
                <a:ea typeface="Aptos Display"/>
                <a:cs typeface="Aptos Display"/>
              </a:defRPr>
            </a:pPr>
            <a:r>
              <a:rPr sz="2550" b="1">
                <a:solidFill>
                  <a:srgbClr val="172033"/>
                </a:solidFill>
                <a:latin typeface="Aptos Display"/>
                <a:ea typeface="Aptos Display"/>
                <a:cs typeface="Aptos Display"/>
              </a:rPr>
              <a:t>MCP is the adapter layer that lets agents discover and invoke external tools.</a:t>
            </a:r>
          </a:p>
        </p:txBody>
      </p:sp>
      <p:sp>
        <p:nvSpPr>
          <p:cNvPr id="5" name="">
            <a:extLst xmlns:a="http://schemas.openxmlformats.org/drawingml/2006/main">
              <a:ext uri="{FF2B5EF4-FFF2-40B4-BE49-F238E27FC236}">
                <a16:creationId xmlns:a16="http://schemas.microsoft.com/office/drawing/2014/main" id="{DE980231-5D99-478D-88E6-2838F1C555E9}"/>
              </a:ext>
            </a:extLst>
          </p:cNvPr>
          <p:cNvSpPr>
            <a:spLocks xmlns:a="http://schemas.openxmlformats.org/drawingml/2006/main" noGrp="1"/>
          </p:cNvSpPr>
          <p:nvPr/>
        </p:nvSpPr>
        <p:spPr>
          <a:xfrm xmlns:a="http://schemas.openxmlformats.org/drawingml/2006/main">
            <a:off x="514350" y="6515100"/>
            <a:ext cx="88582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638" b="0">
                <a:solidFill>
                  <a:srgbClr val="7B8798"/>
                </a:solidFill>
                <a:latin typeface="Aptos"/>
                <a:ea typeface="Aptos"/>
                <a:cs typeface="Aptos"/>
              </a:defRPr>
            </a:pPr>
            <a:r>
              <a:rPr sz="638" b="0">
                <a:solidFill>
                  <a:srgbClr val="7B8798"/>
                </a:solidFill>
                <a:latin typeface="Aptos"/>
                <a:ea typeface="Aptos"/>
                <a:cs typeface="Aptos"/>
              </a:rPr>
              <a:t>MCP spec: server tools</a:t>
            </a:r>
          </a:p>
        </p:txBody>
      </p:sp>
      <p:sp>
        <p:nvSpPr>
          <p:cNvPr id="6" name="">
            <a:extLst xmlns:a="http://schemas.openxmlformats.org/drawingml/2006/main">
              <a:ext uri="{FF2B5EF4-FFF2-40B4-BE49-F238E27FC236}">
                <a16:creationId xmlns:a16="http://schemas.microsoft.com/office/drawing/2014/main" id="{2A7F51F3-1C22-4141-9376-DDC90329F822}"/>
              </a:ext>
            </a:extLst>
          </p:cNvPr>
          <p:cNvSpPr>
            <a:spLocks xmlns:a="http://schemas.openxmlformats.org/drawingml/2006/main" noGrp="1"/>
          </p:cNvSpPr>
          <p:nvPr/>
        </p:nvSpPr>
        <p:spPr>
          <a:xfrm xmlns:a="http://schemas.openxmlformats.org/drawingml/2006/main">
            <a:off x="11239500" y="6477000"/>
            <a:ext cx="4381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r">
              <a:defRPr sz="750" b="1">
                <a:solidFill>
                  <a:srgbClr val="7B8798"/>
                </a:solidFill>
                <a:latin typeface="Aptos"/>
                <a:ea typeface="Aptos"/>
                <a:cs typeface="Aptos"/>
              </a:defRPr>
            </a:pPr>
            <a:r>
              <a:rPr sz="750" b="1">
                <a:solidFill>
                  <a:srgbClr val="7B8798"/>
                </a:solidFill>
                <a:latin typeface="Aptos"/>
                <a:ea typeface="Aptos"/>
                <a:cs typeface="Aptos"/>
              </a:rPr>
              <a:t>08</a:t>
            </a:r>
          </a:p>
        </p:txBody>
      </p:sp>
      <p:sp>
        <p:nvSpPr>
          <p:cNvPr id="7" name="">
            <a:extLst xmlns:a="http://schemas.openxmlformats.org/drawingml/2006/main">
              <a:ext uri="{FF2B5EF4-FFF2-40B4-BE49-F238E27FC236}">
                <a16:creationId xmlns:a16="http://schemas.microsoft.com/office/drawing/2014/main" id="{E6F5D2A4-14D9-48B8-9BBB-99F032BD57D5}"/>
              </a:ext>
            </a:extLst>
          </p:cNvPr>
          <p:cNvSpPr>
            <a:spLocks xmlns:a="http://schemas.openxmlformats.org/drawingml/2006/main" noGrp="1"/>
          </p:cNvSpPr>
          <p:nvPr/>
        </p:nvSpPr>
        <p:spPr>
          <a:xfrm xmlns:a="http://schemas.openxmlformats.org/drawingml/2006/main">
            <a:off x="876300" y="2609850"/>
            <a:ext cx="2476500" cy="1428750"/>
          </a:xfrm>
          <a:prstGeom xmlns:a="http://schemas.openxmlformats.org/drawingml/2006/main" prst="rect">
            <a:avLst/>
          </a:prstGeom>
          <a:solidFill xmlns:a="http://schemas.openxmlformats.org/drawingml/2006/main">
            <a:srgbClr val="111827"/>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1FC0B6DA-7C28-4417-872C-450CD59BA7C1}"/>
              </a:ext>
            </a:extLst>
          </p:cNvPr>
          <p:cNvSpPr>
            <a:spLocks xmlns:a="http://schemas.openxmlformats.org/drawingml/2006/main" noGrp="1"/>
          </p:cNvSpPr>
          <p:nvPr/>
        </p:nvSpPr>
        <p:spPr>
          <a:xfrm xmlns:a="http://schemas.openxmlformats.org/drawingml/2006/main">
            <a:off x="1257300" y="2952750"/>
            <a:ext cx="1714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650" b="1">
                <a:solidFill>
                  <a:srgbClr val="FFFFFF"/>
                </a:solidFill>
                <a:latin typeface="Aptos"/>
                <a:ea typeface="Aptos"/>
                <a:cs typeface="Aptos"/>
              </a:defRPr>
            </a:pPr>
            <a:r>
              <a:rPr sz="1650" b="1">
                <a:solidFill>
                  <a:srgbClr val="FFFFFF"/>
                </a:solidFill>
                <a:latin typeface="Aptos"/>
                <a:ea typeface="Aptos"/>
                <a:cs typeface="Aptos"/>
              </a:rPr>
              <a:t>Agent client</a:t>
            </a:r>
          </a:p>
        </p:txBody>
      </p:sp>
      <p:sp>
        <p:nvSpPr>
          <p:cNvPr id="9" name="">
            <a:extLst xmlns:a="http://schemas.openxmlformats.org/drawingml/2006/main">
              <a:ext uri="{FF2B5EF4-FFF2-40B4-BE49-F238E27FC236}">
                <a16:creationId xmlns:a16="http://schemas.microsoft.com/office/drawing/2014/main" id="{E514036E-91CC-46CF-A9F0-C3A0D5F9EA3A}"/>
              </a:ext>
            </a:extLst>
          </p:cNvPr>
          <p:cNvSpPr>
            <a:spLocks xmlns:a="http://schemas.openxmlformats.org/drawingml/2006/main" noGrp="1"/>
          </p:cNvSpPr>
          <p:nvPr/>
        </p:nvSpPr>
        <p:spPr>
          <a:xfrm xmlns:a="http://schemas.openxmlformats.org/drawingml/2006/main">
            <a:off x="1257300" y="3371850"/>
            <a:ext cx="17145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CBD5E1"/>
                </a:solidFill>
                <a:latin typeface="Aptos"/>
                <a:ea typeface="Aptos"/>
                <a:cs typeface="Aptos"/>
              </a:defRPr>
            </a:pPr>
            <a:r>
              <a:rPr sz="938" b="0">
                <a:solidFill>
                  <a:srgbClr val="CBD5E1"/>
                </a:solidFill>
                <a:latin typeface="Aptos"/>
                <a:ea typeface="Aptos"/>
                <a:cs typeface="Aptos"/>
              </a:rPr>
              <a:t>Model + session + tool choice</a:t>
            </a:r>
          </a:p>
        </p:txBody>
      </p:sp>
      <p:sp>
        <p:nvSpPr>
          <p:cNvPr id="10" name="">
            <a:extLst xmlns:a="http://schemas.openxmlformats.org/drawingml/2006/main">
              <a:ext uri="{FF2B5EF4-FFF2-40B4-BE49-F238E27FC236}">
                <a16:creationId xmlns:a16="http://schemas.microsoft.com/office/drawing/2014/main" id="{F5454E00-60A3-4E98-A690-520DDF232AF2}"/>
              </a:ext>
            </a:extLst>
          </p:cNvPr>
          <p:cNvSpPr>
            <a:spLocks xmlns:a="http://schemas.openxmlformats.org/drawingml/2006/main" noGrp="1"/>
          </p:cNvSpPr>
          <p:nvPr/>
        </p:nvSpPr>
        <p:spPr>
          <a:xfrm xmlns:a="http://schemas.openxmlformats.org/drawingml/2006/main">
            <a:off x="4857750" y="2362200"/>
            <a:ext cx="2381250" cy="1924050"/>
          </a:xfrm>
          <a:prstGeom xmlns:a="http://schemas.openxmlformats.org/drawingml/2006/main" prst="rect">
            <a:avLst/>
          </a:prstGeom>
          <a:solidFill xmlns:a="http://schemas.openxmlformats.org/drawingml/2006/main">
            <a:srgbClr val="EEF9F8"/>
          </a:solidFill>
          <a:ln xmlns:a="http://schemas.openxmlformats.org/drawingml/2006/main" w="9525">
            <a:solidFill>
              <a:srgbClr val="0E9F9A"/>
            </a:solidFill>
          </a:ln>
        </p:spPr>
      </p:sp>
      <p:sp>
        <p:nvSpPr>
          <p:cNvPr id="11" name="">
            <a:extLst xmlns:a="http://schemas.openxmlformats.org/drawingml/2006/main">
              <a:ext uri="{FF2B5EF4-FFF2-40B4-BE49-F238E27FC236}">
                <a16:creationId xmlns:a16="http://schemas.microsoft.com/office/drawing/2014/main" id="{743EBA91-AD87-4036-BD98-A4A93747C879}"/>
              </a:ext>
            </a:extLst>
          </p:cNvPr>
          <p:cNvSpPr>
            <a:spLocks xmlns:a="http://schemas.openxmlformats.org/drawingml/2006/main" noGrp="1"/>
          </p:cNvSpPr>
          <p:nvPr/>
        </p:nvSpPr>
        <p:spPr>
          <a:xfrm xmlns:a="http://schemas.openxmlformats.org/drawingml/2006/main">
            <a:off x="5257800" y="2724150"/>
            <a:ext cx="1524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0E9F9A"/>
                </a:solidFill>
                <a:latin typeface="Aptos"/>
                <a:ea typeface="Aptos"/>
                <a:cs typeface="Aptos"/>
              </a:defRPr>
            </a:pPr>
            <a:r>
              <a:rPr sz="1800" b="1">
                <a:solidFill>
                  <a:srgbClr val="0E9F9A"/>
                </a:solidFill>
                <a:latin typeface="Aptos"/>
                <a:ea typeface="Aptos"/>
                <a:cs typeface="Aptos"/>
              </a:rPr>
              <a:t>MCP server</a:t>
            </a:r>
          </a:p>
        </p:txBody>
      </p:sp>
      <p:sp>
        <p:nvSpPr>
          <p:cNvPr id="12" name="">
            <a:extLst xmlns:a="http://schemas.openxmlformats.org/drawingml/2006/main">
              <a:ext uri="{FF2B5EF4-FFF2-40B4-BE49-F238E27FC236}">
                <a16:creationId xmlns:a16="http://schemas.microsoft.com/office/drawing/2014/main" id="{4133DD5A-8B8A-4B76-B940-DBD965ED4C39}"/>
              </a:ext>
            </a:extLst>
          </p:cNvPr>
          <p:cNvSpPr>
            <a:spLocks xmlns:a="http://schemas.openxmlformats.org/drawingml/2006/main" noGrp="1"/>
          </p:cNvSpPr>
          <p:nvPr/>
        </p:nvSpPr>
        <p:spPr>
          <a:xfrm xmlns:a="http://schemas.openxmlformats.org/drawingml/2006/main">
            <a:off x="5257800" y="3162300"/>
            <a:ext cx="1524000" cy="7620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975" b="0">
                <a:solidFill>
                  <a:srgbClr val="526179"/>
                </a:solidFill>
                <a:latin typeface="Aptos"/>
                <a:ea typeface="Aptos"/>
                <a:cs typeface="Aptos"/>
              </a:defRPr>
            </a:pPr>
            <a:r>
              <a:rPr sz="975" b="0">
                <a:solidFill>
                  <a:srgbClr val="526179"/>
                </a:solidFill>
                <a:latin typeface="Aptos"/>
                <a:ea typeface="Aptos"/>
                <a:cs typeface="Aptos"/>
              </a:rPr>
              <a:t>Named tools</a:t>
            </a:r>
          </a:p>
          <a:p xmlns:a="http://schemas.openxmlformats.org/drawingml/2006/main">
            <a:pPr algn="ctr">
              <a:defRPr sz="975" b="0">
                <a:solidFill>
                  <a:srgbClr val="526179"/>
                </a:solidFill>
                <a:latin typeface="Aptos"/>
                <a:ea typeface="Aptos"/>
                <a:cs typeface="Aptos"/>
              </a:defRPr>
            </a:pPr>
            <a:r>
              <a:rPr sz="975" b="0">
                <a:solidFill>
                  <a:srgbClr val="526179"/>
                </a:solidFill>
                <a:latin typeface="Aptos"/>
                <a:ea typeface="Aptos"/>
                <a:cs typeface="Aptos"/>
              </a:rPr>
              <a:t>Schemas</a:t>
            </a:r>
          </a:p>
          <a:p xmlns:a="http://schemas.openxmlformats.org/drawingml/2006/main">
            <a:pPr algn="ctr">
              <a:defRPr sz="975" b="0">
                <a:solidFill>
                  <a:srgbClr val="526179"/>
                </a:solidFill>
                <a:latin typeface="Aptos"/>
                <a:ea typeface="Aptos"/>
                <a:cs typeface="Aptos"/>
              </a:defRPr>
            </a:pPr>
            <a:r>
              <a:rPr sz="975" b="0">
                <a:solidFill>
                  <a:srgbClr val="526179"/>
                </a:solidFill>
                <a:latin typeface="Aptos"/>
                <a:ea typeface="Aptos"/>
                <a:cs typeface="Aptos"/>
              </a:rPr>
              <a:t>Resource links</a:t>
            </a:r>
          </a:p>
          <a:p xmlns:a="http://schemas.openxmlformats.org/drawingml/2006/main">
            <a:pPr algn="ctr">
              <a:defRPr sz="975" b="0">
                <a:solidFill>
                  <a:srgbClr val="526179"/>
                </a:solidFill>
                <a:latin typeface="Aptos"/>
                <a:ea typeface="Aptos"/>
                <a:cs typeface="Aptos"/>
              </a:defRPr>
            </a:pPr>
            <a:r>
              <a:rPr sz="975" b="0">
                <a:solidFill>
                  <a:srgbClr val="526179"/>
                </a:solidFill>
                <a:latin typeface="Aptos"/>
                <a:ea typeface="Aptos"/>
                <a:cs typeface="Aptos"/>
              </a:rPr>
              <a:t>Tool results</a:t>
            </a:r>
          </a:p>
        </p:txBody>
      </p:sp>
      <p:sp>
        <p:nvSpPr>
          <p:cNvPr id="13" name="">
            <a:extLst xmlns:a="http://schemas.openxmlformats.org/drawingml/2006/main">
              <a:ext uri="{FF2B5EF4-FFF2-40B4-BE49-F238E27FC236}">
                <a16:creationId xmlns:a16="http://schemas.microsoft.com/office/drawing/2014/main" id="{046FAF1F-447C-4BA1-8786-444FBE63F6DF}"/>
              </a:ext>
            </a:extLst>
          </p:cNvPr>
          <p:cNvSpPr>
            <a:spLocks xmlns:a="http://schemas.openxmlformats.org/drawingml/2006/main" noGrp="1"/>
          </p:cNvSpPr>
          <p:nvPr/>
        </p:nvSpPr>
        <p:spPr>
          <a:xfrm xmlns:a="http://schemas.openxmlformats.org/drawingml/2006/main">
            <a:off x="8810625" y="1905000"/>
            <a:ext cx="2000250" cy="819150"/>
          </a:xfrm>
          <a:prstGeom xmlns:a="http://schemas.openxmlformats.org/drawingml/2006/main" prst="rect">
            <a:avLst/>
          </a:prstGeom>
          <a:solidFill xmlns:a="http://schemas.openxmlformats.org/drawingml/2006/main">
            <a:srgbClr val="FFFFFF"/>
          </a:solidFill>
          <a:ln xmlns:a="http://schemas.openxmlformats.org/drawingml/2006/main" w="9525">
            <a:solidFill>
              <a:srgbClr val="D8E0EA"/>
            </a:solidFill>
          </a:ln>
        </p:spPr>
      </p:sp>
      <p:sp>
        <p:nvSpPr>
          <p:cNvPr id="14" name="">
            <a:extLst xmlns:a="http://schemas.openxmlformats.org/drawingml/2006/main">
              <a:ext uri="{FF2B5EF4-FFF2-40B4-BE49-F238E27FC236}">
                <a16:creationId xmlns:a16="http://schemas.microsoft.com/office/drawing/2014/main" id="{FE3A49F2-AD00-44B1-B5EB-348AE935F224}"/>
              </a:ext>
            </a:extLst>
          </p:cNvPr>
          <p:cNvSpPr>
            <a:spLocks xmlns:a="http://schemas.openxmlformats.org/drawingml/2006/main" noGrp="1"/>
          </p:cNvSpPr>
          <p:nvPr/>
        </p:nvSpPr>
        <p:spPr>
          <a:xfrm xmlns:a="http://schemas.openxmlformats.org/drawingml/2006/main">
            <a:off x="8810625" y="1905000"/>
            <a:ext cx="47625" cy="819150"/>
          </a:xfrm>
          <a:prstGeom xmlns:a="http://schemas.openxmlformats.org/drawingml/2006/main" prst="rect">
            <a:avLst/>
          </a:prstGeom>
          <a:solidFill xmlns:a="http://schemas.openxmlformats.org/drawingml/2006/main">
            <a:srgbClr val="2563E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D74901AE-8733-44BF-8C38-5603DC2705CE}"/>
              </a:ext>
            </a:extLst>
          </p:cNvPr>
          <p:cNvSpPr>
            <a:spLocks xmlns:a="http://schemas.openxmlformats.org/drawingml/2006/main" noGrp="1"/>
          </p:cNvSpPr>
          <p:nvPr/>
        </p:nvSpPr>
        <p:spPr>
          <a:xfrm xmlns:a="http://schemas.openxmlformats.org/drawingml/2006/main">
            <a:off x="9020175" y="2133600"/>
            <a:ext cx="1428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172033"/>
                </a:solidFill>
                <a:latin typeface="Aptos"/>
                <a:ea typeface="Aptos"/>
                <a:cs typeface="Aptos"/>
              </a:defRPr>
            </a:pPr>
            <a:r>
              <a:rPr sz="1275" b="1">
                <a:solidFill>
                  <a:srgbClr val="172033"/>
                </a:solidFill>
                <a:latin typeface="Aptos"/>
                <a:ea typeface="Aptos"/>
                <a:cs typeface="Aptos"/>
              </a:rPr>
              <a:t>Database</a:t>
            </a:r>
          </a:p>
        </p:txBody>
      </p:sp>
      <p:sp>
        <p:nvSpPr>
          <p:cNvPr id="16" name="">
            <a:extLst xmlns:a="http://schemas.openxmlformats.org/drawingml/2006/main">
              <a:ext uri="{FF2B5EF4-FFF2-40B4-BE49-F238E27FC236}">
                <a16:creationId xmlns:a16="http://schemas.microsoft.com/office/drawing/2014/main" id="{447F2FC4-2594-428E-9CB0-6BBC44AE8EEC}"/>
              </a:ext>
            </a:extLst>
          </p:cNvPr>
          <p:cNvSpPr>
            <a:spLocks xmlns:a="http://schemas.openxmlformats.org/drawingml/2006/main" noGrp="1"/>
          </p:cNvSpPr>
          <p:nvPr/>
        </p:nvSpPr>
        <p:spPr>
          <a:xfrm xmlns:a="http://schemas.openxmlformats.org/drawingml/2006/main">
            <a:off x="9020175" y="2438400"/>
            <a:ext cx="1428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825" b="0">
                <a:solidFill>
                  <a:srgbClr val="526179"/>
                </a:solidFill>
                <a:latin typeface="Aptos"/>
                <a:ea typeface="Aptos"/>
                <a:cs typeface="Aptos"/>
              </a:defRPr>
            </a:pPr>
            <a:r>
              <a:rPr sz="825" b="0">
                <a:solidFill>
                  <a:srgbClr val="526179"/>
                </a:solidFill>
                <a:latin typeface="Aptos"/>
                <a:ea typeface="Aptos"/>
                <a:cs typeface="Aptos"/>
              </a:rPr>
              <a:t>External system</a:t>
            </a:r>
          </a:p>
        </p:txBody>
      </p:sp>
      <p:sp>
        <p:nvSpPr>
          <p:cNvPr id="17" name="">
            <a:extLst xmlns:a="http://schemas.openxmlformats.org/drawingml/2006/main">
              <a:ext uri="{FF2B5EF4-FFF2-40B4-BE49-F238E27FC236}">
                <a16:creationId xmlns:a16="http://schemas.microsoft.com/office/drawing/2014/main" id="{5EDD2ACB-80E7-47D7-A92B-FAC294C60C9F}"/>
              </a:ext>
            </a:extLst>
          </p:cNvPr>
          <p:cNvSpPr>
            <a:spLocks xmlns:a="http://schemas.openxmlformats.org/drawingml/2006/main" noGrp="1"/>
          </p:cNvSpPr>
          <p:nvPr/>
        </p:nvSpPr>
        <p:spPr>
          <a:xfrm xmlns:a="http://schemas.openxmlformats.org/drawingml/2006/main">
            <a:off x="8810625" y="2952750"/>
            <a:ext cx="2000250" cy="819150"/>
          </a:xfrm>
          <a:prstGeom xmlns:a="http://schemas.openxmlformats.org/drawingml/2006/main" prst="rect">
            <a:avLst/>
          </a:prstGeom>
          <a:solidFill xmlns:a="http://schemas.openxmlformats.org/drawingml/2006/main">
            <a:srgbClr val="FFFFFF"/>
          </a:solidFill>
          <a:ln xmlns:a="http://schemas.openxmlformats.org/drawingml/2006/main" w="9525">
            <a:solidFill>
              <a:srgbClr val="D8E0EA"/>
            </a:solidFill>
          </a:ln>
        </p:spPr>
      </p:sp>
      <p:sp>
        <p:nvSpPr>
          <p:cNvPr id="18" name="">
            <a:extLst xmlns:a="http://schemas.openxmlformats.org/drawingml/2006/main">
              <a:ext uri="{FF2B5EF4-FFF2-40B4-BE49-F238E27FC236}">
                <a16:creationId xmlns:a16="http://schemas.microsoft.com/office/drawing/2014/main" id="{33120872-4EAC-4617-9DD5-A2ACD2DF6F5D}"/>
              </a:ext>
            </a:extLst>
          </p:cNvPr>
          <p:cNvSpPr>
            <a:spLocks xmlns:a="http://schemas.openxmlformats.org/drawingml/2006/main" noGrp="1"/>
          </p:cNvSpPr>
          <p:nvPr/>
        </p:nvSpPr>
        <p:spPr>
          <a:xfrm xmlns:a="http://schemas.openxmlformats.org/drawingml/2006/main">
            <a:off x="8810625" y="2952750"/>
            <a:ext cx="47625" cy="819150"/>
          </a:xfrm>
          <a:prstGeom xmlns:a="http://schemas.openxmlformats.org/drawingml/2006/main" prst="rect">
            <a:avLst/>
          </a:prstGeom>
          <a:solidFill xmlns:a="http://schemas.openxmlformats.org/drawingml/2006/main">
            <a:srgbClr val="1F2937"/>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6BA69BA2-AA27-4744-B433-75F17FD3547B}"/>
              </a:ext>
            </a:extLst>
          </p:cNvPr>
          <p:cNvSpPr>
            <a:spLocks xmlns:a="http://schemas.openxmlformats.org/drawingml/2006/main" noGrp="1"/>
          </p:cNvSpPr>
          <p:nvPr/>
        </p:nvSpPr>
        <p:spPr>
          <a:xfrm xmlns:a="http://schemas.openxmlformats.org/drawingml/2006/main">
            <a:off x="9020175" y="3181350"/>
            <a:ext cx="1428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172033"/>
                </a:solidFill>
                <a:latin typeface="Aptos"/>
                <a:ea typeface="Aptos"/>
                <a:cs typeface="Aptos"/>
              </a:defRPr>
            </a:pPr>
            <a:r>
              <a:rPr sz="1275" b="1">
                <a:solidFill>
                  <a:srgbClr val="172033"/>
                </a:solidFill>
                <a:latin typeface="Aptos"/>
                <a:ea typeface="Aptos"/>
                <a:cs typeface="Aptos"/>
              </a:rPr>
              <a:t>GitHub</a:t>
            </a:r>
          </a:p>
        </p:txBody>
      </p:sp>
      <p:sp>
        <p:nvSpPr>
          <p:cNvPr id="20" name="">
            <a:extLst xmlns:a="http://schemas.openxmlformats.org/drawingml/2006/main">
              <a:ext uri="{FF2B5EF4-FFF2-40B4-BE49-F238E27FC236}">
                <a16:creationId xmlns:a16="http://schemas.microsoft.com/office/drawing/2014/main" id="{3B4A8D8D-483B-49A1-B26E-138B9CAA65DA}"/>
              </a:ext>
            </a:extLst>
          </p:cNvPr>
          <p:cNvSpPr>
            <a:spLocks xmlns:a="http://schemas.openxmlformats.org/drawingml/2006/main" noGrp="1"/>
          </p:cNvSpPr>
          <p:nvPr/>
        </p:nvSpPr>
        <p:spPr>
          <a:xfrm xmlns:a="http://schemas.openxmlformats.org/drawingml/2006/main">
            <a:off x="9020175" y="3486150"/>
            <a:ext cx="1428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825" b="0">
                <a:solidFill>
                  <a:srgbClr val="526179"/>
                </a:solidFill>
                <a:latin typeface="Aptos"/>
                <a:ea typeface="Aptos"/>
                <a:cs typeface="Aptos"/>
              </a:defRPr>
            </a:pPr>
            <a:r>
              <a:rPr sz="825" b="0">
                <a:solidFill>
                  <a:srgbClr val="526179"/>
                </a:solidFill>
                <a:latin typeface="Aptos"/>
                <a:ea typeface="Aptos"/>
                <a:cs typeface="Aptos"/>
              </a:rPr>
              <a:t>External system</a:t>
            </a:r>
          </a:p>
        </p:txBody>
      </p:sp>
      <p:sp>
        <p:nvSpPr>
          <p:cNvPr id="21" name="">
            <a:extLst xmlns:a="http://schemas.openxmlformats.org/drawingml/2006/main">
              <a:ext uri="{FF2B5EF4-FFF2-40B4-BE49-F238E27FC236}">
                <a16:creationId xmlns:a16="http://schemas.microsoft.com/office/drawing/2014/main" id="{C8C00226-D295-476B-B0C9-8FDF2477C098}"/>
              </a:ext>
            </a:extLst>
          </p:cNvPr>
          <p:cNvSpPr>
            <a:spLocks xmlns:a="http://schemas.openxmlformats.org/drawingml/2006/main" noGrp="1"/>
          </p:cNvSpPr>
          <p:nvPr/>
        </p:nvSpPr>
        <p:spPr>
          <a:xfrm xmlns:a="http://schemas.openxmlformats.org/drawingml/2006/main">
            <a:off x="8810625" y="4000500"/>
            <a:ext cx="2000250" cy="819150"/>
          </a:xfrm>
          <a:prstGeom xmlns:a="http://schemas.openxmlformats.org/drawingml/2006/main" prst="rect">
            <a:avLst/>
          </a:prstGeom>
          <a:solidFill xmlns:a="http://schemas.openxmlformats.org/drawingml/2006/main">
            <a:srgbClr val="FFFFFF"/>
          </a:solidFill>
          <a:ln xmlns:a="http://schemas.openxmlformats.org/drawingml/2006/main" w="9525">
            <a:solidFill>
              <a:srgbClr val="D8E0EA"/>
            </a:solidFill>
          </a:ln>
        </p:spPr>
      </p:sp>
      <p:sp>
        <p:nvSpPr>
          <p:cNvPr id="22" name="">
            <a:extLst xmlns:a="http://schemas.openxmlformats.org/drawingml/2006/main">
              <a:ext uri="{FF2B5EF4-FFF2-40B4-BE49-F238E27FC236}">
                <a16:creationId xmlns:a16="http://schemas.microsoft.com/office/drawing/2014/main" id="{CBB696A5-94BD-467D-8CCE-85C9902064BC}"/>
              </a:ext>
            </a:extLst>
          </p:cNvPr>
          <p:cNvSpPr>
            <a:spLocks xmlns:a="http://schemas.openxmlformats.org/drawingml/2006/main" noGrp="1"/>
          </p:cNvSpPr>
          <p:nvPr/>
        </p:nvSpPr>
        <p:spPr>
          <a:xfrm xmlns:a="http://schemas.openxmlformats.org/drawingml/2006/main">
            <a:off x="8810625" y="4000500"/>
            <a:ext cx="47625" cy="819150"/>
          </a:xfrm>
          <a:prstGeom xmlns:a="http://schemas.openxmlformats.org/drawingml/2006/main" prst="rect">
            <a:avLst/>
          </a:prstGeom>
          <a:solidFill xmlns:a="http://schemas.openxmlformats.org/drawingml/2006/main">
            <a:srgbClr val="F59E0B"/>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BF66D5E7-86A8-4223-ABC0-7E08005DAD67}"/>
              </a:ext>
            </a:extLst>
          </p:cNvPr>
          <p:cNvSpPr>
            <a:spLocks xmlns:a="http://schemas.openxmlformats.org/drawingml/2006/main" noGrp="1"/>
          </p:cNvSpPr>
          <p:nvPr/>
        </p:nvSpPr>
        <p:spPr>
          <a:xfrm xmlns:a="http://schemas.openxmlformats.org/drawingml/2006/main">
            <a:off x="9020175" y="4229100"/>
            <a:ext cx="1428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172033"/>
                </a:solidFill>
                <a:latin typeface="Aptos"/>
                <a:ea typeface="Aptos"/>
                <a:cs typeface="Aptos"/>
              </a:defRPr>
            </a:pPr>
            <a:r>
              <a:rPr sz="1275" b="1">
                <a:solidFill>
                  <a:srgbClr val="172033"/>
                </a:solidFill>
                <a:latin typeface="Aptos"/>
                <a:ea typeface="Aptos"/>
                <a:cs typeface="Aptos"/>
              </a:rPr>
              <a:t>Calendar</a:t>
            </a:r>
          </a:p>
        </p:txBody>
      </p:sp>
      <p:sp>
        <p:nvSpPr>
          <p:cNvPr id="24" name="">
            <a:extLst xmlns:a="http://schemas.openxmlformats.org/drawingml/2006/main">
              <a:ext uri="{FF2B5EF4-FFF2-40B4-BE49-F238E27FC236}">
                <a16:creationId xmlns:a16="http://schemas.microsoft.com/office/drawing/2014/main" id="{2EFD4A58-D7C8-4028-BAE2-4DD17FC47807}"/>
              </a:ext>
            </a:extLst>
          </p:cNvPr>
          <p:cNvSpPr>
            <a:spLocks xmlns:a="http://schemas.openxmlformats.org/drawingml/2006/main" noGrp="1"/>
          </p:cNvSpPr>
          <p:nvPr/>
        </p:nvSpPr>
        <p:spPr>
          <a:xfrm xmlns:a="http://schemas.openxmlformats.org/drawingml/2006/main">
            <a:off x="9020175" y="4533900"/>
            <a:ext cx="1428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825" b="0">
                <a:solidFill>
                  <a:srgbClr val="526179"/>
                </a:solidFill>
                <a:latin typeface="Aptos"/>
                <a:ea typeface="Aptos"/>
                <a:cs typeface="Aptos"/>
              </a:defRPr>
            </a:pPr>
            <a:r>
              <a:rPr sz="825" b="0">
                <a:solidFill>
                  <a:srgbClr val="526179"/>
                </a:solidFill>
                <a:latin typeface="Aptos"/>
                <a:ea typeface="Aptos"/>
                <a:cs typeface="Aptos"/>
              </a:rPr>
              <a:t>External system</a:t>
            </a:r>
          </a:p>
        </p:txBody>
      </p:sp>
      <p:sp>
        <p:nvSpPr>
          <p:cNvPr id="25" name="">
            <a:extLst xmlns:a="http://schemas.openxmlformats.org/drawingml/2006/main">
              <a:ext uri="{FF2B5EF4-FFF2-40B4-BE49-F238E27FC236}">
                <a16:creationId xmlns:a16="http://schemas.microsoft.com/office/drawing/2014/main" id="{959917D4-711C-4523-8642-6BEC87A2B218}"/>
              </a:ext>
            </a:extLst>
          </p:cNvPr>
          <p:cNvSpPr>
            <a:spLocks xmlns:a="http://schemas.openxmlformats.org/drawingml/2006/main" noGrp="1"/>
          </p:cNvSpPr>
          <p:nvPr/>
        </p:nvSpPr>
        <p:spPr>
          <a:xfrm xmlns:a="http://schemas.openxmlformats.org/drawingml/2006/main">
            <a:off x="3352800" y="3314700"/>
            <a:ext cx="1504950" cy="38100"/>
          </a:xfrm>
          <a:prstGeom xmlns:a="http://schemas.openxmlformats.org/drawingml/2006/main" prst="rect">
            <a:avLst/>
          </a:prstGeom>
          <a:solidFill xmlns:a="http://schemas.openxmlformats.org/drawingml/2006/main">
            <a:srgbClr val="0E9F9A"/>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3750CC63-D83E-4919-B3B2-5DB014FEE506}"/>
              </a:ext>
            </a:extLst>
          </p:cNvPr>
          <p:cNvSpPr>
            <a:spLocks xmlns:a="http://schemas.openxmlformats.org/drawingml/2006/main" noGrp="1"/>
          </p:cNvSpPr>
          <p:nvPr/>
        </p:nvSpPr>
        <p:spPr>
          <a:xfrm xmlns:a="http://schemas.openxmlformats.org/drawingml/2006/main">
            <a:off x="4791075" y="3219450"/>
            <a:ext cx="190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0E9F9A"/>
                </a:solidFill>
                <a:latin typeface="Aptos"/>
                <a:ea typeface="Aptos"/>
                <a:cs typeface="Aptos"/>
              </a:defRPr>
            </a:pPr>
            <a:r>
              <a:rPr sz="1350" b="1">
                <a:solidFill>
                  <a:srgbClr val="0E9F9A"/>
                </a:solidFill>
                <a:latin typeface="Aptos"/>
                <a:ea typeface="Aptos"/>
                <a:cs typeface="Aptos"/>
              </a:rPr>
              <a:t>&gt;</a:t>
            </a:r>
          </a:p>
        </p:txBody>
      </p:sp>
      <p:sp>
        <p:nvSpPr>
          <p:cNvPr id="27" name="">
            <a:extLst xmlns:a="http://schemas.openxmlformats.org/drawingml/2006/main">
              <a:ext uri="{FF2B5EF4-FFF2-40B4-BE49-F238E27FC236}">
                <a16:creationId xmlns:a16="http://schemas.microsoft.com/office/drawing/2014/main" id="{02F27883-816A-441B-ACB7-EED3C152B84B}"/>
              </a:ext>
            </a:extLst>
          </p:cNvPr>
          <p:cNvSpPr>
            <a:spLocks xmlns:a="http://schemas.openxmlformats.org/drawingml/2006/main" noGrp="1"/>
          </p:cNvSpPr>
          <p:nvPr/>
        </p:nvSpPr>
        <p:spPr>
          <a:xfrm xmlns:a="http://schemas.openxmlformats.org/drawingml/2006/main">
            <a:off x="7239000" y="3314700"/>
            <a:ext cx="876300" cy="38100"/>
          </a:xfrm>
          <a:prstGeom xmlns:a="http://schemas.openxmlformats.org/drawingml/2006/main" prst="rect">
            <a:avLst/>
          </a:prstGeom>
          <a:solidFill xmlns:a="http://schemas.openxmlformats.org/drawingml/2006/main">
            <a:srgbClr val="0E9F9A"/>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E620B53D-A60B-4EF1-8D11-3F584DD4E999}"/>
              </a:ext>
            </a:extLst>
          </p:cNvPr>
          <p:cNvSpPr>
            <a:spLocks xmlns:a="http://schemas.openxmlformats.org/drawingml/2006/main" noGrp="1"/>
          </p:cNvSpPr>
          <p:nvPr/>
        </p:nvSpPr>
        <p:spPr>
          <a:xfrm xmlns:a="http://schemas.openxmlformats.org/drawingml/2006/main">
            <a:off x="8096250" y="2286000"/>
            <a:ext cx="38100" cy="2133600"/>
          </a:xfrm>
          <a:prstGeom xmlns:a="http://schemas.openxmlformats.org/drawingml/2006/main" prst="rect">
            <a:avLst/>
          </a:prstGeom>
          <a:solidFill xmlns:a="http://schemas.openxmlformats.org/drawingml/2006/main">
            <a:srgbClr val="0E9F9A"/>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ED495573-7284-4826-B1F0-F228AF002669}"/>
              </a:ext>
            </a:extLst>
          </p:cNvPr>
          <p:cNvSpPr>
            <a:spLocks xmlns:a="http://schemas.openxmlformats.org/drawingml/2006/main" noGrp="1"/>
          </p:cNvSpPr>
          <p:nvPr/>
        </p:nvSpPr>
        <p:spPr>
          <a:xfrm xmlns:a="http://schemas.openxmlformats.org/drawingml/2006/main">
            <a:off x="8115300" y="2266950"/>
            <a:ext cx="695325" cy="38100"/>
          </a:xfrm>
          <a:prstGeom xmlns:a="http://schemas.openxmlformats.org/drawingml/2006/main" prst="rect">
            <a:avLst/>
          </a:prstGeom>
          <a:solidFill xmlns:a="http://schemas.openxmlformats.org/drawingml/2006/main">
            <a:srgbClr val="0E9F9A"/>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D0CACFEE-AE17-4560-A382-F39C5E868906}"/>
              </a:ext>
            </a:extLst>
          </p:cNvPr>
          <p:cNvSpPr>
            <a:spLocks xmlns:a="http://schemas.openxmlformats.org/drawingml/2006/main" noGrp="1"/>
          </p:cNvSpPr>
          <p:nvPr/>
        </p:nvSpPr>
        <p:spPr>
          <a:xfrm xmlns:a="http://schemas.openxmlformats.org/drawingml/2006/main">
            <a:off x="8743950" y="2171700"/>
            <a:ext cx="190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0E9F9A"/>
                </a:solidFill>
                <a:latin typeface="Aptos"/>
                <a:ea typeface="Aptos"/>
                <a:cs typeface="Aptos"/>
              </a:defRPr>
            </a:pPr>
            <a:r>
              <a:rPr sz="1350" b="1">
                <a:solidFill>
                  <a:srgbClr val="0E9F9A"/>
                </a:solidFill>
                <a:latin typeface="Aptos"/>
                <a:ea typeface="Aptos"/>
                <a:cs typeface="Aptos"/>
              </a:rPr>
              <a:t>&gt;</a:t>
            </a:r>
          </a:p>
        </p:txBody>
      </p:sp>
      <p:sp>
        <p:nvSpPr>
          <p:cNvPr id="31" name="">
            <a:extLst xmlns:a="http://schemas.openxmlformats.org/drawingml/2006/main">
              <a:ext uri="{FF2B5EF4-FFF2-40B4-BE49-F238E27FC236}">
                <a16:creationId xmlns:a16="http://schemas.microsoft.com/office/drawing/2014/main" id="{1D1E0B45-3740-4A2B-B5D1-623FB0D0C1FE}"/>
              </a:ext>
            </a:extLst>
          </p:cNvPr>
          <p:cNvSpPr>
            <a:spLocks xmlns:a="http://schemas.openxmlformats.org/drawingml/2006/main" noGrp="1"/>
          </p:cNvSpPr>
          <p:nvPr/>
        </p:nvSpPr>
        <p:spPr>
          <a:xfrm xmlns:a="http://schemas.openxmlformats.org/drawingml/2006/main">
            <a:off x="8115300" y="3314700"/>
            <a:ext cx="695325" cy="38100"/>
          </a:xfrm>
          <a:prstGeom xmlns:a="http://schemas.openxmlformats.org/drawingml/2006/main" prst="rect">
            <a:avLst/>
          </a:prstGeom>
          <a:solidFill xmlns:a="http://schemas.openxmlformats.org/drawingml/2006/main">
            <a:srgbClr val="0E9F9A"/>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90CF4BC2-F51B-4930-A9E4-F7CE57631317}"/>
              </a:ext>
            </a:extLst>
          </p:cNvPr>
          <p:cNvSpPr>
            <a:spLocks xmlns:a="http://schemas.openxmlformats.org/drawingml/2006/main" noGrp="1"/>
          </p:cNvSpPr>
          <p:nvPr/>
        </p:nvSpPr>
        <p:spPr>
          <a:xfrm xmlns:a="http://schemas.openxmlformats.org/drawingml/2006/main">
            <a:off x="8743950" y="3219450"/>
            <a:ext cx="190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0E9F9A"/>
                </a:solidFill>
                <a:latin typeface="Aptos"/>
                <a:ea typeface="Aptos"/>
                <a:cs typeface="Aptos"/>
              </a:defRPr>
            </a:pPr>
            <a:r>
              <a:rPr sz="1350" b="1">
                <a:solidFill>
                  <a:srgbClr val="0E9F9A"/>
                </a:solidFill>
                <a:latin typeface="Aptos"/>
                <a:ea typeface="Aptos"/>
                <a:cs typeface="Aptos"/>
              </a:rPr>
              <a:t>&gt;</a:t>
            </a:r>
          </a:p>
        </p:txBody>
      </p:sp>
      <p:sp>
        <p:nvSpPr>
          <p:cNvPr id="33" name="">
            <a:extLst xmlns:a="http://schemas.openxmlformats.org/drawingml/2006/main">
              <a:ext uri="{FF2B5EF4-FFF2-40B4-BE49-F238E27FC236}">
                <a16:creationId xmlns:a16="http://schemas.microsoft.com/office/drawing/2014/main" id="{98430225-08A9-480E-B13E-737443962CB4}"/>
              </a:ext>
            </a:extLst>
          </p:cNvPr>
          <p:cNvSpPr>
            <a:spLocks xmlns:a="http://schemas.openxmlformats.org/drawingml/2006/main" noGrp="1"/>
          </p:cNvSpPr>
          <p:nvPr/>
        </p:nvSpPr>
        <p:spPr>
          <a:xfrm xmlns:a="http://schemas.openxmlformats.org/drawingml/2006/main">
            <a:off x="8115300" y="4362450"/>
            <a:ext cx="695325" cy="38100"/>
          </a:xfrm>
          <a:prstGeom xmlns:a="http://schemas.openxmlformats.org/drawingml/2006/main" prst="rect">
            <a:avLst/>
          </a:prstGeom>
          <a:solidFill xmlns:a="http://schemas.openxmlformats.org/drawingml/2006/main">
            <a:srgbClr val="0E9F9A"/>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A852F62B-2C8F-45AB-88D4-4DE1529FA542}"/>
              </a:ext>
            </a:extLst>
          </p:cNvPr>
          <p:cNvSpPr>
            <a:spLocks xmlns:a="http://schemas.openxmlformats.org/drawingml/2006/main" noGrp="1"/>
          </p:cNvSpPr>
          <p:nvPr/>
        </p:nvSpPr>
        <p:spPr>
          <a:xfrm xmlns:a="http://schemas.openxmlformats.org/drawingml/2006/main">
            <a:off x="8743950" y="4267200"/>
            <a:ext cx="190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0E9F9A"/>
                </a:solidFill>
                <a:latin typeface="Aptos"/>
                <a:ea typeface="Aptos"/>
                <a:cs typeface="Aptos"/>
              </a:defRPr>
            </a:pPr>
            <a:r>
              <a:rPr sz="1350" b="1">
                <a:solidFill>
                  <a:srgbClr val="0E9F9A"/>
                </a:solidFill>
                <a:latin typeface="Aptos"/>
                <a:ea typeface="Aptos"/>
                <a:cs typeface="Aptos"/>
              </a:rPr>
              <a:t>&gt;</a:t>
            </a:r>
          </a:p>
        </p:txBody>
      </p:sp>
      <p:sp>
        <p:nvSpPr>
          <p:cNvPr id="35" name="">
            <a:extLst xmlns:a="http://schemas.openxmlformats.org/drawingml/2006/main">
              <a:ext uri="{FF2B5EF4-FFF2-40B4-BE49-F238E27FC236}">
                <a16:creationId xmlns:a16="http://schemas.microsoft.com/office/drawing/2014/main" id="{F36F21BD-EB92-4DC0-B4AA-30E7B534E03A}"/>
              </a:ext>
            </a:extLst>
          </p:cNvPr>
          <p:cNvSpPr>
            <a:spLocks xmlns:a="http://schemas.openxmlformats.org/drawingml/2006/main" noGrp="1"/>
          </p:cNvSpPr>
          <p:nvPr/>
        </p:nvSpPr>
        <p:spPr>
          <a:xfrm xmlns:a="http://schemas.openxmlformats.org/drawingml/2006/main">
            <a:off x="1790700" y="5562600"/>
            <a:ext cx="86106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172033"/>
                </a:solidFill>
                <a:latin typeface="Aptos"/>
                <a:ea typeface="Aptos"/>
                <a:cs typeface="Aptos"/>
              </a:defRPr>
            </a:pPr>
            <a:r>
              <a:rPr sz="1350" b="1">
                <a:solidFill>
                  <a:srgbClr val="172033"/>
                </a:solidFill>
                <a:latin typeface="Aptos"/>
                <a:ea typeface="Aptos"/>
                <a:cs typeface="Aptos"/>
              </a:rPr>
              <a:t>The protocol standardizes discovery and invocation. Your security model still has to decide what tools are allowed.</a:t>
            </a:r>
          </a:p>
        </p:txBody>
      </p:sp>
    </p:spTree>
    <p:extLst>
      <p:ext uri="{BB962C8B-B14F-4D97-AF65-F5344CB8AC3E}">
        <p14:creationId xmlns:p14="http://schemas.microsoft.com/office/powerpoint/2010/main" val="341250381"/>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D0B4882-02E8-4474-B984-E34184704D7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6F8F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A908B31-AA3B-4560-AD38-DC234EF6B7FB}"/>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9F9A"/>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2CC6458-4B24-4C22-B15A-16B702726D25}"/>
              </a:ext>
            </a:extLst>
          </p:cNvPr>
          <p:cNvSpPr>
            <a:spLocks xmlns:a="http://schemas.openxmlformats.org/drawingml/2006/main" noGrp="1"/>
          </p:cNvSpPr>
          <p:nvPr/>
        </p:nvSpPr>
        <p:spPr>
          <a:xfrm xmlns:a="http://schemas.openxmlformats.org/drawingml/2006/main">
            <a:off x="514350" y="400050"/>
            <a:ext cx="5143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788" b="1">
                <a:solidFill>
                  <a:srgbClr val="0E9F9A"/>
                </a:solidFill>
                <a:latin typeface="Aptos"/>
                <a:ea typeface="Aptos"/>
                <a:cs typeface="Aptos"/>
              </a:defRPr>
            </a:pPr>
            <a:r>
              <a:rPr sz="788" b="1">
                <a:solidFill>
                  <a:srgbClr val="0E9F9A"/>
                </a:solidFill>
                <a:latin typeface="Aptos"/>
                <a:ea typeface="Aptos"/>
                <a:cs typeface="Aptos"/>
              </a:rPr>
              <a:t>WORKFLOW VS AGENT</a:t>
            </a:r>
          </a:p>
        </p:txBody>
      </p:sp>
      <p:sp>
        <p:nvSpPr>
          <p:cNvPr id="4" name="">
            <a:extLst xmlns:a="http://schemas.openxmlformats.org/drawingml/2006/main">
              <a:ext uri="{FF2B5EF4-FFF2-40B4-BE49-F238E27FC236}">
                <a16:creationId xmlns:a16="http://schemas.microsoft.com/office/drawing/2014/main" id="{73C2371B-EAAB-48C8-A8A2-525C17D23168}"/>
              </a:ext>
            </a:extLst>
          </p:cNvPr>
          <p:cNvSpPr>
            <a:spLocks xmlns:a="http://schemas.openxmlformats.org/drawingml/2006/main" noGrp="1"/>
          </p:cNvSpPr>
          <p:nvPr/>
        </p:nvSpPr>
        <p:spPr>
          <a:xfrm xmlns:a="http://schemas.openxmlformats.org/drawingml/2006/main">
            <a:off x="514350" y="685800"/>
            <a:ext cx="8382000" cy="8763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172033"/>
                </a:solidFill>
                <a:latin typeface="Aptos Display"/>
                <a:ea typeface="Aptos Display"/>
                <a:cs typeface="Aptos Display"/>
              </a:defRPr>
            </a:pPr>
            <a:r>
              <a:rPr sz="2550" b="1">
                <a:solidFill>
                  <a:srgbClr val="172033"/>
                </a:solidFill>
                <a:latin typeface="Aptos Display"/>
                <a:ea typeface="Aptos Display"/>
                <a:cs typeface="Aptos Display"/>
              </a:rPr>
              <a:t>The more dynamic the path, the more you need steering and verification.</a:t>
            </a:r>
          </a:p>
        </p:txBody>
      </p:sp>
      <p:sp>
        <p:nvSpPr>
          <p:cNvPr id="5" name="">
            <a:extLst xmlns:a="http://schemas.openxmlformats.org/drawingml/2006/main">
              <a:ext uri="{FF2B5EF4-FFF2-40B4-BE49-F238E27FC236}">
                <a16:creationId xmlns:a16="http://schemas.microsoft.com/office/drawing/2014/main" id="{C4E49F76-0209-474C-A3AB-640AF649876A}"/>
              </a:ext>
            </a:extLst>
          </p:cNvPr>
          <p:cNvSpPr>
            <a:spLocks xmlns:a="http://schemas.openxmlformats.org/drawingml/2006/main" noGrp="1"/>
          </p:cNvSpPr>
          <p:nvPr/>
        </p:nvSpPr>
        <p:spPr>
          <a:xfrm xmlns:a="http://schemas.openxmlformats.org/drawingml/2006/main">
            <a:off x="514350" y="6515100"/>
            <a:ext cx="88582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638" b="0">
                <a:solidFill>
                  <a:srgbClr val="7B8798"/>
                </a:solidFill>
                <a:latin typeface="Aptos"/>
                <a:ea typeface="Aptos"/>
                <a:cs typeface="Aptos"/>
              </a:defRPr>
            </a:pPr>
            <a:r>
              <a:rPr sz="638" b="0">
                <a:solidFill>
                  <a:srgbClr val="7B8798"/>
                </a:solidFill>
                <a:latin typeface="Aptos"/>
                <a:ea typeface="Aptos"/>
                <a:cs typeface="Aptos"/>
              </a:rPr>
              <a:t>Anthropic: Building effective agents</a:t>
            </a:r>
          </a:p>
        </p:txBody>
      </p:sp>
      <p:sp>
        <p:nvSpPr>
          <p:cNvPr id="6" name="">
            <a:extLst xmlns:a="http://schemas.openxmlformats.org/drawingml/2006/main">
              <a:ext uri="{FF2B5EF4-FFF2-40B4-BE49-F238E27FC236}">
                <a16:creationId xmlns:a16="http://schemas.microsoft.com/office/drawing/2014/main" id="{E275FB9A-3195-459B-9392-16785D85C70F}"/>
              </a:ext>
            </a:extLst>
          </p:cNvPr>
          <p:cNvSpPr>
            <a:spLocks xmlns:a="http://schemas.openxmlformats.org/drawingml/2006/main" noGrp="1"/>
          </p:cNvSpPr>
          <p:nvPr/>
        </p:nvSpPr>
        <p:spPr>
          <a:xfrm xmlns:a="http://schemas.openxmlformats.org/drawingml/2006/main">
            <a:off x="11239500" y="6477000"/>
            <a:ext cx="4381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r">
              <a:defRPr sz="750" b="1">
                <a:solidFill>
                  <a:srgbClr val="7B8798"/>
                </a:solidFill>
                <a:latin typeface="Aptos"/>
                <a:ea typeface="Aptos"/>
                <a:cs typeface="Aptos"/>
              </a:defRPr>
            </a:pPr>
            <a:r>
              <a:rPr sz="750" b="1">
                <a:solidFill>
                  <a:srgbClr val="7B8798"/>
                </a:solidFill>
                <a:latin typeface="Aptos"/>
                <a:ea typeface="Aptos"/>
                <a:cs typeface="Aptos"/>
              </a:rPr>
              <a:t>09</a:t>
            </a:r>
          </a:p>
        </p:txBody>
      </p:sp>
      <p:sp>
        <p:nvSpPr>
          <p:cNvPr id="7" name="">
            <a:extLst xmlns:a="http://schemas.openxmlformats.org/drawingml/2006/main">
              <a:ext uri="{FF2B5EF4-FFF2-40B4-BE49-F238E27FC236}">
                <a16:creationId xmlns:a16="http://schemas.microsoft.com/office/drawing/2014/main" id="{DF6DA1CC-94F4-4D5F-80C3-03122E8AE282}"/>
              </a:ext>
            </a:extLst>
          </p:cNvPr>
          <p:cNvSpPr>
            <a:spLocks xmlns:a="http://schemas.openxmlformats.org/drawingml/2006/main" noGrp="1"/>
          </p:cNvSpPr>
          <p:nvPr/>
        </p:nvSpPr>
        <p:spPr>
          <a:xfrm xmlns:a="http://schemas.openxmlformats.org/drawingml/2006/main">
            <a:off x="1047750" y="2190750"/>
            <a:ext cx="4476750" cy="2381250"/>
          </a:xfrm>
          <a:prstGeom xmlns:a="http://schemas.openxmlformats.org/drawingml/2006/main" prst="rect">
            <a:avLst/>
          </a:prstGeom>
          <a:solidFill xmlns:a="http://schemas.openxmlformats.org/drawingml/2006/main">
            <a:srgbClr val="FFFFFF"/>
          </a:solidFill>
          <a:ln xmlns:a="http://schemas.openxmlformats.org/drawingml/2006/main" w="9525">
            <a:solidFill>
              <a:srgbClr val="D8E0EA"/>
            </a:solidFill>
          </a:ln>
        </p:spPr>
      </p:sp>
      <p:sp>
        <p:nvSpPr>
          <p:cNvPr id="8" name="">
            <a:extLst xmlns:a="http://schemas.openxmlformats.org/drawingml/2006/main">
              <a:ext uri="{FF2B5EF4-FFF2-40B4-BE49-F238E27FC236}">
                <a16:creationId xmlns:a16="http://schemas.microsoft.com/office/drawing/2014/main" id="{CBBE280E-CFDC-4043-B53F-60FCDDF26D2B}"/>
              </a:ext>
            </a:extLst>
          </p:cNvPr>
          <p:cNvSpPr>
            <a:spLocks xmlns:a="http://schemas.openxmlformats.org/drawingml/2006/main" noGrp="1"/>
          </p:cNvSpPr>
          <p:nvPr/>
        </p:nvSpPr>
        <p:spPr>
          <a:xfrm xmlns:a="http://schemas.openxmlformats.org/drawingml/2006/main">
            <a:off x="1047750" y="2190750"/>
            <a:ext cx="47625" cy="2381250"/>
          </a:xfrm>
          <a:prstGeom xmlns:a="http://schemas.openxmlformats.org/drawingml/2006/main" prst="rect">
            <a:avLst/>
          </a:prstGeom>
          <a:solidFill xmlns:a="http://schemas.openxmlformats.org/drawingml/2006/main">
            <a:srgbClr val="2563EB"/>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EDEE68F2-E377-4107-BAC9-A3EAE1604A24}"/>
              </a:ext>
            </a:extLst>
          </p:cNvPr>
          <p:cNvSpPr>
            <a:spLocks xmlns:a="http://schemas.openxmlformats.org/drawingml/2006/main" noGrp="1"/>
          </p:cNvSpPr>
          <p:nvPr/>
        </p:nvSpPr>
        <p:spPr>
          <a:xfrm xmlns:a="http://schemas.openxmlformats.org/drawingml/2006/main">
            <a:off x="1257300" y="2400300"/>
            <a:ext cx="40576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172033"/>
                </a:solidFill>
                <a:latin typeface="Aptos"/>
                <a:ea typeface="Aptos"/>
                <a:cs typeface="Aptos"/>
              </a:defRPr>
            </a:pPr>
            <a:r>
              <a:rPr sz="1275" b="1">
                <a:solidFill>
                  <a:srgbClr val="172033"/>
                </a:solidFill>
                <a:latin typeface="Aptos"/>
                <a:ea typeface="Aptos"/>
                <a:cs typeface="Aptos"/>
              </a:rPr>
              <a:t>Workflow</a:t>
            </a:r>
          </a:p>
        </p:txBody>
      </p:sp>
      <p:sp>
        <p:nvSpPr>
          <p:cNvPr id="10" name="">
            <a:extLst xmlns:a="http://schemas.openxmlformats.org/drawingml/2006/main">
              <a:ext uri="{FF2B5EF4-FFF2-40B4-BE49-F238E27FC236}">
                <a16:creationId xmlns:a16="http://schemas.microsoft.com/office/drawing/2014/main" id="{7400B804-D30D-4041-810D-12EEF681F36D}"/>
              </a:ext>
            </a:extLst>
          </p:cNvPr>
          <p:cNvSpPr>
            <a:spLocks xmlns:a="http://schemas.openxmlformats.org/drawingml/2006/main" noGrp="1"/>
          </p:cNvSpPr>
          <p:nvPr/>
        </p:nvSpPr>
        <p:spPr>
          <a:xfrm xmlns:a="http://schemas.openxmlformats.org/drawingml/2006/main">
            <a:off x="1257300" y="2743200"/>
            <a:ext cx="4057650" cy="16383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38" b="0">
                <a:solidFill>
                  <a:srgbClr val="526179"/>
                </a:solidFill>
                <a:latin typeface="Aptos"/>
                <a:ea typeface="Aptos"/>
                <a:cs typeface="Aptos"/>
              </a:defRPr>
            </a:pPr>
            <a:r>
              <a:rPr sz="938" b="0">
                <a:solidFill>
                  <a:srgbClr val="526179"/>
                </a:solidFill>
                <a:latin typeface="Aptos"/>
                <a:ea typeface="Aptos"/>
                <a:cs typeface="Aptos"/>
              </a:rPr>
              <a:t>Predefined code path orchestrates model and tools. Great for repeatable, auditable processes.</a:t>
            </a:r>
          </a:p>
        </p:txBody>
      </p:sp>
      <p:sp>
        <p:nvSpPr>
          <p:cNvPr id="11" name="">
            <a:extLst xmlns:a="http://schemas.openxmlformats.org/drawingml/2006/main">
              <a:ext uri="{FF2B5EF4-FFF2-40B4-BE49-F238E27FC236}">
                <a16:creationId xmlns:a16="http://schemas.microsoft.com/office/drawing/2014/main" id="{BF5E2ED4-3767-4AC7-86B2-3375DB8DA674}"/>
              </a:ext>
            </a:extLst>
          </p:cNvPr>
          <p:cNvSpPr>
            <a:spLocks xmlns:a="http://schemas.openxmlformats.org/drawingml/2006/main" noGrp="1"/>
          </p:cNvSpPr>
          <p:nvPr/>
        </p:nvSpPr>
        <p:spPr>
          <a:xfrm xmlns:a="http://schemas.openxmlformats.org/drawingml/2006/main">
            <a:off x="6667500" y="2190750"/>
            <a:ext cx="4476750" cy="2381250"/>
          </a:xfrm>
          <a:prstGeom xmlns:a="http://schemas.openxmlformats.org/drawingml/2006/main" prst="rect">
            <a:avLst/>
          </a:prstGeom>
          <a:solidFill xmlns:a="http://schemas.openxmlformats.org/drawingml/2006/main">
            <a:srgbClr val="FFFFFF"/>
          </a:solidFill>
          <a:ln xmlns:a="http://schemas.openxmlformats.org/drawingml/2006/main" w="9525">
            <a:solidFill>
              <a:srgbClr val="D8E0EA"/>
            </a:solidFill>
          </a:ln>
        </p:spPr>
      </p:sp>
      <p:sp>
        <p:nvSpPr>
          <p:cNvPr id="12" name="">
            <a:extLst xmlns:a="http://schemas.openxmlformats.org/drawingml/2006/main">
              <a:ext uri="{FF2B5EF4-FFF2-40B4-BE49-F238E27FC236}">
                <a16:creationId xmlns:a16="http://schemas.microsoft.com/office/drawing/2014/main" id="{C0BCA172-5004-474A-B922-AE8B4E0576D4}"/>
              </a:ext>
            </a:extLst>
          </p:cNvPr>
          <p:cNvSpPr>
            <a:spLocks xmlns:a="http://schemas.openxmlformats.org/drawingml/2006/main" noGrp="1"/>
          </p:cNvSpPr>
          <p:nvPr/>
        </p:nvSpPr>
        <p:spPr>
          <a:xfrm xmlns:a="http://schemas.openxmlformats.org/drawingml/2006/main">
            <a:off x="6667500" y="2190750"/>
            <a:ext cx="47625" cy="2381250"/>
          </a:xfrm>
          <a:prstGeom xmlns:a="http://schemas.openxmlformats.org/drawingml/2006/main" prst="rect">
            <a:avLst/>
          </a:prstGeom>
          <a:solidFill xmlns:a="http://schemas.openxmlformats.org/drawingml/2006/main">
            <a:srgbClr val="0E9F9A"/>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79E7A76A-EFD2-4E9D-806C-3A88884BB30C}"/>
              </a:ext>
            </a:extLst>
          </p:cNvPr>
          <p:cNvSpPr>
            <a:spLocks xmlns:a="http://schemas.openxmlformats.org/drawingml/2006/main" noGrp="1"/>
          </p:cNvSpPr>
          <p:nvPr/>
        </p:nvSpPr>
        <p:spPr>
          <a:xfrm xmlns:a="http://schemas.openxmlformats.org/drawingml/2006/main">
            <a:off x="6877050" y="2400300"/>
            <a:ext cx="40576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172033"/>
                </a:solidFill>
                <a:latin typeface="Aptos"/>
                <a:ea typeface="Aptos"/>
                <a:cs typeface="Aptos"/>
              </a:defRPr>
            </a:pPr>
            <a:r>
              <a:rPr sz="1275" b="1">
                <a:solidFill>
                  <a:srgbClr val="172033"/>
                </a:solidFill>
                <a:latin typeface="Aptos"/>
                <a:ea typeface="Aptos"/>
                <a:cs typeface="Aptos"/>
              </a:rPr>
              <a:t>Agent</a:t>
            </a:r>
          </a:p>
        </p:txBody>
      </p:sp>
      <p:sp>
        <p:nvSpPr>
          <p:cNvPr id="14" name="">
            <a:extLst xmlns:a="http://schemas.openxmlformats.org/drawingml/2006/main">
              <a:ext uri="{FF2B5EF4-FFF2-40B4-BE49-F238E27FC236}">
                <a16:creationId xmlns:a16="http://schemas.microsoft.com/office/drawing/2014/main" id="{B077DCA4-E4DD-4FCB-A967-AC0A413BFC31}"/>
              </a:ext>
            </a:extLst>
          </p:cNvPr>
          <p:cNvSpPr>
            <a:spLocks xmlns:a="http://schemas.openxmlformats.org/drawingml/2006/main" noGrp="1"/>
          </p:cNvSpPr>
          <p:nvPr/>
        </p:nvSpPr>
        <p:spPr>
          <a:xfrm xmlns:a="http://schemas.openxmlformats.org/drawingml/2006/main">
            <a:off x="6877050" y="2743200"/>
            <a:ext cx="4057650" cy="16383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38" b="0">
                <a:solidFill>
                  <a:srgbClr val="526179"/>
                </a:solidFill>
                <a:latin typeface="Aptos"/>
                <a:ea typeface="Aptos"/>
                <a:cs typeface="Aptos"/>
              </a:defRPr>
            </a:pPr>
            <a:r>
              <a:rPr sz="938" b="0">
                <a:solidFill>
                  <a:srgbClr val="526179"/>
                </a:solidFill>
                <a:latin typeface="Aptos"/>
                <a:ea typeface="Aptos"/>
                <a:cs typeface="Aptos"/>
              </a:rPr>
              <a:t>Model dynamically chooses process and tool use. Great for ambiguous tasks that need exploration.</a:t>
            </a:r>
          </a:p>
        </p:txBody>
      </p:sp>
      <p:sp>
        <p:nvSpPr>
          <p:cNvPr id="15" name="">
            <a:extLst xmlns:a="http://schemas.openxmlformats.org/drawingml/2006/main">
              <a:ext uri="{FF2B5EF4-FFF2-40B4-BE49-F238E27FC236}">
                <a16:creationId xmlns:a16="http://schemas.microsoft.com/office/drawing/2014/main" id="{244B977C-2BB9-46D4-A418-D29713B8D656}"/>
              </a:ext>
            </a:extLst>
          </p:cNvPr>
          <p:cNvSpPr>
            <a:spLocks xmlns:a="http://schemas.openxmlformats.org/drawingml/2006/main" noGrp="1"/>
          </p:cNvSpPr>
          <p:nvPr/>
        </p:nvSpPr>
        <p:spPr>
          <a:xfrm xmlns:a="http://schemas.openxmlformats.org/drawingml/2006/main">
            <a:off x="1714500" y="5429250"/>
            <a:ext cx="8763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575" b="1">
                <a:solidFill>
                  <a:srgbClr val="172033"/>
                </a:solidFill>
                <a:latin typeface="Aptos"/>
                <a:ea typeface="Aptos"/>
                <a:cs typeface="Aptos"/>
              </a:defRPr>
            </a:pPr>
            <a:r>
              <a:rPr sz="1575" b="1">
                <a:solidFill>
                  <a:srgbClr val="172033"/>
                </a:solidFill>
                <a:latin typeface="Aptos"/>
                <a:ea typeface="Aptos"/>
                <a:cs typeface="Aptos"/>
              </a:rPr>
              <a:t>Use workflows when the path is known. Use agents when discovery is part of the job.</a:t>
            </a:r>
          </a:p>
        </p:txBody>
      </p:sp>
    </p:spTree>
    <p:extLst>
      <p:ext uri="{BB962C8B-B14F-4D97-AF65-F5344CB8AC3E}">
        <p14:creationId xmlns:p14="http://schemas.microsoft.com/office/powerpoint/2010/main" val="1510310924"/>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EF3C473-1778-41EF-ACAA-27F0115A977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6F8F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5F316EB-8808-41EA-B5BD-6953B56CF4AD}"/>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9F9A"/>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313E9D2-F7D2-45CA-A3C0-AD202DCFA5CF}"/>
              </a:ext>
            </a:extLst>
          </p:cNvPr>
          <p:cNvSpPr>
            <a:spLocks xmlns:a="http://schemas.openxmlformats.org/drawingml/2006/main" noGrp="1"/>
          </p:cNvSpPr>
          <p:nvPr/>
        </p:nvSpPr>
        <p:spPr>
          <a:xfrm xmlns:a="http://schemas.openxmlformats.org/drawingml/2006/main">
            <a:off x="514350" y="400050"/>
            <a:ext cx="5143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788" b="1">
                <a:solidFill>
                  <a:srgbClr val="0E9F9A"/>
                </a:solidFill>
                <a:latin typeface="Aptos"/>
                <a:ea typeface="Aptos"/>
                <a:cs typeface="Aptos"/>
              </a:defRPr>
            </a:pPr>
            <a:r>
              <a:rPr sz="788" b="1">
                <a:solidFill>
                  <a:srgbClr val="0E9F9A"/>
                </a:solidFill>
                <a:latin typeface="Aptos"/>
                <a:ea typeface="Aptos"/>
                <a:cs typeface="Aptos"/>
              </a:rPr>
              <a:t>IDE AGENT MODES</a:t>
            </a:r>
          </a:p>
        </p:txBody>
      </p:sp>
      <p:sp>
        <p:nvSpPr>
          <p:cNvPr id="4" name="">
            <a:extLst xmlns:a="http://schemas.openxmlformats.org/drawingml/2006/main">
              <a:ext uri="{FF2B5EF4-FFF2-40B4-BE49-F238E27FC236}">
                <a16:creationId xmlns:a16="http://schemas.microsoft.com/office/drawing/2014/main" id="{88886F91-428C-49EA-8982-D5C10F3B32E9}"/>
              </a:ext>
            </a:extLst>
          </p:cNvPr>
          <p:cNvSpPr>
            <a:spLocks xmlns:a="http://schemas.openxmlformats.org/drawingml/2006/main" noGrp="1"/>
          </p:cNvSpPr>
          <p:nvPr/>
        </p:nvSpPr>
        <p:spPr>
          <a:xfrm xmlns:a="http://schemas.openxmlformats.org/drawingml/2006/main">
            <a:off x="514350" y="685800"/>
            <a:ext cx="8382000" cy="8763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172033"/>
                </a:solidFill>
                <a:latin typeface="Aptos Display"/>
                <a:ea typeface="Aptos Display"/>
                <a:cs typeface="Aptos Display"/>
              </a:defRPr>
            </a:pPr>
            <a:r>
              <a:rPr sz="2550" b="1">
                <a:solidFill>
                  <a:srgbClr val="172033"/>
                </a:solidFill>
                <a:latin typeface="Aptos Display"/>
                <a:ea typeface="Aptos Display"/>
                <a:cs typeface="Aptos Display"/>
              </a:rPr>
              <a:t>Choose autonomy based on blast radius, not ambition.</a:t>
            </a:r>
          </a:p>
        </p:txBody>
      </p:sp>
      <p:sp>
        <p:nvSpPr>
          <p:cNvPr id="5" name="">
            <a:extLst xmlns:a="http://schemas.openxmlformats.org/drawingml/2006/main">
              <a:ext uri="{FF2B5EF4-FFF2-40B4-BE49-F238E27FC236}">
                <a16:creationId xmlns:a16="http://schemas.microsoft.com/office/drawing/2014/main" id="{A7A8ADC2-98B2-4A02-AB6A-8C444B0843A0}"/>
              </a:ext>
            </a:extLst>
          </p:cNvPr>
          <p:cNvSpPr>
            <a:spLocks xmlns:a="http://schemas.openxmlformats.org/drawingml/2006/main" noGrp="1"/>
          </p:cNvSpPr>
          <p:nvPr/>
        </p:nvSpPr>
        <p:spPr>
          <a:xfrm xmlns:a="http://schemas.openxmlformats.org/drawingml/2006/main">
            <a:off x="514350" y="6515100"/>
            <a:ext cx="88582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638" b="0">
                <a:solidFill>
                  <a:srgbClr val="7B8798"/>
                </a:solidFill>
                <a:latin typeface="Aptos"/>
                <a:ea typeface="Aptos"/>
                <a:cs typeface="Aptos"/>
              </a:defRPr>
            </a:pPr>
            <a:r>
              <a:rPr sz="638" b="0">
                <a:solidFill>
                  <a:srgbClr val="7B8798"/>
                </a:solidFill>
                <a:latin typeface="Aptos"/>
                <a:ea typeface="Aptos"/>
                <a:cs typeface="Aptos"/>
              </a:rPr>
              <a:t>GitHub Docs: Copilot agent sessions</a:t>
            </a:r>
          </a:p>
        </p:txBody>
      </p:sp>
      <p:sp>
        <p:nvSpPr>
          <p:cNvPr id="6" name="">
            <a:extLst xmlns:a="http://schemas.openxmlformats.org/drawingml/2006/main">
              <a:ext uri="{FF2B5EF4-FFF2-40B4-BE49-F238E27FC236}">
                <a16:creationId xmlns:a16="http://schemas.microsoft.com/office/drawing/2014/main" id="{44210979-08EF-43E9-99BA-F0583777298A}"/>
              </a:ext>
            </a:extLst>
          </p:cNvPr>
          <p:cNvSpPr>
            <a:spLocks xmlns:a="http://schemas.openxmlformats.org/drawingml/2006/main" noGrp="1"/>
          </p:cNvSpPr>
          <p:nvPr/>
        </p:nvSpPr>
        <p:spPr>
          <a:xfrm xmlns:a="http://schemas.openxmlformats.org/drawingml/2006/main">
            <a:off x="11239500" y="6477000"/>
            <a:ext cx="4381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r">
              <a:defRPr sz="750" b="1">
                <a:solidFill>
                  <a:srgbClr val="7B8798"/>
                </a:solidFill>
                <a:latin typeface="Aptos"/>
                <a:ea typeface="Aptos"/>
                <a:cs typeface="Aptos"/>
              </a:defRPr>
            </a:pPr>
            <a:r>
              <a:rPr sz="750" b="1">
                <a:solidFill>
                  <a:srgbClr val="7B8798"/>
                </a:solidFill>
                <a:latin typeface="Aptos"/>
                <a:ea typeface="Aptos"/>
                <a:cs typeface="Aptos"/>
              </a:rPr>
              <a:t>10</a:t>
            </a:r>
          </a:p>
        </p:txBody>
      </p:sp>
      <p:sp>
        <p:nvSpPr>
          <p:cNvPr id="7" name="">
            <a:extLst xmlns:a="http://schemas.openxmlformats.org/drawingml/2006/main">
              <a:ext uri="{FF2B5EF4-FFF2-40B4-BE49-F238E27FC236}">
                <a16:creationId xmlns:a16="http://schemas.microsoft.com/office/drawing/2014/main" id="{F2EBB300-8F96-4B14-AE9C-04480A2A34AA}"/>
              </a:ext>
            </a:extLst>
          </p:cNvPr>
          <p:cNvSpPr>
            <a:spLocks xmlns:a="http://schemas.openxmlformats.org/drawingml/2006/main" noGrp="1"/>
          </p:cNvSpPr>
          <p:nvPr/>
        </p:nvSpPr>
        <p:spPr>
          <a:xfrm xmlns:a="http://schemas.openxmlformats.org/drawingml/2006/main">
            <a:off x="838200" y="2095500"/>
            <a:ext cx="45720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8E0EA"/>
            </a:solidFill>
          </a:ln>
        </p:spPr>
      </p:sp>
      <p:sp>
        <p:nvSpPr>
          <p:cNvPr id="8" name="">
            <a:extLst xmlns:a="http://schemas.openxmlformats.org/drawingml/2006/main">
              <a:ext uri="{FF2B5EF4-FFF2-40B4-BE49-F238E27FC236}">
                <a16:creationId xmlns:a16="http://schemas.microsoft.com/office/drawing/2014/main" id="{C562A493-CC2C-416D-89C0-51A3089A9732}"/>
              </a:ext>
            </a:extLst>
          </p:cNvPr>
          <p:cNvSpPr>
            <a:spLocks xmlns:a="http://schemas.openxmlformats.org/drawingml/2006/main" noGrp="1"/>
          </p:cNvSpPr>
          <p:nvPr/>
        </p:nvSpPr>
        <p:spPr>
          <a:xfrm xmlns:a="http://schemas.openxmlformats.org/drawingml/2006/main">
            <a:off x="838200" y="2095500"/>
            <a:ext cx="47625" cy="1066800"/>
          </a:xfrm>
          <a:prstGeom xmlns:a="http://schemas.openxmlformats.org/drawingml/2006/main" prst="rect">
            <a:avLst/>
          </a:prstGeom>
          <a:solidFill xmlns:a="http://schemas.openxmlformats.org/drawingml/2006/main">
            <a:srgbClr val="2563EB"/>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65B3E220-FE51-4A13-BD2D-B4CA193D2138}"/>
              </a:ext>
            </a:extLst>
          </p:cNvPr>
          <p:cNvSpPr>
            <a:spLocks xmlns:a="http://schemas.openxmlformats.org/drawingml/2006/main" noGrp="1"/>
          </p:cNvSpPr>
          <p:nvPr/>
        </p:nvSpPr>
        <p:spPr>
          <a:xfrm xmlns:a="http://schemas.openxmlformats.org/drawingml/2006/main">
            <a:off x="1047750" y="2305050"/>
            <a:ext cx="41529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172033"/>
                </a:solidFill>
                <a:latin typeface="Aptos"/>
                <a:ea typeface="Aptos"/>
                <a:cs typeface="Aptos"/>
              </a:defRPr>
            </a:pPr>
            <a:r>
              <a:rPr sz="1275" b="1">
                <a:solidFill>
                  <a:srgbClr val="172033"/>
                </a:solidFill>
                <a:latin typeface="Aptos"/>
                <a:ea typeface="Aptos"/>
                <a:cs typeface="Aptos"/>
              </a:rPr>
              <a:t>Ask</a:t>
            </a:r>
          </a:p>
        </p:txBody>
      </p:sp>
      <p:sp>
        <p:nvSpPr>
          <p:cNvPr id="10" name="">
            <a:extLst xmlns:a="http://schemas.openxmlformats.org/drawingml/2006/main">
              <a:ext uri="{FF2B5EF4-FFF2-40B4-BE49-F238E27FC236}">
                <a16:creationId xmlns:a16="http://schemas.microsoft.com/office/drawing/2014/main" id="{F43725FC-6545-4EFE-8CA2-2B70098FD40C}"/>
              </a:ext>
            </a:extLst>
          </p:cNvPr>
          <p:cNvSpPr>
            <a:spLocks xmlns:a="http://schemas.openxmlformats.org/drawingml/2006/main" noGrp="1"/>
          </p:cNvSpPr>
          <p:nvPr/>
        </p:nvSpPr>
        <p:spPr>
          <a:xfrm xmlns:a="http://schemas.openxmlformats.org/drawingml/2006/main">
            <a:off x="1047750" y="2647950"/>
            <a:ext cx="41529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38" b="0">
                <a:solidFill>
                  <a:srgbClr val="526179"/>
                </a:solidFill>
                <a:latin typeface="Aptos"/>
                <a:ea typeface="Aptos"/>
                <a:cs typeface="Aptos"/>
              </a:defRPr>
            </a:pPr>
            <a:r>
              <a:rPr sz="938" b="0">
                <a:solidFill>
                  <a:srgbClr val="526179"/>
                </a:solidFill>
                <a:latin typeface="Aptos"/>
                <a:ea typeface="Aptos"/>
                <a:cs typeface="Aptos"/>
              </a:rPr>
              <a:t>Explain, compare, locate, summarize. No edits.</a:t>
            </a:r>
          </a:p>
        </p:txBody>
      </p:sp>
      <p:sp>
        <p:nvSpPr>
          <p:cNvPr id="11" name="">
            <a:extLst xmlns:a="http://schemas.openxmlformats.org/drawingml/2006/main">
              <a:ext uri="{FF2B5EF4-FFF2-40B4-BE49-F238E27FC236}">
                <a16:creationId xmlns:a16="http://schemas.microsoft.com/office/drawing/2014/main" id="{C57F3669-EA41-4CE9-B51C-F70D6A5A11B9}"/>
              </a:ext>
            </a:extLst>
          </p:cNvPr>
          <p:cNvSpPr>
            <a:spLocks xmlns:a="http://schemas.openxmlformats.org/drawingml/2006/main" noGrp="1"/>
          </p:cNvSpPr>
          <p:nvPr/>
        </p:nvSpPr>
        <p:spPr>
          <a:xfrm xmlns:a="http://schemas.openxmlformats.org/drawingml/2006/main">
            <a:off x="6172200" y="2095500"/>
            <a:ext cx="45720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8E0EA"/>
            </a:solidFill>
          </a:ln>
        </p:spPr>
      </p:sp>
      <p:sp>
        <p:nvSpPr>
          <p:cNvPr id="12" name="">
            <a:extLst xmlns:a="http://schemas.openxmlformats.org/drawingml/2006/main">
              <a:ext uri="{FF2B5EF4-FFF2-40B4-BE49-F238E27FC236}">
                <a16:creationId xmlns:a16="http://schemas.microsoft.com/office/drawing/2014/main" id="{D5964A36-B1D8-4CE4-8ABD-08BCCA05B8D8}"/>
              </a:ext>
            </a:extLst>
          </p:cNvPr>
          <p:cNvSpPr>
            <a:spLocks xmlns:a="http://schemas.openxmlformats.org/drawingml/2006/main" noGrp="1"/>
          </p:cNvSpPr>
          <p:nvPr/>
        </p:nvSpPr>
        <p:spPr>
          <a:xfrm xmlns:a="http://schemas.openxmlformats.org/drawingml/2006/main">
            <a:off x="6172200" y="2095500"/>
            <a:ext cx="47625" cy="1066800"/>
          </a:xfrm>
          <a:prstGeom xmlns:a="http://schemas.openxmlformats.org/drawingml/2006/main" prst="rect">
            <a:avLst/>
          </a:prstGeom>
          <a:solidFill xmlns:a="http://schemas.openxmlformats.org/drawingml/2006/main">
            <a:srgbClr val="0E9F9A"/>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BDA70203-C6E9-4810-91A9-8D56845C18FB}"/>
              </a:ext>
            </a:extLst>
          </p:cNvPr>
          <p:cNvSpPr>
            <a:spLocks xmlns:a="http://schemas.openxmlformats.org/drawingml/2006/main" noGrp="1"/>
          </p:cNvSpPr>
          <p:nvPr/>
        </p:nvSpPr>
        <p:spPr>
          <a:xfrm xmlns:a="http://schemas.openxmlformats.org/drawingml/2006/main">
            <a:off x="6381750" y="2305050"/>
            <a:ext cx="41529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172033"/>
                </a:solidFill>
                <a:latin typeface="Aptos"/>
                <a:ea typeface="Aptos"/>
                <a:cs typeface="Aptos"/>
              </a:defRPr>
            </a:pPr>
            <a:r>
              <a:rPr sz="1275" b="1">
                <a:solidFill>
                  <a:srgbClr val="172033"/>
                </a:solidFill>
                <a:latin typeface="Aptos"/>
                <a:ea typeface="Aptos"/>
                <a:cs typeface="Aptos"/>
              </a:rPr>
              <a:t>Edit</a:t>
            </a:r>
          </a:p>
        </p:txBody>
      </p:sp>
      <p:sp>
        <p:nvSpPr>
          <p:cNvPr id="14" name="">
            <a:extLst xmlns:a="http://schemas.openxmlformats.org/drawingml/2006/main">
              <a:ext uri="{FF2B5EF4-FFF2-40B4-BE49-F238E27FC236}">
                <a16:creationId xmlns:a16="http://schemas.microsoft.com/office/drawing/2014/main" id="{C6FE4245-7B6B-452D-91D3-F988BA72A955}"/>
              </a:ext>
            </a:extLst>
          </p:cNvPr>
          <p:cNvSpPr>
            <a:spLocks xmlns:a="http://schemas.openxmlformats.org/drawingml/2006/main" noGrp="1"/>
          </p:cNvSpPr>
          <p:nvPr/>
        </p:nvSpPr>
        <p:spPr>
          <a:xfrm xmlns:a="http://schemas.openxmlformats.org/drawingml/2006/main">
            <a:off x="6381750" y="2647950"/>
            <a:ext cx="41529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38" b="0">
                <a:solidFill>
                  <a:srgbClr val="526179"/>
                </a:solidFill>
                <a:latin typeface="Aptos"/>
                <a:ea typeface="Aptos"/>
                <a:cs typeface="Aptos"/>
              </a:defRPr>
            </a:pPr>
            <a:r>
              <a:rPr sz="938" b="0">
                <a:solidFill>
                  <a:srgbClr val="526179"/>
                </a:solidFill>
                <a:latin typeface="Aptos"/>
                <a:ea typeface="Aptos"/>
                <a:cs typeface="Aptos"/>
              </a:rPr>
              <a:t>Targeted changes in known files. You control the surface.</a:t>
            </a:r>
          </a:p>
        </p:txBody>
      </p:sp>
      <p:sp>
        <p:nvSpPr>
          <p:cNvPr id="15" name="">
            <a:extLst xmlns:a="http://schemas.openxmlformats.org/drawingml/2006/main">
              <a:ext uri="{FF2B5EF4-FFF2-40B4-BE49-F238E27FC236}">
                <a16:creationId xmlns:a16="http://schemas.microsoft.com/office/drawing/2014/main" id="{BD8F6160-9109-4378-952B-F40BB217E80C}"/>
              </a:ext>
            </a:extLst>
          </p:cNvPr>
          <p:cNvSpPr>
            <a:spLocks xmlns:a="http://schemas.openxmlformats.org/drawingml/2006/main" noGrp="1"/>
          </p:cNvSpPr>
          <p:nvPr/>
        </p:nvSpPr>
        <p:spPr>
          <a:xfrm xmlns:a="http://schemas.openxmlformats.org/drawingml/2006/main">
            <a:off x="838200" y="3562350"/>
            <a:ext cx="45720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8E0EA"/>
            </a:solidFill>
          </a:ln>
        </p:spPr>
      </p:sp>
      <p:sp>
        <p:nvSpPr>
          <p:cNvPr id="16" name="">
            <a:extLst xmlns:a="http://schemas.openxmlformats.org/drawingml/2006/main">
              <a:ext uri="{FF2B5EF4-FFF2-40B4-BE49-F238E27FC236}">
                <a16:creationId xmlns:a16="http://schemas.microsoft.com/office/drawing/2014/main" id="{9084EAB2-9497-4971-8F1B-73282D54330B}"/>
              </a:ext>
            </a:extLst>
          </p:cNvPr>
          <p:cNvSpPr>
            <a:spLocks xmlns:a="http://schemas.openxmlformats.org/drawingml/2006/main" noGrp="1"/>
          </p:cNvSpPr>
          <p:nvPr/>
        </p:nvSpPr>
        <p:spPr>
          <a:xfrm xmlns:a="http://schemas.openxmlformats.org/drawingml/2006/main">
            <a:off x="838200" y="3562350"/>
            <a:ext cx="47625" cy="1066800"/>
          </a:xfrm>
          <a:prstGeom xmlns:a="http://schemas.openxmlformats.org/drawingml/2006/main" prst="rect">
            <a:avLst/>
          </a:prstGeom>
          <a:solidFill xmlns:a="http://schemas.openxmlformats.org/drawingml/2006/main">
            <a:srgbClr val="F59E0B"/>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A53FC576-562B-4AD0-B313-ED3B1E9A404F}"/>
              </a:ext>
            </a:extLst>
          </p:cNvPr>
          <p:cNvSpPr>
            <a:spLocks xmlns:a="http://schemas.openxmlformats.org/drawingml/2006/main" noGrp="1"/>
          </p:cNvSpPr>
          <p:nvPr/>
        </p:nvSpPr>
        <p:spPr>
          <a:xfrm xmlns:a="http://schemas.openxmlformats.org/drawingml/2006/main">
            <a:off x="1047750" y="3771900"/>
            <a:ext cx="41529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172033"/>
                </a:solidFill>
                <a:latin typeface="Aptos"/>
                <a:ea typeface="Aptos"/>
                <a:cs typeface="Aptos"/>
              </a:defRPr>
            </a:pPr>
            <a:r>
              <a:rPr sz="1275" b="1">
                <a:solidFill>
                  <a:srgbClr val="172033"/>
                </a:solidFill>
                <a:latin typeface="Aptos"/>
                <a:ea typeface="Aptos"/>
                <a:cs typeface="Aptos"/>
              </a:rPr>
              <a:t>Agent</a:t>
            </a:r>
          </a:p>
        </p:txBody>
      </p:sp>
      <p:sp>
        <p:nvSpPr>
          <p:cNvPr id="18" name="">
            <a:extLst xmlns:a="http://schemas.openxmlformats.org/drawingml/2006/main">
              <a:ext uri="{FF2B5EF4-FFF2-40B4-BE49-F238E27FC236}">
                <a16:creationId xmlns:a16="http://schemas.microsoft.com/office/drawing/2014/main" id="{06FABD10-5160-4F2C-924B-800CE6E64089}"/>
              </a:ext>
            </a:extLst>
          </p:cNvPr>
          <p:cNvSpPr>
            <a:spLocks xmlns:a="http://schemas.openxmlformats.org/drawingml/2006/main" noGrp="1"/>
          </p:cNvSpPr>
          <p:nvPr/>
        </p:nvSpPr>
        <p:spPr>
          <a:xfrm xmlns:a="http://schemas.openxmlformats.org/drawingml/2006/main">
            <a:off x="1047750" y="4114800"/>
            <a:ext cx="41529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38" b="0">
                <a:solidFill>
                  <a:srgbClr val="526179"/>
                </a:solidFill>
                <a:latin typeface="Aptos"/>
                <a:ea typeface="Aptos"/>
                <a:cs typeface="Aptos"/>
              </a:defRPr>
            </a:pPr>
            <a:r>
              <a:rPr sz="938" b="0">
                <a:solidFill>
                  <a:srgbClr val="526179"/>
                </a:solidFill>
                <a:latin typeface="Aptos"/>
                <a:ea typeface="Aptos"/>
                <a:cs typeface="Aptos"/>
              </a:rPr>
              <a:t>Multi-file work with search, commands, tests, and iteration.</a:t>
            </a:r>
          </a:p>
        </p:txBody>
      </p:sp>
      <p:sp>
        <p:nvSpPr>
          <p:cNvPr id="19" name="">
            <a:extLst xmlns:a="http://schemas.openxmlformats.org/drawingml/2006/main">
              <a:ext uri="{FF2B5EF4-FFF2-40B4-BE49-F238E27FC236}">
                <a16:creationId xmlns:a16="http://schemas.microsoft.com/office/drawing/2014/main" id="{623EF4FB-2DBE-49C0-BFB0-F6D92ABF735D}"/>
              </a:ext>
            </a:extLst>
          </p:cNvPr>
          <p:cNvSpPr>
            <a:spLocks xmlns:a="http://schemas.openxmlformats.org/drawingml/2006/main" noGrp="1"/>
          </p:cNvSpPr>
          <p:nvPr/>
        </p:nvSpPr>
        <p:spPr>
          <a:xfrm xmlns:a="http://schemas.openxmlformats.org/drawingml/2006/main">
            <a:off x="6172200" y="3562350"/>
            <a:ext cx="45720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8E0EA"/>
            </a:solidFill>
          </a:ln>
        </p:spPr>
      </p:sp>
      <p:sp>
        <p:nvSpPr>
          <p:cNvPr id="20" name="">
            <a:extLst xmlns:a="http://schemas.openxmlformats.org/drawingml/2006/main">
              <a:ext uri="{FF2B5EF4-FFF2-40B4-BE49-F238E27FC236}">
                <a16:creationId xmlns:a16="http://schemas.microsoft.com/office/drawing/2014/main" id="{CFCCEDB1-5161-4846-8E0C-470C34F6D8DA}"/>
              </a:ext>
            </a:extLst>
          </p:cNvPr>
          <p:cNvSpPr>
            <a:spLocks xmlns:a="http://schemas.openxmlformats.org/drawingml/2006/main" noGrp="1"/>
          </p:cNvSpPr>
          <p:nvPr/>
        </p:nvSpPr>
        <p:spPr>
          <a:xfrm xmlns:a="http://schemas.openxmlformats.org/drawingml/2006/main">
            <a:off x="6172200" y="3562350"/>
            <a:ext cx="47625" cy="1066800"/>
          </a:xfrm>
          <a:prstGeom xmlns:a="http://schemas.openxmlformats.org/drawingml/2006/main" prst="rect">
            <a:avLst/>
          </a:prstGeom>
          <a:solidFill xmlns:a="http://schemas.openxmlformats.org/drawingml/2006/main">
            <a:srgbClr val="7C3AED"/>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C24567AD-0082-4767-8C0C-F3906CD2F20E}"/>
              </a:ext>
            </a:extLst>
          </p:cNvPr>
          <p:cNvSpPr>
            <a:spLocks xmlns:a="http://schemas.openxmlformats.org/drawingml/2006/main" noGrp="1"/>
          </p:cNvSpPr>
          <p:nvPr/>
        </p:nvSpPr>
        <p:spPr>
          <a:xfrm xmlns:a="http://schemas.openxmlformats.org/drawingml/2006/main">
            <a:off x="6381750" y="3771900"/>
            <a:ext cx="41529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172033"/>
                </a:solidFill>
                <a:latin typeface="Aptos"/>
                <a:ea typeface="Aptos"/>
                <a:cs typeface="Aptos"/>
              </a:defRPr>
            </a:pPr>
            <a:r>
              <a:rPr sz="1275" b="1">
                <a:solidFill>
                  <a:srgbClr val="172033"/>
                </a:solidFill>
                <a:latin typeface="Aptos"/>
                <a:ea typeface="Aptos"/>
                <a:cs typeface="Aptos"/>
              </a:rPr>
              <a:t>Plan / Autopilot</a:t>
            </a:r>
          </a:p>
        </p:txBody>
      </p:sp>
      <p:sp>
        <p:nvSpPr>
          <p:cNvPr id="22" name="">
            <a:extLst xmlns:a="http://schemas.openxmlformats.org/drawingml/2006/main">
              <a:ext uri="{FF2B5EF4-FFF2-40B4-BE49-F238E27FC236}">
                <a16:creationId xmlns:a16="http://schemas.microsoft.com/office/drawing/2014/main" id="{64388304-C8BF-4547-A3DB-8A4E96946BE9}"/>
              </a:ext>
            </a:extLst>
          </p:cNvPr>
          <p:cNvSpPr>
            <a:spLocks xmlns:a="http://schemas.openxmlformats.org/drawingml/2006/main" noGrp="1"/>
          </p:cNvSpPr>
          <p:nvPr/>
        </p:nvSpPr>
        <p:spPr>
          <a:xfrm xmlns:a="http://schemas.openxmlformats.org/drawingml/2006/main">
            <a:off x="6381750" y="4114800"/>
            <a:ext cx="41529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38" b="0">
                <a:solidFill>
                  <a:srgbClr val="526179"/>
                </a:solidFill>
                <a:latin typeface="Aptos"/>
                <a:ea typeface="Aptos"/>
                <a:cs typeface="Aptos"/>
              </a:defRPr>
            </a:pPr>
            <a:r>
              <a:rPr sz="938" b="0">
                <a:solidFill>
                  <a:srgbClr val="526179"/>
                </a:solidFill>
                <a:latin typeface="Aptos"/>
                <a:ea typeface="Aptos"/>
                <a:cs typeface="Aptos"/>
              </a:rPr>
              <a:t>Plan when scope is uncertain. Autopilot only when the task is bounded and tests are clear.</a:t>
            </a:r>
          </a:p>
        </p:txBody>
      </p:sp>
      <p:sp>
        <p:nvSpPr>
          <p:cNvPr id="23" name="">
            <a:extLst xmlns:a="http://schemas.openxmlformats.org/drawingml/2006/main">
              <a:ext uri="{FF2B5EF4-FFF2-40B4-BE49-F238E27FC236}">
                <a16:creationId xmlns:a16="http://schemas.microsoft.com/office/drawing/2014/main" id="{8902E874-54E6-4911-9F11-4469702E4030}"/>
              </a:ext>
            </a:extLst>
          </p:cNvPr>
          <p:cNvSpPr>
            <a:spLocks xmlns:a="http://schemas.openxmlformats.org/drawingml/2006/main" noGrp="1"/>
          </p:cNvSpPr>
          <p:nvPr/>
        </p:nvSpPr>
        <p:spPr>
          <a:xfrm xmlns:a="http://schemas.openxmlformats.org/drawingml/2006/main">
            <a:off x="2438400" y="5572125"/>
            <a:ext cx="7239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575" b="1">
                <a:solidFill>
                  <a:srgbClr val="172033"/>
                </a:solidFill>
                <a:latin typeface="Aptos"/>
                <a:ea typeface="Aptos"/>
                <a:cs typeface="Aptos"/>
              </a:defRPr>
            </a:pPr>
            <a:r>
              <a:rPr sz="1575" b="1">
                <a:solidFill>
                  <a:srgbClr val="172033"/>
                </a:solidFill>
                <a:latin typeface="Aptos"/>
                <a:ea typeface="Aptos"/>
                <a:cs typeface="Aptos"/>
              </a:rPr>
              <a:t>More autonomy means more need for tests, permissions, and review.</a:t>
            </a:r>
          </a:p>
        </p:txBody>
      </p:sp>
    </p:spTree>
    <p:extLst>
      <p:ext uri="{BB962C8B-B14F-4D97-AF65-F5344CB8AC3E}">
        <p14:creationId xmlns:p14="http://schemas.microsoft.com/office/powerpoint/2010/main" val="852775672"/>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E6D3884-B5B7-439D-83CB-D266A5543D9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6F8F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8F4CEC8-5303-496F-89B4-218D3CF98B95}"/>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9F9A"/>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B3FD26F-7B3F-4C48-8B1A-531D188BCE25}"/>
              </a:ext>
            </a:extLst>
          </p:cNvPr>
          <p:cNvSpPr>
            <a:spLocks xmlns:a="http://schemas.openxmlformats.org/drawingml/2006/main" noGrp="1"/>
          </p:cNvSpPr>
          <p:nvPr/>
        </p:nvSpPr>
        <p:spPr>
          <a:xfrm xmlns:a="http://schemas.openxmlformats.org/drawingml/2006/main">
            <a:off x="514350" y="400050"/>
            <a:ext cx="5143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788" b="1">
                <a:solidFill>
                  <a:srgbClr val="0E9F9A"/>
                </a:solidFill>
                <a:latin typeface="Aptos"/>
                <a:ea typeface="Aptos"/>
                <a:cs typeface="Aptos"/>
              </a:defRPr>
            </a:pPr>
            <a:r>
              <a:rPr sz="788" b="1">
                <a:solidFill>
                  <a:srgbClr val="0E9F9A"/>
                </a:solidFill>
                <a:latin typeface="Aptos"/>
                <a:ea typeface="Aptos"/>
                <a:cs typeface="Aptos"/>
              </a:rPr>
              <a:t>TASK SELECTION</a:t>
            </a:r>
          </a:p>
        </p:txBody>
      </p:sp>
      <p:sp>
        <p:nvSpPr>
          <p:cNvPr id="4" name="">
            <a:extLst xmlns:a="http://schemas.openxmlformats.org/drawingml/2006/main">
              <a:ext uri="{FF2B5EF4-FFF2-40B4-BE49-F238E27FC236}">
                <a16:creationId xmlns:a16="http://schemas.microsoft.com/office/drawing/2014/main" id="{BAB5252B-CF34-4B7C-AED8-BBAA74A6F8A4}"/>
              </a:ext>
            </a:extLst>
          </p:cNvPr>
          <p:cNvSpPr>
            <a:spLocks xmlns:a="http://schemas.openxmlformats.org/drawingml/2006/main" noGrp="1"/>
          </p:cNvSpPr>
          <p:nvPr/>
        </p:nvSpPr>
        <p:spPr>
          <a:xfrm xmlns:a="http://schemas.openxmlformats.org/drawingml/2006/main">
            <a:off x="514350" y="685800"/>
            <a:ext cx="8382000" cy="8763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172033"/>
                </a:solidFill>
                <a:latin typeface="Aptos Display"/>
                <a:ea typeface="Aptos Display"/>
                <a:cs typeface="Aptos Display"/>
              </a:defRPr>
            </a:pPr>
            <a:r>
              <a:rPr sz="2550" b="1">
                <a:solidFill>
                  <a:srgbClr val="172033"/>
                </a:solidFill>
                <a:latin typeface="Aptos Display"/>
                <a:ea typeface="Aptos Display"/>
                <a:cs typeface="Aptos Display"/>
              </a:rPr>
              <a:t>Agents shine on bounded, inspectable work.</a:t>
            </a:r>
          </a:p>
        </p:txBody>
      </p:sp>
      <p:sp>
        <p:nvSpPr>
          <p:cNvPr id="5" name="">
            <a:extLst xmlns:a="http://schemas.openxmlformats.org/drawingml/2006/main">
              <a:ext uri="{FF2B5EF4-FFF2-40B4-BE49-F238E27FC236}">
                <a16:creationId xmlns:a16="http://schemas.microsoft.com/office/drawing/2014/main" id="{88466168-C19C-4899-88CC-037987042EF2}"/>
              </a:ext>
            </a:extLst>
          </p:cNvPr>
          <p:cNvSpPr>
            <a:spLocks xmlns:a="http://schemas.openxmlformats.org/drawingml/2006/main" noGrp="1"/>
          </p:cNvSpPr>
          <p:nvPr/>
        </p:nvSpPr>
        <p:spPr>
          <a:xfrm xmlns:a="http://schemas.openxmlformats.org/drawingml/2006/main">
            <a:off x="514350" y="6515100"/>
            <a:ext cx="88582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638" b="0">
                <a:solidFill>
                  <a:srgbClr val="7B8798"/>
                </a:solidFill>
                <a:latin typeface="Aptos"/>
                <a:ea typeface="Aptos"/>
                <a:cs typeface="Aptos"/>
              </a:defRPr>
            </a:pPr>
            <a:r>
              <a:rPr sz="638" b="0">
                <a:solidFill>
                  <a:srgbClr val="7B8798"/>
                </a:solidFill>
                <a:latin typeface="Aptos"/>
                <a:ea typeface="Aptos"/>
                <a:cs typeface="Aptos"/>
              </a:rPr>
              <a:t>101 AI Basics for Developers</a:t>
            </a:r>
          </a:p>
        </p:txBody>
      </p:sp>
      <p:sp>
        <p:nvSpPr>
          <p:cNvPr id="6" name="">
            <a:extLst xmlns:a="http://schemas.openxmlformats.org/drawingml/2006/main">
              <a:ext uri="{FF2B5EF4-FFF2-40B4-BE49-F238E27FC236}">
                <a16:creationId xmlns:a16="http://schemas.microsoft.com/office/drawing/2014/main" id="{688269EB-C133-423A-94CB-3E70CBD22114}"/>
              </a:ext>
            </a:extLst>
          </p:cNvPr>
          <p:cNvSpPr>
            <a:spLocks xmlns:a="http://schemas.openxmlformats.org/drawingml/2006/main" noGrp="1"/>
          </p:cNvSpPr>
          <p:nvPr/>
        </p:nvSpPr>
        <p:spPr>
          <a:xfrm xmlns:a="http://schemas.openxmlformats.org/drawingml/2006/main">
            <a:off x="11239500" y="6477000"/>
            <a:ext cx="4381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r">
              <a:defRPr sz="750" b="1">
                <a:solidFill>
                  <a:srgbClr val="7B8798"/>
                </a:solidFill>
                <a:latin typeface="Aptos"/>
                <a:ea typeface="Aptos"/>
                <a:cs typeface="Aptos"/>
              </a:defRPr>
            </a:pPr>
            <a:r>
              <a:rPr sz="750" b="1">
                <a:solidFill>
                  <a:srgbClr val="7B8798"/>
                </a:solidFill>
                <a:latin typeface="Aptos"/>
                <a:ea typeface="Aptos"/>
                <a:cs typeface="Aptos"/>
              </a:rPr>
              <a:t>11</a:t>
            </a:r>
          </a:p>
        </p:txBody>
      </p:sp>
      <p:sp>
        <p:nvSpPr>
          <p:cNvPr id="7" name="">
            <a:extLst xmlns:a="http://schemas.openxmlformats.org/drawingml/2006/main">
              <a:ext uri="{FF2B5EF4-FFF2-40B4-BE49-F238E27FC236}">
                <a16:creationId xmlns:a16="http://schemas.microsoft.com/office/drawing/2014/main" id="{740DA273-41C1-493E-A81D-401E90F67851}"/>
              </a:ext>
            </a:extLst>
          </p:cNvPr>
          <p:cNvSpPr>
            <a:spLocks xmlns:a="http://schemas.openxmlformats.org/drawingml/2006/main" noGrp="1"/>
          </p:cNvSpPr>
          <p:nvPr/>
        </p:nvSpPr>
        <p:spPr>
          <a:xfrm xmlns:a="http://schemas.openxmlformats.org/drawingml/2006/main">
            <a:off x="1257300" y="1952625"/>
            <a:ext cx="2857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16A34A"/>
                </a:solidFill>
                <a:latin typeface="Aptos"/>
                <a:ea typeface="Aptos"/>
                <a:cs typeface="Aptos"/>
              </a:defRPr>
            </a:pPr>
            <a:r>
              <a:rPr sz="1800" b="1">
                <a:solidFill>
                  <a:srgbClr val="16A34A"/>
                </a:solidFill>
                <a:latin typeface="Aptos"/>
                <a:ea typeface="Aptos"/>
                <a:cs typeface="Aptos"/>
              </a:rPr>
              <a:t>Good fit</a:t>
            </a:r>
          </a:p>
        </p:txBody>
      </p:sp>
      <p:sp>
        <p:nvSpPr>
          <p:cNvPr id="8" name="">
            <a:extLst xmlns:a="http://schemas.openxmlformats.org/drawingml/2006/main">
              <a:ext uri="{FF2B5EF4-FFF2-40B4-BE49-F238E27FC236}">
                <a16:creationId xmlns:a16="http://schemas.microsoft.com/office/drawing/2014/main" id="{5641DB77-DC87-4B10-9C3F-FBF3CDF77C60}"/>
              </a:ext>
            </a:extLst>
          </p:cNvPr>
          <p:cNvSpPr>
            <a:spLocks xmlns:a="http://schemas.openxmlformats.org/drawingml/2006/main" noGrp="1"/>
          </p:cNvSpPr>
          <p:nvPr/>
        </p:nvSpPr>
        <p:spPr>
          <a:xfrm xmlns:a="http://schemas.openxmlformats.org/drawingml/2006/main">
            <a:off x="6858000" y="1952625"/>
            <a:ext cx="2857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DC2626"/>
                </a:solidFill>
                <a:latin typeface="Aptos"/>
                <a:ea typeface="Aptos"/>
                <a:cs typeface="Aptos"/>
              </a:defRPr>
            </a:pPr>
            <a:r>
              <a:rPr sz="1800" b="1">
                <a:solidFill>
                  <a:srgbClr val="DC2626"/>
                </a:solidFill>
                <a:latin typeface="Aptos"/>
                <a:ea typeface="Aptos"/>
                <a:cs typeface="Aptos"/>
              </a:rPr>
              <a:t>Bad fit</a:t>
            </a:r>
          </a:p>
        </p:txBody>
      </p:sp>
      <p:sp>
        <p:nvSpPr>
          <p:cNvPr id="9" name="">
            <a:extLst xmlns:a="http://schemas.openxmlformats.org/drawingml/2006/main">
              <a:ext uri="{FF2B5EF4-FFF2-40B4-BE49-F238E27FC236}">
                <a16:creationId xmlns:a16="http://schemas.microsoft.com/office/drawing/2014/main" id="{2862BD8E-2DB3-4BEB-9E97-077E813F81B5}"/>
              </a:ext>
            </a:extLst>
          </p:cNvPr>
          <p:cNvSpPr>
            <a:spLocks xmlns:a="http://schemas.openxmlformats.org/drawingml/2006/main" noGrp="1"/>
          </p:cNvSpPr>
          <p:nvPr/>
        </p:nvSpPr>
        <p:spPr>
          <a:xfrm xmlns:a="http://schemas.openxmlformats.org/drawingml/2006/main">
            <a:off x="1047750" y="2400300"/>
            <a:ext cx="4238625"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D8E0EA"/>
            </a:solidFill>
          </a:ln>
        </p:spPr>
      </p:sp>
      <p:sp>
        <p:nvSpPr>
          <p:cNvPr id="10" name="">
            <a:extLst xmlns:a="http://schemas.openxmlformats.org/drawingml/2006/main">
              <a:ext uri="{FF2B5EF4-FFF2-40B4-BE49-F238E27FC236}">
                <a16:creationId xmlns:a16="http://schemas.microsoft.com/office/drawing/2014/main" id="{671E7E0B-0590-4586-904D-5EE387A74124}"/>
              </a:ext>
            </a:extLst>
          </p:cNvPr>
          <p:cNvSpPr>
            <a:spLocks xmlns:a="http://schemas.openxmlformats.org/drawingml/2006/main" noGrp="1"/>
          </p:cNvSpPr>
          <p:nvPr/>
        </p:nvSpPr>
        <p:spPr>
          <a:xfrm xmlns:a="http://schemas.openxmlformats.org/drawingml/2006/main">
            <a:off x="1047750" y="2400300"/>
            <a:ext cx="47625" cy="552450"/>
          </a:xfrm>
          <a:prstGeom xmlns:a="http://schemas.openxmlformats.org/drawingml/2006/main" prst="rect">
            <a:avLst/>
          </a:prstGeom>
          <a:solidFill xmlns:a="http://schemas.openxmlformats.org/drawingml/2006/main">
            <a:srgbClr val="16A34A"/>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476EA21F-1128-4669-93D7-78CCBD414F5D}"/>
              </a:ext>
            </a:extLst>
          </p:cNvPr>
          <p:cNvSpPr>
            <a:spLocks xmlns:a="http://schemas.openxmlformats.org/drawingml/2006/main" noGrp="1"/>
          </p:cNvSpPr>
          <p:nvPr/>
        </p:nvSpPr>
        <p:spPr>
          <a:xfrm xmlns:a="http://schemas.openxmlformats.org/drawingml/2006/main">
            <a:off x="1276350" y="2562225"/>
            <a:ext cx="4381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72033"/>
                </a:solidFill>
                <a:latin typeface="Aptos"/>
                <a:ea typeface="Aptos"/>
                <a:cs typeface="Aptos"/>
              </a:defRPr>
            </a:pPr>
            <a:r>
              <a:rPr sz="1125" b="1">
                <a:solidFill>
                  <a:srgbClr val="172033"/>
                </a:solidFill>
                <a:latin typeface="Aptos"/>
                <a:ea typeface="Aptos"/>
                <a:cs typeface="Aptos"/>
              </a:rPr>
              <a:t>01</a:t>
            </a:r>
          </a:p>
        </p:txBody>
      </p:sp>
      <p:sp>
        <p:nvSpPr>
          <p:cNvPr id="12" name="">
            <a:extLst xmlns:a="http://schemas.openxmlformats.org/drawingml/2006/main">
              <a:ext uri="{FF2B5EF4-FFF2-40B4-BE49-F238E27FC236}">
                <a16:creationId xmlns:a16="http://schemas.microsoft.com/office/drawing/2014/main" id="{FE086563-B6EE-43E5-BDA7-25D413402AD8}"/>
              </a:ext>
            </a:extLst>
          </p:cNvPr>
          <p:cNvSpPr>
            <a:spLocks xmlns:a="http://schemas.openxmlformats.org/drawingml/2006/main" noGrp="1"/>
          </p:cNvSpPr>
          <p:nvPr/>
        </p:nvSpPr>
        <p:spPr>
          <a:xfrm xmlns:a="http://schemas.openxmlformats.org/drawingml/2006/main">
            <a:off x="1828800" y="2543175"/>
            <a:ext cx="3190875" cy="2286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38" b="0">
                <a:solidFill>
                  <a:srgbClr val="526179"/>
                </a:solidFill>
                <a:latin typeface="Aptos"/>
                <a:ea typeface="Aptos"/>
                <a:cs typeface="Aptos"/>
              </a:defRPr>
            </a:pPr>
            <a:r>
              <a:rPr sz="938" b="0">
                <a:solidFill>
                  <a:srgbClr val="526179"/>
                </a:solidFill>
                <a:latin typeface="Aptos"/>
                <a:ea typeface="Aptos"/>
                <a:cs typeface="Aptos"/>
              </a:rPr>
              <a:t>Add a small feature with clear acceptance tests</a:t>
            </a:r>
          </a:p>
        </p:txBody>
      </p:sp>
      <p:sp>
        <p:nvSpPr>
          <p:cNvPr id="13" name="">
            <a:extLst xmlns:a="http://schemas.openxmlformats.org/drawingml/2006/main">
              <a:ext uri="{FF2B5EF4-FFF2-40B4-BE49-F238E27FC236}">
                <a16:creationId xmlns:a16="http://schemas.microsoft.com/office/drawing/2014/main" id="{BB2D9A35-40E1-443C-8881-57156FB6AB50}"/>
              </a:ext>
            </a:extLst>
          </p:cNvPr>
          <p:cNvSpPr>
            <a:spLocks xmlns:a="http://schemas.openxmlformats.org/drawingml/2006/main" noGrp="1"/>
          </p:cNvSpPr>
          <p:nvPr/>
        </p:nvSpPr>
        <p:spPr>
          <a:xfrm xmlns:a="http://schemas.openxmlformats.org/drawingml/2006/main">
            <a:off x="1047750" y="3143250"/>
            <a:ext cx="4238625"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D8E0EA"/>
            </a:solidFill>
          </a:ln>
        </p:spPr>
      </p:sp>
      <p:sp>
        <p:nvSpPr>
          <p:cNvPr id="14" name="">
            <a:extLst xmlns:a="http://schemas.openxmlformats.org/drawingml/2006/main">
              <a:ext uri="{FF2B5EF4-FFF2-40B4-BE49-F238E27FC236}">
                <a16:creationId xmlns:a16="http://schemas.microsoft.com/office/drawing/2014/main" id="{9219071F-3D3E-4C53-AD35-1764FA58AC8C}"/>
              </a:ext>
            </a:extLst>
          </p:cNvPr>
          <p:cNvSpPr>
            <a:spLocks xmlns:a="http://schemas.openxmlformats.org/drawingml/2006/main" noGrp="1"/>
          </p:cNvSpPr>
          <p:nvPr/>
        </p:nvSpPr>
        <p:spPr>
          <a:xfrm xmlns:a="http://schemas.openxmlformats.org/drawingml/2006/main">
            <a:off x="1047750" y="3143250"/>
            <a:ext cx="47625" cy="552450"/>
          </a:xfrm>
          <a:prstGeom xmlns:a="http://schemas.openxmlformats.org/drawingml/2006/main" prst="rect">
            <a:avLst/>
          </a:prstGeom>
          <a:solidFill xmlns:a="http://schemas.openxmlformats.org/drawingml/2006/main">
            <a:srgbClr val="16A34A"/>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49DEC7BF-FFBE-403A-8B6A-CD7D8EB42F40}"/>
              </a:ext>
            </a:extLst>
          </p:cNvPr>
          <p:cNvSpPr>
            <a:spLocks xmlns:a="http://schemas.openxmlformats.org/drawingml/2006/main" noGrp="1"/>
          </p:cNvSpPr>
          <p:nvPr/>
        </p:nvSpPr>
        <p:spPr>
          <a:xfrm xmlns:a="http://schemas.openxmlformats.org/drawingml/2006/main">
            <a:off x="1276350" y="3305175"/>
            <a:ext cx="4381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72033"/>
                </a:solidFill>
                <a:latin typeface="Aptos"/>
                <a:ea typeface="Aptos"/>
                <a:cs typeface="Aptos"/>
              </a:defRPr>
            </a:pPr>
            <a:r>
              <a:rPr sz="1125" b="1">
                <a:solidFill>
                  <a:srgbClr val="172033"/>
                </a:solidFill>
                <a:latin typeface="Aptos"/>
                <a:ea typeface="Aptos"/>
                <a:cs typeface="Aptos"/>
              </a:rPr>
              <a:t>02</a:t>
            </a:r>
          </a:p>
        </p:txBody>
      </p:sp>
      <p:sp>
        <p:nvSpPr>
          <p:cNvPr id="16" name="">
            <a:extLst xmlns:a="http://schemas.openxmlformats.org/drawingml/2006/main">
              <a:ext uri="{FF2B5EF4-FFF2-40B4-BE49-F238E27FC236}">
                <a16:creationId xmlns:a16="http://schemas.microsoft.com/office/drawing/2014/main" id="{EAA2C57F-DA85-4D8F-A329-A499A6DCE190}"/>
              </a:ext>
            </a:extLst>
          </p:cNvPr>
          <p:cNvSpPr>
            <a:spLocks xmlns:a="http://schemas.openxmlformats.org/drawingml/2006/main" noGrp="1"/>
          </p:cNvSpPr>
          <p:nvPr/>
        </p:nvSpPr>
        <p:spPr>
          <a:xfrm xmlns:a="http://schemas.openxmlformats.org/drawingml/2006/main">
            <a:off x="1828800" y="3286125"/>
            <a:ext cx="3190875" cy="2286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38" b="0">
                <a:solidFill>
                  <a:srgbClr val="526179"/>
                </a:solidFill>
                <a:latin typeface="Aptos"/>
                <a:ea typeface="Aptos"/>
                <a:cs typeface="Aptos"/>
              </a:defRPr>
            </a:pPr>
            <a:r>
              <a:rPr sz="938" b="0">
                <a:solidFill>
                  <a:srgbClr val="526179"/>
                </a:solidFill>
                <a:latin typeface="Aptos"/>
                <a:ea typeface="Aptos"/>
                <a:cs typeface="Aptos"/>
              </a:rPr>
              <a:t>Trace a bug from log to codepath</a:t>
            </a:r>
          </a:p>
        </p:txBody>
      </p:sp>
      <p:sp>
        <p:nvSpPr>
          <p:cNvPr id="17" name="">
            <a:extLst xmlns:a="http://schemas.openxmlformats.org/drawingml/2006/main">
              <a:ext uri="{FF2B5EF4-FFF2-40B4-BE49-F238E27FC236}">
                <a16:creationId xmlns:a16="http://schemas.microsoft.com/office/drawing/2014/main" id="{D286A1E7-E573-47CE-A520-2652F37ECDD2}"/>
              </a:ext>
            </a:extLst>
          </p:cNvPr>
          <p:cNvSpPr>
            <a:spLocks xmlns:a="http://schemas.openxmlformats.org/drawingml/2006/main" noGrp="1"/>
          </p:cNvSpPr>
          <p:nvPr/>
        </p:nvSpPr>
        <p:spPr>
          <a:xfrm xmlns:a="http://schemas.openxmlformats.org/drawingml/2006/main">
            <a:off x="1047750" y="3886200"/>
            <a:ext cx="4238625"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D8E0EA"/>
            </a:solidFill>
          </a:ln>
        </p:spPr>
      </p:sp>
      <p:sp>
        <p:nvSpPr>
          <p:cNvPr id="18" name="">
            <a:extLst xmlns:a="http://schemas.openxmlformats.org/drawingml/2006/main">
              <a:ext uri="{FF2B5EF4-FFF2-40B4-BE49-F238E27FC236}">
                <a16:creationId xmlns:a16="http://schemas.microsoft.com/office/drawing/2014/main" id="{8B60E64B-0E09-4DB5-B354-DF609660BACB}"/>
              </a:ext>
            </a:extLst>
          </p:cNvPr>
          <p:cNvSpPr>
            <a:spLocks xmlns:a="http://schemas.openxmlformats.org/drawingml/2006/main" noGrp="1"/>
          </p:cNvSpPr>
          <p:nvPr/>
        </p:nvSpPr>
        <p:spPr>
          <a:xfrm xmlns:a="http://schemas.openxmlformats.org/drawingml/2006/main">
            <a:off x="1047750" y="3886200"/>
            <a:ext cx="47625" cy="552450"/>
          </a:xfrm>
          <a:prstGeom xmlns:a="http://schemas.openxmlformats.org/drawingml/2006/main" prst="rect">
            <a:avLst/>
          </a:prstGeom>
          <a:solidFill xmlns:a="http://schemas.openxmlformats.org/drawingml/2006/main">
            <a:srgbClr val="16A34A"/>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6E13D65B-AAB6-4970-A214-B53DDC1A02ED}"/>
              </a:ext>
            </a:extLst>
          </p:cNvPr>
          <p:cNvSpPr>
            <a:spLocks xmlns:a="http://schemas.openxmlformats.org/drawingml/2006/main" noGrp="1"/>
          </p:cNvSpPr>
          <p:nvPr/>
        </p:nvSpPr>
        <p:spPr>
          <a:xfrm xmlns:a="http://schemas.openxmlformats.org/drawingml/2006/main">
            <a:off x="1276350" y="4048125"/>
            <a:ext cx="4381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72033"/>
                </a:solidFill>
                <a:latin typeface="Aptos"/>
                <a:ea typeface="Aptos"/>
                <a:cs typeface="Aptos"/>
              </a:defRPr>
            </a:pPr>
            <a:r>
              <a:rPr sz="1125" b="1">
                <a:solidFill>
                  <a:srgbClr val="172033"/>
                </a:solidFill>
                <a:latin typeface="Aptos"/>
                <a:ea typeface="Aptos"/>
                <a:cs typeface="Aptos"/>
              </a:rPr>
              <a:t>03</a:t>
            </a:r>
          </a:p>
        </p:txBody>
      </p:sp>
      <p:sp>
        <p:nvSpPr>
          <p:cNvPr id="20" name="">
            <a:extLst xmlns:a="http://schemas.openxmlformats.org/drawingml/2006/main">
              <a:ext uri="{FF2B5EF4-FFF2-40B4-BE49-F238E27FC236}">
                <a16:creationId xmlns:a16="http://schemas.microsoft.com/office/drawing/2014/main" id="{0EE76851-C54A-4C76-BC9D-562B580ED77A}"/>
              </a:ext>
            </a:extLst>
          </p:cNvPr>
          <p:cNvSpPr>
            <a:spLocks xmlns:a="http://schemas.openxmlformats.org/drawingml/2006/main" noGrp="1"/>
          </p:cNvSpPr>
          <p:nvPr/>
        </p:nvSpPr>
        <p:spPr>
          <a:xfrm xmlns:a="http://schemas.openxmlformats.org/drawingml/2006/main">
            <a:off x="1828800" y="4029075"/>
            <a:ext cx="3190875" cy="2286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38" b="0">
                <a:solidFill>
                  <a:srgbClr val="526179"/>
                </a:solidFill>
                <a:latin typeface="Aptos"/>
                <a:ea typeface="Aptos"/>
                <a:cs typeface="Aptos"/>
              </a:defRPr>
            </a:pPr>
            <a:r>
              <a:rPr sz="938" b="0">
                <a:solidFill>
                  <a:srgbClr val="526179"/>
                </a:solidFill>
                <a:latin typeface="Aptos"/>
                <a:ea typeface="Aptos"/>
                <a:cs typeface="Aptos"/>
              </a:rPr>
              <a:t>Refactor a repeated pattern with test coverage</a:t>
            </a:r>
          </a:p>
        </p:txBody>
      </p:sp>
      <p:sp>
        <p:nvSpPr>
          <p:cNvPr id="21" name="">
            <a:extLst xmlns:a="http://schemas.openxmlformats.org/drawingml/2006/main">
              <a:ext uri="{FF2B5EF4-FFF2-40B4-BE49-F238E27FC236}">
                <a16:creationId xmlns:a16="http://schemas.microsoft.com/office/drawing/2014/main" id="{F513FFC8-E5F2-436D-A7F3-8A9A6B3EC490}"/>
              </a:ext>
            </a:extLst>
          </p:cNvPr>
          <p:cNvSpPr>
            <a:spLocks xmlns:a="http://schemas.openxmlformats.org/drawingml/2006/main" noGrp="1"/>
          </p:cNvSpPr>
          <p:nvPr/>
        </p:nvSpPr>
        <p:spPr>
          <a:xfrm xmlns:a="http://schemas.openxmlformats.org/drawingml/2006/main">
            <a:off x="1047750" y="4629150"/>
            <a:ext cx="4238625"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D8E0EA"/>
            </a:solidFill>
          </a:ln>
        </p:spPr>
      </p:sp>
      <p:sp>
        <p:nvSpPr>
          <p:cNvPr id="22" name="">
            <a:extLst xmlns:a="http://schemas.openxmlformats.org/drawingml/2006/main">
              <a:ext uri="{FF2B5EF4-FFF2-40B4-BE49-F238E27FC236}">
                <a16:creationId xmlns:a16="http://schemas.microsoft.com/office/drawing/2014/main" id="{DDC8CDF6-18D7-4620-A5CF-6316EE170559}"/>
              </a:ext>
            </a:extLst>
          </p:cNvPr>
          <p:cNvSpPr>
            <a:spLocks xmlns:a="http://schemas.openxmlformats.org/drawingml/2006/main" noGrp="1"/>
          </p:cNvSpPr>
          <p:nvPr/>
        </p:nvSpPr>
        <p:spPr>
          <a:xfrm xmlns:a="http://schemas.openxmlformats.org/drawingml/2006/main">
            <a:off x="1047750" y="4629150"/>
            <a:ext cx="47625" cy="552450"/>
          </a:xfrm>
          <a:prstGeom xmlns:a="http://schemas.openxmlformats.org/drawingml/2006/main" prst="rect">
            <a:avLst/>
          </a:prstGeom>
          <a:solidFill xmlns:a="http://schemas.openxmlformats.org/drawingml/2006/main">
            <a:srgbClr val="16A34A"/>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1CC0294E-53E9-455F-9BF3-75BF370788C2}"/>
              </a:ext>
            </a:extLst>
          </p:cNvPr>
          <p:cNvSpPr>
            <a:spLocks xmlns:a="http://schemas.openxmlformats.org/drawingml/2006/main" noGrp="1"/>
          </p:cNvSpPr>
          <p:nvPr/>
        </p:nvSpPr>
        <p:spPr>
          <a:xfrm xmlns:a="http://schemas.openxmlformats.org/drawingml/2006/main">
            <a:off x="1276350" y="4791075"/>
            <a:ext cx="4381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72033"/>
                </a:solidFill>
                <a:latin typeface="Aptos"/>
                <a:ea typeface="Aptos"/>
                <a:cs typeface="Aptos"/>
              </a:defRPr>
            </a:pPr>
            <a:r>
              <a:rPr sz="1125" b="1">
                <a:solidFill>
                  <a:srgbClr val="172033"/>
                </a:solidFill>
                <a:latin typeface="Aptos"/>
                <a:ea typeface="Aptos"/>
                <a:cs typeface="Aptos"/>
              </a:rPr>
              <a:t>04</a:t>
            </a:r>
          </a:p>
        </p:txBody>
      </p:sp>
      <p:sp>
        <p:nvSpPr>
          <p:cNvPr id="24" name="">
            <a:extLst xmlns:a="http://schemas.openxmlformats.org/drawingml/2006/main">
              <a:ext uri="{FF2B5EF4-FFF2-40B4-BE49-F238E27FC236}">
                <a16:creationId xmlns:a16="http://schemas.microsoft.com/office/drawing/2014/main" id="{FE3FFD3C-791E-4B40-A404-E95FE3624E4F}"/>
              </a:ext>
            </a:extLst>
          </p:cNvPr>
          <p:cNvSpPr>
            <a:spLocks xmlns:a="http://schemas.openxmlformats.org/drawingml/2006/main" noGrp="1"/>
          </p:cNvSpPr>
          <p:nvPr/>
        </p:nvSpPr>
        <p:spPr>
          <a:xfrm xmlns:a="http://schemas.openxmlformats.org/drawingml/2006/main">
            <a:off x="1828800" y="4772025"/>
            <a:ext cx="3190875" cy="2286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38" b="0">
                <a:solidFill>
                  <a:srgbClr val="526179"/>
                </a:solidFill>
                <a:latin typeface="Aptos"/>
                <a:ea typeface="Aptos"/>
                <a:cs typeface="Aptos"/>
              </a:defRPr>
            </a:pPr>
            <a:r>
              <a:rPr sz="938" b="0">
                <a:solidFill>
                  <a:srgbClr val="526179"/>
                </a:solidFill>
                <a:latin typeface="Aptos"/>
                <a:ea typeface="Aptos"/>
                <a:cs typeface="Aptos"/>
              </a:rPr>
              <a:t>Generate first-pass tests for existing behavior</a:t>
            </a:r>
          </a:p>
        </p:txBody>
      </p:sp>
      <p:sp>
        <p:nvSpPr>
          <p:cNvPr id="25" name="">
            <a:extLst xmlns:a="http://schemas.openxmlformats.org/drawingml/2006/main">
              <a:ext uri="{FF2B5EF4-FFF2-40B4-BE49-F238E27FC236}">
                <a16:creationId xmlns:a16="http://schemas.microsoft.com/office/drawing/2014/main" id="{ADE0A8B2-6204-4D90-AACC-E28EDBB5410F}"/>
              </a:ext>
            </a:extLst>
          </p:cNvPr>
          <p:cNvSpPr>
            <a:spLocks xmlns:a="http://schemas.openxmlformats.org/drawingml/2006/main" noGrp="1"/>
          </p:cNvSpPr>
          <p:nvPr/>
        </p:nvSpPr>
        <p:spPr>
          <a:xfrm xmlns:a="http://schemas.openxmlformats.org/drawingml/2006/main">
            <a:off x="6667500" y="2400300"/>
            <a:ext cx="4238625"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D8E0EA"/>
            </a:solidFill>
          </a:ln>
        </p:spPr>
      </p:sp>
      <p:sp>
        <p:nvSpPr>
          <p:cNvPr id="26" name="">
            <a:extLst xmlns:a="http://schemas.openxmlformats.org/drawingml/2006/main">
              <a:ext uri="{FF2B5EF4-FFF2-40B4-BE49-F238E27FC236}">
                <a16:creationId xmlns:a16="http://schemas.microsoft.com/office/drawing/2014/main" id="{FB1931EA-05E7-4EC4-86E9-0A41E2B9F708}"/>
              </a:ext>
            </a:extLst>
          </p:cNvPr>
          <p:cNvSpPr>
            <a:spLocks xmlns:a="http://schemas.openxmlformats.org/drawingml/2006/main" noGrp="1"/>
          </p:cNvSpPr>
          <p:nvPr/>
        </p:nvSpPr>
        <p:spPr>
          <a:xfrm xmlns:a="http://schemas.openxmlformats.org/drawingml/2006/main">
            <a:off x="6667500" y="2400300"/>
            <a:ext cx="47625" cy="552450"/>
          </a:xfrm>
          <a:prstGeom xmlns:a="http://schemas.openxmlformats.org/drawingml/2006/main" prst="rect">
            <a:avLst/>
          </a:prstGeom>
          <a:solidFill xmlns:a="http://schemas.openxmlformats.org/drawingml/2006/main">
            <a:srgbClr val="DC2626"/>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56B90C76-D933-4440-BF9B-2171C2307FF8}"/>
              </a:ext>
            </a:extLst>
          </p:cNvPr>
          <p:cNvSpPr>
            <a:spLocks xmlns:a="http://schemas.openxmlformats.org/drawingml/2006/main" noGrp="1"/>
          </p:cNvSpPr>
          <p:nvPr/>
        </p:nvSpPr>
        <p:spPr>
          <a:xfrm xmlns:a="http://schemas.openxmlformats.org/drawingml/2006/main">
            <a:off x="6896100" y="2562225"/>
            <a:ext cx="4381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72033"/>
                </a:solidFill>
                <a:latin typeface="Aptos"/>
                <a:ea typeface="Aptos"/>
                <a:cs typeface="Aptos"/>
              </a:defRPr>
            </a:pPr>
            <a:r>
              <a:rPr sz="1125" b="1">
                <a:solidFill>
                  <a:srgbClr val="172033"/>
                </a:solidFill>
                <a:latin typeface="Aptos"/>
                <a:ea typeface="Aptos"/>
                <a:cs typeface="Aptos"/>
              </a:rPr>
              <a:t>01</a:t>
            </a:r>
          </a:p>
        </p:txBody>
      </p:sp>
      <p:sp>
        <p:nvSpPr>
          <p:cNvPr id="28" name="">
            <a:extLst xmlns:a="http://schemas.openxmlformats.org/drawingml/2006/main">
              <a:ext uri="{FF2B5EF4-FFF2-40B4-BE49-F238E27FC236}">
                <a16:creationId xmlns:a16="http://schemas.microsoft.com/office/drawing/2014/main" id="{D936289E-0F28-4178-9B51-27914578641D}"/>
              </a:ext>
            </a:extLst>
          </p:cNvPr>
          <p:cNvSpPr>
            <a:spLocks xmlns:a="http://schemas.openxmlformats.org/drawingml/2006/main" noGrp="1"/>
          </p:cNvSpPr>
          <p:nvPr/>
        </p:nvSpPr>
        <p:spPr>
          <a:xfrm xmlns:a="http://schemas.openxmlformats.org/drawingml/2006/main">
            <a:off x="7448550" y="2543175"/>
            <a:ext cx="3190875" cy="2286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38" b="0">
                <a:solidFill>
                  <a:srgbClr val="526179"/>
                </a:solidFill>
                <a:latin typeface="Aptos"/>
                <a:ea typeface="Aptos"/>
                <a:cs typeface="Aptos"/>
              </a:defRPr>
            </a:pPr>
            <a:r>
              <a:rPr sz="938" b="0">
                <a:solidFill>
                  <a:srgbClr val="526179"/>
                </a:solidFill>
                <a:latin typeface="Aptos"/>
                <a:ea typeface="Aptos"/>
                <a:cs typeface="Aptos"/>
              </a:rPr>
              <a:t>Rewrite the architecture</a:t>
            </a:r>
          </a:p>
        </p:txBody>
      </p:sp>
      <p:sp>
        <p:nvSpPr>
          <p:cNvPr id="29" name="">
            <a:extLst xmlns:a="http://schemas.openxmlformats.org/drawingml/2006/main">
              <a:ext uri="{FF2B5EF4-FFF2-40B4-BE49-F238E27FC236}">
                <a16:creationId xmlns:a16="http://schemas.microsoft.com/office/drawing/2014/main" id="{5B2CB398-2CE7-4AB9-8005-6434415EBC36}"/>
              </a:ext>
            </a:extLst>
          </p:cNvPr>
          <p:cNvSpPr>
            <a:spLocks xmlns:a="http://schemas.openxmlformats.org/drawingml/2006/main" noGrp="1"/>
          </p:cNvSpPr>
          <p:nvPr/>
        </p:nvSpPr>
        <p:spPr>
          <a:xfrm xmlns:a="http://schemas.openxmlformats.org/drawingml/2006/main">
            <a:off x="6667500" y="3143250"/>
            <a:ext cx="4238625"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D8E0EA"/>
            </a:solidFill>
          </a:ln>
        </p:spPr>
      </p:sp>
      <p:sp>
        <p:nvSpPr>
          <p:cNvPr id="30" name="">
            <a:extLst xmlns:a="http://schemas.openxmlformats.org/drawingml/2006/main">
              <a:ext uri="{FF2B5EF4-FFF2-40B4-BE49-F238E27FC236}">
                <a16:creationId xmlns:a16="http://schemas.microsoft.com/office/drawing/2014/main" id="{0F4E3202-27A6-4F55-9AEB-F7A1904D8E1F}"/>
              </a:ext>
            </a:extLst>
          </p:cNvPr>
          <p:cNvSpPr>
            <a:spLocks xmlns:a="http://schemas.openxmlformats.org/drawingml/2006/main" noGrp="1"/>
          </p:cNvSpPr>
          <p:nvPr/>
        </p:nvSpPr>
        <p:spPr>
          <a:xfrm xmlns:a="http://schemas.openxmlformats.org/drawingml/2006/main">
            <a:off x="6667500" y="3143250"/>
            <a:ext cx="47625" cy="552450"/>
          </a:xfrm>
          <a:prstGeom xmlns:a="http://schemas.openxmlformats.org/drawingml/2006/main" prst="rect">
            <a:avLst/>
          </a:prstGeom>
          <a:solidFill xmlns:a="http://schemas.openxmlformats.org/drawingml/2006/main">
            <a:srgbClr val="DC2626"/>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3D16E926-30DF-452D-8E55-C895F8B98C33}"/>
              </a:ext>
            </a:extLst>
          </p:cNvPr>
          <p:cNvSpPr>
            <a:spLocks xmlns:a="http://schemas.openxmlformats.org/drawingml/2006/main" noGrp="1"/>
          </p:cNvSpPr>
          <p:nvPr/>
        </p:nvSpPr>
        <p:spPr>
          <a:xfrm xmlns:a="http://schemas.openxmlformats.org/drawingml/2006/main">
            <a:off x="6896100" y="3305175"/>
            <a:ext cx="4381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72033"/>
                </a:solidFill>
                <a:latin typeface="Aptos"/>
                <a:ea typeface="Aptos"/>
                <a:cs typeface="Aptos"/>
              </a:defRPr>
            </a:pPr>
            <a:r>
              <a:rPr sz="1125" b="1">
                <a:solidFill>
                  <a:srgbClr val="172033"/>
                </a:solidFill>
                <a:latin typeface="Aptos"/>
                <a:ea typeface="Aptos"/>
                <a:cs typeface="Aptos"/>
              </a:rPr>
              <a:t>02</a:t>
            </a:r>
          </a:p>
        </p:txBody>
      </p:sp>
      <p:sp>
        <p:nvSpPr>
          <p:cNvPr id="32" name="">
            <a:extLst xmlns:a="http://schemas.openxmlformats.org/drawingml/2006/main">
              <a:ext uri="{FF2B5EF4-FFF2-40B4-BE49-F238E27FC236}">
                <a16:creationId xmlns:a16="http://schemas.microsoft.com/office/drawing/2014/main" id="{CAD9690A-8844-449F-BE09-22435EF49994}"/>
              </a:ext>
            </a:extLst>
          </p:cNvPr>
          <p:cNvSpPr>
            <a:spLocks xmlns:a="http://schemas.openxmlformats.org/drawingml/2006/main" noGrp="1"/>
          </p:cNvSpPr>
          <p:nvPr/>
        </p:nvSpPr>
        <p:spPr>
          <a:xfrm xmlns:a="http://schemas.openxmlformats.org/drawingml/2006/main">
            <a:off x="7448550" y="3286125"/>
            <a:ext cx="3190875" cy="2286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38" b="0">
                <a:solidFill>
                  <a:srgbClr val="526179"/>
                </a:solidFill>
                <a:latin typeface="Aptos"/>
                <a:ea typeface="Aptos"/>
                <a:cs typeface="Aptos"/>
              </a:defRPr>
            </a:pPr>
            <a:r>
              <a:rPr sz="938" b="0">
                <a:solidFill>
                  <a:srgbClr val="526179"/>
                </a:solidFill>
                <a:latin typeface="Aptos"/>
                <a:ea typeface="Aptos"/>
                <a:cs typeface="Aptos"/>
              </a:rPr>
              <a:t>Make it production ready</a:t>
            </a:r>
          </a:p>
        </p:txBody>
      </p:sp>
      <p:sp>
        <p:nvSpPr>
          <p:cNvPr id="33" name="">
            <a:extLst xmlns:a="http://schemas.openxmlformats.org/drawingml/2006/main">
              <a:ext uri="{FF2B5EF4-FFF2-40B4-BE49-F238E27FC236}">
                <a16:creationId xmlns:a16="http://schemas.microsoft.com/office/drawing/2014/main" id="{F5C65CC2-99D3-4603-AC5C-CA8129FCA65A}"/>
              </a:ext>
            </a:extLst>
          </p:cNvPr>
          <p:cNvSpPr>
            <a:spLocks xmlns:a="http://schemas.openxmlformats.org/drawingml/2006/main" noGrp="1"/>
          </p:cNvSpPr>
          <p:nvPr/>
        </p:nvSpPr>
        <p:spPr>
          <a:xfrm xmlns:a="http://schemas.openxmlformats.org/drawingml/2006/main">
            <a:off x="6667500" y="3886200"/>
            <a:ext cx="4238625"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D8E0EA"/>
            </a:solidFill>
          </a:ln>
        </p:spPr>
      </p:sp>
      <p:sp>
        <p:nvSpPr>
          <p:cNvPr id="34" name="">
            <a:extLst xmlns:a="http://schemas.openxmlformats.org/drawingml/2006/main">
              <a:ext uri="{FF2B5EF4-FFF2-40B4-BE49-F238E27FC236}">
                <a16:creationId xmlns:a16="http://schemas.microsoft.com/office/drawing/2014/main" id="{4AB2B69E-C505-48F1-840F-7B8618322947}"/>
              </a:ext>
            </a:extLst>
          </p:cNvPr>
          <p:cNvSpPr>
            <a:spLocks xmlns:a="http://schemas.openxmlformats.org/drawingml/2006/main" noGrp="1"/>
          </p:cNvSpPr>
          <p:nvPr/>
        </p:nvSpPr>
        <p:spPr>
          <a:xfrm xmlns:a="http://schemas.openxmlformats.org/drawingml/2006/main">
            <a:off x="6667500" y="3886200"/>
            <a:ext cx="47625" cy="552450"/>
          </a:xfrm>
          <a:prstGeom xmlns:a="http://schemas.openxmlformats.org/drawingml/2006/main" prst="rect">
            <a:avLst/>
          </a:prstGeom>
          <a:solidFill xmlns:a="http://schemas.openxmlformats.org/drawingml/2006/main">
            <a:srgbClr val="DC2626"/>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07167AF9-72F5-4381-B5D8-680518A3FC39}"/>
              </a:ext>
            </a:extLst>
          </p:cNvPr>
          <p:cNvSpPr>
            <a:spLocks xmlns:a="http://schemas.openxmlformats.org/drawingml/2006/main" noGrp="1"/>
          </p:cNvSpPr>
          <p:nvPr/>
        </p:nvSpPr>
        <p:spPr>
          <a:xfrm xmlns:a="http://schemas.openxmlformats.org/drawingml/2006/main">
            <a:off x="6896100" y="4048125"/>
            <a:ext cx="4381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72033"/>
                </a:solidFill>
                <a:latin typeface="Aptos"/>
                <a:ea typeface="Aptos"/>
                <a:cs typeface="Aptos"/>
              </a:defRPr>
            </a:pPr>
            <a:r>
              <a:rPr sz="1125" b="1">
                <a:solidFill>
                  <a:srgbClr val="172033"/>
                </a:solidFill>
                <a:latin typeface="Aptos"/>
                <a:ea typeface="Aptos"/>
                <a:cs typeface="Aptos"/>
              </a:rPr>
              <a:t>03</a:t>
            </a:r>
          </a:p>
        </p:txBody>
      </p:sp>
      <p:sp>
        <p:nvSpPr>
          <p:cNvPr id="36" name="">
            <a:extLst xmlns:a="http://schemas.openxmlformats.org/drawingml/2006/main">
              <a:ext uri="{FF2B5EF4-FFF2-40B4-BE49-F238E27FC236}">
                <a16:creationId xmlns:a16="http://schemas.microsoft.com/office/drawing/2014/main" id="{85201D94-9852-4C90-ADE4-F23639A4F2DA}"/>
              </a:ext>
            </a:extLst>
          </p:cNvPr>
          <p:cNvSpPr>
            <a:spLocks xmlns:a="http://schemas.openxmlformats.org/drawingml/2006/main" noGrp="1"/>
          </p:cNvSpPr>
          <p:nvPr/>
        </p:nvSpPr>
        <p:spPr>
          <a:xfrm xmlns:a="http://schemas.openxmlformats.org/drawingml/2006/main">
            <a:off x="7448550" y="4029075"/>
            <a:ext cx="3190875" cy="2286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38" b="0">
                <a:solidFill>
                  <a:srgbClr val="526179"/>
                </a:solidFill>
                <a:latin typeface="Aptos"/>
                <a:ea typeface="Aptos"/>
                <a:cs typeface="Aptos"/>
              </a:defRPr>
            </a:pPr>
            <a:r>
              <a:rPr sz="938" b="0">
                <a:solidFill>
                  <a:srgbClr val="526179"/>
                </a:solidFill>
                <a:latin typeface="Aptos"/>
                <a:ea typeface="Aptos"/>
                <a:cs typeface="Aptos"/>
              </a:rPr>
              <a:t>Fix all flaky tests</a:t>
            </a:r>
          </a:p>
        </p:txBody>
      </p:sp>
      <p:sp>
        <p:nvSpPr>
          <p:cNvPr id="37" name="">
            <a:extLst xmlns:a="http://schemas.openxmlformats.org/drawingml/2006/main">
              <a:ext uri="{FF2B5EF4-FFF2-40B4-BE49-F238E27FC236}">
                <a16:creationId xmlns:a16="http://schemas.microsoft.com/office/drawing/2014/main" id="{217B4FA3-1D88-4A27-9B09-764422CED489}"/>
              </a:ext>
            </a:extLst>
          </p:cNvPr>
          <p:cNvSpPr>
            <a:spLocks xmlns:a="http://schemas.openxmlformats.org/drawingml/2006/main" noGrp="1"/>
          </p:cNvSpPr>
          <p:nvPr/>
        </p:nvSpPr>
        <p:spPr>
          <a:xfrm xmlns:a="http://schemas.openxmlformats.org/drawingml/2006/main">
            <a:off x="6667500" y="4629150"/>
            <a:ext cx="4238625"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D8E0EA"/>
            </a:solidFill>
          </a:ln>
        </p:spPr>
      </p:sp>
      <p:sp>
        <p:nvSpPr>
          <p:cNvPr id="38" name="">
            <a:extLst xmlns:a="http://schemas.openxmlformats.org/drawingml/2006/main">
              <a:ext uri="{FF2B5EF4-FFF2-40B4-BE49-F238E27FC236}">
                <a16:creationId xmlns:a16="http://schemas.microsoft.com/office/drawing/2014/main" id="{6A1FDB82-0DFD-44F9-BD03-21BEA0FAFFAC}"/>
              </a:ext>
            </a:extLst>
          </p:cNvPr>
          <p:cNvSpPr>
            <a:spLocks xmlns:a="http://schemas.openxmlformats.org/drawingml/2006/main" noGrp="1"/>
          </p:cNvSpPr>
          <p:nvPr/>
        </p:nvSpPr>
        <p:spPr>
          <a:xfrm xmlns:a="http://schemas.openxmlformats.org/drawingml/2006/main">
            <a:off x="6667500" y="4629150"/>
            <a:ext cx="47625" cy="552450"/>
          </a:xfrm>
          <a:prstGeom xmlns:a="http://schemas.openxmlformats.org/drawingml/2006/main" prst="rect">
            <a:avLst/>
          </a:prstGeom>
          <a:solidFill xmlns:a="http://schemas.openxmlformats.org/drawingml/2006/main">
            <a:srgbClr val="DC2626"/>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E27E8DFB-EC3A-459E-A5F7-394AADCE7F7F}"/>
              </a:ext>
            </a:extLst>
          </p:cNvPr>
          <p:cNvSpPr>
            <a:spLocks xmlns:a="http://schemas.openxmlformats.org/drawingml/2006/main" noGrp="1"/>
          </p:cNvSpPr>
          <p:nvPr/>
        </p:nvSpPr>
        <p:spPr>
          <a:xfrm xmlns:a="http://schemas.openxmlformats.org/drawingml/2006/main">
            <a:off x="6896100" y="4791075"/>
            <a:ext cx="4381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72033"/>
                </a:solidFill>
                <a:latin typeface="Aptos"/>
                <a:ea typeface="Aptos"/>
                <a:cs typeface="Aptos"/>
              </a:defRPr>
            </a:pPr>
            <a:r>
              <a:rPr sz="1125" b="1">
                <a:solidFill>
                  <a:srgbClr val="172033"/>
                </a:solidFill>
                <a:latin typeface="Aptos"/>
                <a:ea typeface="Aptos"/>
                <a:cs typeface="Aptos"/>
              </a:rPr>
              <a:t>04</a:t>
            </a:r>
          </a:p>
        </p:txBody>
      </p:sp>
      <p:sp>
        <p:nvSpPr>
          <p:cNvPr id="40" name="">
            <a:extLst xmlns:a="http://schemas.openxmlformats.org/drawingml/2006/main">
              <a:ext uri="{FF2B5EF4-FFF2-40B4-BE49-F238E27FC236}">
                <a16:creationId xmlns:a16="http://schemas.microsoft.com/office/drawing/2014/main" id="{465475A8-1DAE-4C78-BC4E-3FBF17BA6B48}"/>
              </a:ext>
            </a:extLst>
          </p:cNvPr>
          <p:cNvSpPr>
            <a:spLocks xmlns:a="http://schemas.openxmlformats.org/drawingml/2006/main" noGrp="1"/>
          </p:cNvSpPr>
          <p:nvPr/>
        </p:nvSpPr>
        <p:spPr>
          <a:xfrm xmlns:a="http://schemas.openxmlformats.org/drawingml/2006/main">
            <a:off x="7448550" y="4772025"/>
            <a:ext cx="3190875" cy="2286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38" b="0">
                <a:solidFill>
                  <a:srgbClr val="526179"/>
                </a:solidFill>
                <a:latin typeface="Aptos"/>
                <a:ea typeface="Aptos"/>
                <a:cs typeface="Aptos"/>
              </a:defRPr>
            </a:pPr>
            <a:r>
              <a:rPr sz="938" b="0">
                <a:solidFill>
                  <a:srgbClr val="526179"/>
                </a:solidFill>
                <a:latin typeface="Aptos"/>
                <a:ea typeface="Aptos"/>
                <a:cs typeface="Aptos"/>
              </a:rPr>
              <a:t>Change auth and billing in one pass</a:t>
            </a:r>
          </a:p>
        </p:txBody>
      </p:sp>
    </p:spTree>
    <p:extLst>
      <p:ext uri="{BB962C8B-B14F-4D97-AF65-F5344CB8AC3E}">
        <p14:creationId xmlns:p14="http://schemas.microsoft.com/office/powerpoint/2010/main" val="1792074499"/>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5F4498D-5C8D-451B-9625-BDE668C882F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6F8F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595E6D0-6D3E-43D6-B76F-75817CF3D08C}"/>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9F9A"/>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4592197-0708-41AD-BDB6-EACC66791FE2}"/>
              </a:ext>
            </a:extLst>
          </p:cNvPr>
          <p:cNvSpPr>
            <a:spLocks xmlns:a="http://schemas.openxmlformats.org/drawingml/2006/main" noGrp="1"/>
          </p:cNvSpPr>
          <p:nvPr/>
        </p:nvSpPr>
        <p:spPr>
          <a:xfrm xmlns:a="http://schemas.openxmlformats.org/drawingml/2006/main">
            <a:off x="514350" y="400050"/>
            <a:ext cx="5143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788" b="1">
                <a:solidFill>
                  <a:srgbClr val="0E9F9A"/>
                </a:solidFill>
                <a:latin typeface="Aptos"/>
                <a:ea typeface="Aptos"/>
                <a:cs typeface="Aptos"/>
              </a:defRPr>
            </a:pPr>
            <a:r>
              <a:rPr sz="788" b="1">
                <a:solidFill>
                  <a:srgbClr val="0E9F9A"/>
                </a:solidFill>
                <a:latin typeface="Aptos"/>
                <a:ea typeface="Aptos"/>
                <a:cs typeface="Aptos"/>
              </a:rPr>
              <a:t>STEERING LOOP</a:t>
            </a:r>
          </a:p>
        </p:txBody>
      </p:sp>
      <p:sp>
        <p:nvSpPr>
          <p:cNvPr id="4" name="">
            <a:extLst xmlns:a="http://schemas.openxmlformats.org/drawingml/2006/main">
              <a:ext uri="{FF2B5EF4-FFF2-40B4-BE49-F238E27FC236}">
                <a16:creationId xmlns:a16="http://schemas.microsoft.com/office/drawing/2014/main" id="{A4D3E5B6-7A9C-4CF9-8D03-F34074006EDE}"/>
              </a:ext>
            </a:extLst>
          </p:cNvPr>
          <p:cNvSpPr>
            <a:spLocks xmlns:a="http://schemas.openxmlformats.org/drawingml/2006/main" noGrp="1"/>
          </p:cNvSpPr>
          <p:nvPr/>
        </p:nvSpPr>
        <p:spPr>
          <a:xfrm xmlns:a="http://schemas.openxmlformats.org/drawingml/2006/main">
            <a:off x="514350" y="685800"/>
            <a:ext cx="8382000" cy="8763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172033"/>
                </a:solidFill>
                <a:latin typeface="Aptos Display"/>
                <a:ea typeface="Aptos Display"/>
                <a:cs typeface="Aptos Display"/>
              </a:defRPr>
            </a:pPr>
            <a:r>
              <a:rPr sz="2550" b="1">
                <a:solidFill>
                  <a:srgbClr val="172033"/>
                </a:solidFill>
                <a:latin typeface="Aptos Display"/>
                <a:ea typeface="Aptos Display"/>
                <a:cs typeface="Aptos Display"/>
              </a:rPr>
              <a:t>The best users manage agents like junior teammates with good tools.</a:t>
            </a:r>
          </a:p>
        </p:txBody>
      </p:sp>
      <p:sp>
        <p:nvSpPr>
          <p:cNvPr id="5" name="">
            <a:extLst xmlns:a="http://schemas.openxmlformats.org/drawingml/2006/main">
              <a:ext uri="{FF2B5EF4-FFF2-40B4-BE49-F238E27FC236}">
                <a16:creationId xmlns:a16="http://schemas.microsoft.com/office/drawing/2014/main" id="{45928792-6F4E-4606-8F4A-36663BA53444}"/>
              </a:ext>
            </a:extLst>
          </p:cNvPr>
          <p:cNvSpPr>
            <a:spLocks xmlns:a="http://schemas.openxmlformats.org/drawingml/2006/main" noGrp="1"/>
          </p:cNvSpPr>
          <p:nvPr/>
        </p:nvSpPr>
        <p:spPr>
          <a:xfrm xmlns:a="http://schemas.openxmlformats.org/drawingml/2006/main">
            <a:off x="514350" y="6515100"/>
            <a:ext cx="88582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638" b="0">
                <a:solidFill>
                  <a:srgbClr val="7B8798"/>
                </a:solidFill>
                <a:latin typeface="Aptos"/>
                <a:ea typeface="Aptos"/>
                <a:cs typeface="Aptos"/>
              </a:defRPr>
            </a:pPr>
            <a:r>
              <a:rPr sz="638" b="0">
                <a:solidFill>
                  <a:srgbClr val="7B8798"/>
                </a:solidFill>
                <a:latin typeface="Aptos"/>
                <a:ea typeface="Aptos"/>
                <a:cs typeface="Aptos"/>
              </a:rPr>
              <a:t>101 AI Basics for Developers</a:t>
            </a:r>
          </a:p>
        </p:txBody>
      </p:sp>
      <p:sp>
        <p:nvSpPr>
          <p:cNvPr id="6" name="">
            <a:extLst xmlns:a="http://schemas.openxmlformats.org/drawingml/2006/main">
              <a:ext uri="{FF2B5EF4-FFF2-40B4-BE49-F238E27FC236}">
                <a16:creationId xmlns:a16="http://schemas.microsoft.com/office/drawing/2014/main" id="{1C307FE3-5E64-4F44-9B89-C3F83091F084}"/>
              </a:ext>
            </a:extLst>
          </p:cNvPr>
          <p:cNvSpPr>
            <a:spLocks xmlns:a="http://schemas.openxmlformats.org/drawingml/2006/main" noGrp="1"/>
          </p:cNvSpPr>
          <p:nvPr/>
        </p:nvSpPr>
        <p:spPr>
          <a:xfrm xmlns:a="http://schemas.openxmlformats.org/drawingml/2006/main">
            <a:off x="11239500" y="6477000"/>
            <a:ext cx="4381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r">
              <a:defRPr sz="750" b="1">
                <a:solidFill>
                  <a:srgbClr val="7B8798"/>
                </a:solidFill>
                <a:latin typeface="Aptos"/>
                <a:ea typeface="Aptos"/>
                <a:cs typeface="Aptos"/>
              </a:defRPr>
            </a:pPr>
            <a:r>
              <a:rPr sz="750" b="1">
                <a:solidFill>
                  <a:srgbClr val="7B8798"/>
                </a:solidFill>
                <a:latin typeface="Aptos"/>
                <a:ea typeface="Aptos"/>
                <a:cs typeface="Aptos"/>
              </a:rPr>
              <a:t>12</a:t>
            </a:r>
          </a:p>
        </p:txBody>
      </p:sp>
      <p:sp>
        <p:nvSpPr>
          <p:cNvPr id="7" name="">
            <a:extLst xmlns:a="http://schemas.openxmlformats.org/drawingml/2006/main">
              <a:ext uri="{FF2B5EF4-FFF2-40B4-BE49-F238E27FC236}">
                <a16:creationId xmlns:a16="http://schemas.microsoft.com/office/drawing/2014/main" id="{E389BBAB-98AF-4401-91DB-E8A3F05598E8}"/>
              </a:ext>
            </a:extLst>
          </p:cNvPr>
          <p:cNvSpPr>
            <a:spLocks xmlns:a="http://schemas.openxmlformats.org/drawingml/2006/main" noGrp="1"/>
          </p:cNvSpPr>
          <p:nvPr/>
        </p:nvSpPr>
        <p:spPr>
          <a:xfrm xmlns:a="http://schemas.openxmlformats.org/drawingml/2006/main">
            <a:off x="1104900" y="2647950"/>
            <a:ext cx="2000250" cy="1257300"/>
          </a:xfrm>
          <a:prstGeom xmlns:a="http://schemas.openxmlformats.org/drawingml/2006/main" prst="rect">
            <a:avLst/>
          </a:prstGeom>
          <a:solidFill xmlns:a="http://schemas.openxmlformats.org/drawingml/2006/main">
            <a:srgbClr val="FFFFFF"/>
          </a:solidFill>
          <a:ln xmlns:a="http://schemas.openxmlformats.org/drawingml/2006/main" w="9525">
            <a:solidFill>
              <a:srgbClr val="D8E0EA"/>
            </a:solidFill>
          </a:ln>
        </p:spPr>
      </p:sp>
      <p:sp>
        <p:nvSpPr>
          <p:cNvPr id="8" name="">
            <a:extLst xmlns:a="http://schemas.openxmlformats.org/drawingml/2006/main">
              <a:ext uri="{FF2B5EF4-FFF2-40B4-BE49-F238E27FC236}">
                <a16:creationId xmlns:a16="http://schemas.microsoft.com/office/drawing/2014/main" id="{A520B6EF-3608-4210-92D2-DEEB0778C7DF}"/>
              </a:ext>
            </a:extLst>
          </p:cNvPr>
          <p:cNvSpPr>
            <a:spLocks xmlns:a="http://schemas.openxmlformats.org/drawingml/2006/main" noGrp="1"/>
          </p:cNvSpPr>
          <p:nvPr/>
        </p:nvSpPr>
        <p:spPr>
          <a:xfrm xmlns:a="http://schemas.openxmlformats.org/drawingml/2006/main">
            <a:off x="1314450" y="2895600"/>
            <a:ext cx="15811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650" b="1">
                <a:solidFill>
                  <a:srgbClr val="2563EB"/>
                </a:solidFill>
                <a:latin typeface="Aptos"/>
                <a:ea typeface="Aptos"/>
                <a:cs typeface="Aptos"/>
              </a:defRPr>
            </a:pPr>
            <a:r>
              <a:rPr sz="1650" b="1">
                <a:solidFill>
                  <a:srgbClr val="2563EB"/>
                </a:solidFill>
                <a:latin typeface="Aptos"/>
                <a:ea typeface="Aptos"/>
                <a:cs typeface="Aptos"/>
              </a:rPr>
              <a:t>Frame</a:t>
            </a:r>
          </a:p>
        </p:txBody>
      </p:sp>
      <p:sp>
        <p:nvSpPr>
          <p:cNvPr id="9" name="">
            <a:extLst xmlns:a="http://schemas.openxmlformats.org/drawingml/2006/main">
              <a:ext uri="{FF2B5EF4-FFF2-40B4-BE49-F238E27FC236}">
                <a16:creationId xmlns:a16="http://schemas.microsoft.com/office/drawing/2014/main" id="{9EB0DD0C-30EB-4ADF-BEAE-7200F736F308}"/>
              </a:ext>
            </a:extLst>
          </p:cNvPr>
          <p:cNvSpPr>
            <a:spLocks xmlns:a="http://schemas.openxmlformats.org/drawingml/2006/main" noGrp="1"/>
          </p:cNvSpPr>
          <p:nvPr/>
        </p:nvSpPr>
        <p:spPr>
          <a:xfrm xmlns:a="http://schemas.openxmlformats.org/drawingml/2006/main">
            <a:off x="1333500" y="3352800"/>
            <a:ext cx="15430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900" b="0">
                <a:solidFill>
                  <a:srgbClr val="526179"/>
                </a:solidFill>
                <a:latin typeface="Aptos"/>
                <a:ea typeface="Aptos"/>
                <a:cs typeface="Aptos"/>
              </a:defRPr>
            </a:pPr>
            <a:r>
              <a:rPr sz="900" b="0">
                <a:solidFill>
                  <a:srgbClr val="526179"/>
                </a:solidFill>
                <a:latin typeface="Aptos"/>
                <a:ea typeface="Aptos"/>
                <a:cs typeface="Aptos"/>
              </a:rPr>
              <a:t>Give goal, scope, starting files, and constraints.</a:t>
            </a:r>
          </a:p>
        </p:txBody>
      </p:sp>
      <p:sp>
        <p:nvSpPr>
          <p:cNvPr id="10" name="">
            <a:extLst xmlns:a="http://schemas.openxmlformats.org/drawingml/2006/main">
              <a:ext uri="{FF2B5EF4-FFF2-40B4-BE49-F238E27FC236}">
                <a16:creationId xmlns:a16="http://schemas.microsoft.com/office/drawing/2014/main" id="{23A16A4F-A87F-4171-A103-6170DE83E9BC}"/>
              </a:ext>
            </a:extLst>
          </p:cNvPr>
          <p:cNvSpPr>
            <a:spLocks xmlns:a="http://schemas.openxmlformats.org/drawingml/2006/main" noGrp="1"/>
          </p:cNvSpPr>
          <p:nvPr/>
        </p:nvSpPr>
        <p:spPr>
          <a:xfrm xmlns:a="http://schemas.openxmlformats.org/drawingml/2006/main">
            <a:off x="3105150" y="3257550"/>
            <a:ext cx="647700" cy="38100"/>
          </a:xfrm>
          <a:prstGeom xmlns:a="http://schemas.openxmlformats.org/drawingml/2006/main" prst="rect">
            <a:avLst/>
          </a:prstGeom>
          <a:solidFill xmlns:a="http://schemas.openxmlformats.org/drawingml/2006/main">
            <a:srgbClr val="0E9F9A"/>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46464471-8C8E-4D99-AF04-4D8A2978B1A2}"/>
              </a:ext>
            </a:extLst>
          </p:cNvPr>
          <p:cNvSpPr>
            <a:spLocks xmlns:a="http://schemas.openxmlformats.org/drawingml/2006/main" noGrp="1"/>
          </p:cNvSpPr>
          <p:nvPr/>
        </p:nvSpPr>
        <p:spPr>
          <a:xfrm xmlns:a="http://schemas.openxmlformats.org/drawingml/2006/main">
            <a:off x="3686175" y="3162300"/>
            <a:ext cx="190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0E9F9A"/>
                </a:solidFill>
                <a:latin typeface="Aptos"/>
                <a:ea typeface="Aptos"/>
                <a:cs typeface="Aptos"/>
              </a:defRPr>
            </a:pPr>
            <a:r>
              <a:rPr sz="1350" b="1">
                <a:solidFill>
                  <a:srgbClr val="0E9F9A"/>
                </a:solidFill>
                <a:latin typeface="Aptos"/>
                <a:ea typeface="Aptos"/>
                <a:cs typeface="Aptos"/>
              </a:rPr>
              <a:t>&gt;</a:t>
            </a:r>
          </a:p>
        </p:txBody>
      </p:sp>
      <p:sp>
        <p:nvSpPr>
          <p:cNvPr id="12" name="">
            <a:extLst xmlns:a="http://schemas.openxmlformats.org/drawingml/2006/main">
              <a:ext uri="{FF2B5EF4-FFF2-40B4-BE49-F238E27FC236}">
                <a16:creationId xmlns:a16="http://schemas.microsoft.com/office/drawing/2014/main" id="{07939FE7-8BEC-4E89-AEAE-710B4D79373B}"/>
              </a:ext>
            </a:extLst>
          </p:cNvPr>
          <p:cNvSpPr>
            <a:spLocks xmlns:a="http://schemas.openxmlformats.org/drawingml/2006/main" noGrp="1"/>
          </p:cNvSpPr>
          <p:nvPr/>
        </p:nvSpPr>
        <p:spPr>
          <a:xfrm xmlns:a="http://schemas.openxmlformats.org/drawingml/2006/main">
            <a:off x="3752850" y="2647950"/>
            <a:ext cx="2000250" cy="1257300"/>
          </a:xfrm>
          <a:prstGeom xmlns:a="http://schemas.openxmlformats.org/drawingml/2006/main" prst="rect">
            <a:avLst/>
          </a:prstGeom>
          <a:solidFill xmlns:a="http://schemas.openxmlformats.org/drawingml/2006/main">
            <a:srgbClr val="FFFFFF"/>
          </a:solidFill>
          <a:ln xmlns:a="http://schemas.openxmlformats.org/drawingml/2006/main" w="9525">
            <a:solidFill>
              <a:srgbClr val="D8E0EA"/>
            </a:solidFill>
          </a:ln>
        </p:spPr>
      </p:sp>
      <p:sp>
        <p:nvSpPr>
          <p:cNvPr id="13" name="">
            <a:extLst xmlns:a="http://schemas.openxmlformats.org/drawingml/2006/main">
              <a:ext uri="{FF2B5EF4-FFF2-40B4-BE49-F238E27FC236}">
                <a16:creationId xmlns:a16="http://schemas.microsoft.com/office/drawing/2014/main" id="{A0A27D28-2A7F-4C26-9E52-BD03FA2EDACB}"/>
              </a:ext>
            </a:extLst>
          </p:cNvPr>
          <p:cNvSpPr>
            <a:spLocks xmlns:a="http://schemas.openxmlformats.org/drawingml/2006/main" noGrp="1"/>
          </p:cNvSpPr>
          <p:nvPr/>
        </p:nvSpPr>
        <p:spPr>
          <a:xfrm xmlns:a="http://schemas.openxmlformats.org/drawingml/2006/main">
            <a:off x="3962400" y="2895600"/>
            <a:ext cx="15811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650" b="1">
                <a:solidFill>
                  <a:srgbClr val="0E9F9A"/>
                </a:solidFill>
                <a:latin typeface="Aptos"/>
                <a:ea typeface="Aptos"/>
                <a:cs typeface="Aptos"/>
              </a:defRPr>
            </a:pPr>
            <a:r>
              <a:rPr sz="1650" b="1">
                <a:solidFill>
                  <a:srgbClr val="0E9F9A"/>
                </a:solidFill>
                <a:latin typeface="Aptos"/>
                <a:ea typeface="Aptos"/>
                <a:cs typeface="Aptos"/>
              </a:rPr>
              <a:t>Observe</a:t>
            </a:r>
          </a:p>
        </p:txBody>
      </p:sp>
      <p:sp>
        <p:nvSpPr>
          <p:cNvPr id="14" name="">
            <a:extLst xmlns:a="http://schemas.openxmlformats.org/drawingml/2006/main">
              <a:ext uri="{FF2B5EF4-FFF2-40B4-BE49-F238E27FC236}">
                <a16:creationId xmlns:a16="http://schemas.microsoft.com/office/drawing/2014/main" id="{E968D166-CF15-49D8-9ED1-7F4978DE0CB7}"/>
              </a:ext>
            </a:extLst>
          </p:cNvPr>
          <p:cNvSpPr>
            <a:spLocks xmlns:a="http://schemas.openxmlformats.org/drawingml/2006/main" noGrp="1"/>
          </p:cNvSpPr>
          <p:nvPr/>
        </p:nvSpPr>
        <p:spPr>
          <a:xfrm xmlns:a="http://schemas.openxmlformats.org/drawingml/2006/main">
            <a:off x="3981450" y="3352800"/>
            <a:ext cx="15430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900" b="0">
                <a:solidFill>
                  <a:srgbClr val="526179"/>
                </a:solidFill>
                <a:latin typeface="Aptos"/>
                <a:ea typeface="Aptos"/>
                <a:cs typeface="Aptos"/>
              </a:defRPr>
            </a:pPr>
            <a:r>
              <a:rPr sz="900" b="0">
                <a:solidFill>
                  <a:srgbClr val="526179"/>
                </a:solidFill>
                <a:latin typeface="Aptos"/>
                <a:ea typeface="Aptos"/>
                <a:cs typeface="Aptos"/>
              </a:rPr>
              <a:t>Read plan, tool calls, tests, and assumptions.</a:t>
            </a:r>
          </a:p>
        </p:txBody>
      </p:sp>
      <p:sp>
        <p:nvSpPr>
          <p:cNvPr id="15" name="">
            <a:extLst xmlns:a="http://schemas.openxmlformats.org/drawingml/2006/main">
              <a:ext uri="{FF2B5EF4-FFF2-40B4-BE49-F238E27FC236}">
                <a16:creationId xmlns:a16="http://schemas.microsoft.com/office/drawing/2014/main" id="{D49F7219-51F6-4AEE-B45D-C1BA7311F39A}"/>
              </a:ext>
            </a:extLst>
          </p:cNvPr>
          <p:cNvSpPr>
            <a:spLocks xmlns:a="http://schemas.openxmlformats.org/drawingml/2006/main" noGrp="1"/>
          </p:cNvSpPr>
          <p:nvPr/>
        </p:nvSpPr>
        <p:spPr>
          <a:xfrm xmlns:a="http://schemas.openxmlformats.org/drawingml/2006/main">
            <a:off x="5753100" y="3257550"/>
            <a:ext cx="647700" cy="38100"/>
          </a:xfrm>
          <a:prstGeom xmlns:a="http://schemas.openxmlformats.org/drawingml/2006/main" prst="rect">
            <a:avLst/>
          </a:prstGeom>
          <a:solidFill xmlns:a="http://schemas.openxmlformats.org/drawingml/2006/main">
            <a:srgbClr val="0E9F9A"/>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FBB273E7-48DE-445B-891B-4833265F2616}"/>
              </a:ext>
            </a:extLst>
          </p:cNvPr>
          <p:cNvSpPr>
            <a:spLocks xmlns:a="http://schemas.openxmlformats.org/drawingml/2006/main" noGrp="1"/>
          </p:cNvSpPr>
          <p:nvPr/>
        </p:nvSpPr>
        <p:spPr>
          <a:xfrm xmlns:a="http://schemas.openxmlformats.org/drawingml/2006/main">
            <a:off x="6334125" y="3162300"/>
            <a:ext cx="190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0E9F9A"/>
                </a:solidFill>
                <a:latin typeface="Aptos"/>
                <a:ea typeface="Aptos"/>
                <a:cs typeface="Aptos"/>
              </a:defRPr>
            </a:pPr>
            <a:r>
              <a:rPr sz="1350" b="1">
                <a:solidFill>
                  <a:srgbClr val="0E9F9A"/>
                </a:solidFill>
                <a:latin typeface="Aptos"/>
                <a:ea typeface="Aptos"/>
                <a:cs typeface="Aptos"/>
              </a:rPr>
              <a:t>&gt;</a:t>
            </a:r>
          </a:p>
        </p:txBody>
      </p:sp>
      <p:sp>
        <p:nvSpPr>
          <p:cNvPr id="17" name="">
            <a:extLst xmlns:a="http://schemas.openxmlformats.org/drawingml/2006/main">
              <a:ext uri="{FF2B5EF4-FFF2-40B4-BE49-F238E27FC236}">
                <a16:creationId xmlns:a16="http://schemas.microsoft.com/office/drawing/2014/main" id="{565BF1DE-5A2B-423F-9CBE-FF75854A0B72}"/>
              </a:ext>
            </a:extLst>
          </p:cNvPr>
          <p:cNvSpPr>
            <a:spLocks xmlns:a="http://schemas.openxmlformats.org/drawingml/2006/main" noGrp="1"/>
          </p:cNvSpPr>
          <p:nvPr/>
        </p:nvSpPr>
        <p:spPr>
          <a:xfrm xmlns:a="http://schemas.openxmlformats.org/drawingml/2006/main">
            <a:off x="6400800" y="2647950"/>
            <a:ext cx="2000250" cy="1257300"/>
          </a:xfrm>
          <a:prstGeom xmlns:a="http://schemas.openxmlformats.org/drawingml/2006/main" prst="rect">
            <a:avLst/>
          </a:prstGeom>
          <a:solidFill xmlns:a="http://schemas.openxmlformats.org/drawingml/2006/main">
            <a:srgbClr val="FFFFFF"/>
          </a:solidFill>
          <a:ln xmlns:a="http://schemas.openxmlformats.org/drawingml/2006/main" w="9525">
            <a:solidFill>
              <a:srgbClr val="D8E0EA"/>
            </a:solidFill>
          </a:ln>
        </p:spPr>
      </p:sp>
      <p:sp>
        <p:nvSpPr>
          <p:cNvPr id="18" name="">
            <a:extLst xmlns:a="http://schemas.openxmlformats.org/drawingml/2006/main">
              <a:ext uri="{FF2B5EF4-FFF2-40B4-BE49-F238E27FC236}">
                <a16:creationId xmlns:a16="http://schemas.microsoft.com/office/drawing/2014/main" id="{FBCF9DFF-C67A-4712-94DF-25C83DFE83C7}"/>
              </a:ext>
            </a:extLst>
          </p:cNvPr>
          <p:cNvSpPr>
            <a:spLocks xmlns:a="http://schemas.openxmlformats.org/drawingml/2006/main" noGrp="1"/>
          </p:cNvSpPr>
          <p:nvPr/>
        </p:nvSpPr>
        <p:spPr>
          <a:xfrm xmlns:a="http://schemas.openxmlformats.org/drawingml/2006/main">
            <a:off x="6610350" y="2895600"/>
            <a:ext cx="15811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650" b="1">
                <a:solidFill>
                  <a:srgbClr val="F59E0B"/>
                </a:solidFill>
                <a:latin typeface="Aptos"/>
                <a:ea typeface="Aptos"/>
                <a:cs typeface="Aptos"/>
              </a:defRPr>
            </a:pPr>
            <a:r>
              <a:rPr sz="1650" b="1">
                <a:solidFill>
                  <a:srgbClr val="F59E0B"/>
                </a:solidFill>
                <a:latin typeface="Aptos"/>
                <a:ea typeface="Aptos"/>
                <a:cs typeface="Aptos"/>
              </a:rPr>
              <a:t>Interrupt</a:t>
            </a:r>
          </a:p>
        </p:txBody>
      </p:sp>
      <p:sp>
        <p:nvSpPr>
          <p:cNvPr id="19" name="">
            <a:extLst xmlns:a="http://schemas.openxmlformats.org/drawingml/2006/main">
              <a:ext uri="{FF2B5EF4-FFF2-40B4-BE49-F238E27FC236}">
                <a16:creationId xmlns:a16="http://schemas.microsoft.com/office/drawing/2014/main" id="{F472EE22-545A-44A1-AC54-443407985F26}"/>
              </a:ext>
            </a:extLst>
          </p:cNvPr>
          <p:cNvSpPr>
            <a:spLocks xmlns:a="http://schemas.openxmlformats.org/drawingml/2006/main" noGrp="1"/>
          </p:cNvSpPr>
          <p:nvPr/>
        </p:nvSpPr>
        <p:spPr>
          <a:xfrm xmlns:a="http://schemas.openxmlformats.org/drawingml/2006/main">
            <a:off x="6629400" y="3352800"/>
            <a:ext cx="15430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900" b="0">
                <a:solidFill>
                  <a:srgbClr val="526179"/>
                </a:solidFill>
                <a:latin typeface="Aptos"/>
                <a:ea typeface="Aptos"/>
                <a:cs typeface="Aptos"/>
              </a:defRPr>
            </a:pPr>
            <a:r>
              <a:rPr sz="900" b="0">
                <a:solidFill>
                  <a:srgbClr val="526179"/>
                </a:solidFill>
                <a:latin typeface="Aptos"/>
                <a:ea typeface="Aptos"/>
                <a:cs typeface="Aptos"/>
              </a:rPr>
              <a:t>Correct direction early when it broadens or guesses.</a:t>
            </a:r>
          </a:p>
        </p:txBody>
      </p:sp>
      <p:sp>
        <p:nvSpPr>
          <p:cNvPr id="20" name="">
            <a:extLst xmlns:a="http://schemas.openxmlformats.org/drawingml/2006/main">
              <a:ext uri="{FF2B5EF4-FFF2-40B4-BE49-F238E27FC236}">
                <a16:creationId xmlns:a16="http://schemas.microsoft.com/office/drawing/2014/main" id="{31C782C0-704D-4CCF-8338-A23BAA9AD39E}"/>
              </a:ext>
            </a:extLst>
          </p:cNvPr>
          <p:cNvSpPr>
            <a:spLocks xmlns:a="http://schemas.openxmlformats.org/drawingml/2006/main" noGrp="1"/>
          </p:cNvSpPr>
          <p:nvPr/>
        </p:nvSpPr>
        <p:spPr>
          <a:xfrm xmlns:a="http://schemas.openxmlformats.org/drawingml/2006/main">
            <a:off x="8401050" y="3257550"/>
            <a:ext cx="647700" cy="38100"/>
          </a:xfrm>
          <a:prstGeom xmlns:a="http://schemas.openxmlformats.org/drawingml/2006/main" prst="rect">
            <a:avLst/>
          </a:prstGeom>
          <a:solidFill xmlns:a="http://schemas.openxmlformats.org/drawingml/2006/main">
            <a:srgbClr val="0E9F9A"/>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025FE27F-5CA9-4338-B0F5-B9AEB8AA0F81}"/>
              </a:ext>
            </a:extLst>
          </p:cNvPr>
          <p:cNvSpPr>
            <a:spLocks xmlns:a="http://schemas.openxmlformats.org/drawingml/2006/main" noGrp="1"/>
          </p:cNvSpPr>
          <p:nvPr/>
        </p:nvSpPr>
        <p:spPr>
          <a:xfrm xmlns:a="http://schemas.openxmlformats.org/drawingml/2006/main">
            <a:off x="8982075" y="3162300"/>
            <a:ext cx="190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0E9F9A"/>
                </a:solidFill>
                <a:latin typeface="Aptos"/>
                <a:ea typeface="Aptos"/>
                <a:cs typeface="Aptos"/>
              </a:defRPr>
            </a:pPr>
            <a:r>
              <a:rPr sz="1350" b="1">
                <a:solidFill>
                  <a:srgbClr val="0E9F9A"/>
                </a:solidFill>
                <a:latin typeface="Aptos"/>
                <a:ea typeface="Aptos"/>
                <a:cs typeface="Aptos"/>
              </a:rPr>
              <a:t>&gt;</a:t>
            </a:r>
          </a:p>
        </p:txBody>
      </p:sp>
      <p:sp>
        <p:nvSpPr>
          <p:cNvPr id="22" name="">
            <a:extLst xmlns:a="http://schemas.openxmlformats.org/drawingml/2006/main">
              <a:ext uri="{FF2B5EF4-FFF2-40B4-BE49-F238E27FC236}">
                <a16:creationId xmlns:a16="http://schemas.microsoft.com/office/drawing/2014/main" id="{6015A485-D25A-4A8D-A187-3F77975841AA}"/>
              </a:ext>
            </a:extLst>
          </p:cNvPr>
          <p:cNvSpPr>
            <a:spLocks xmlns:a="http://schemas.openxmlformats.org/drawingml/2006/main" noGrp="1"/>
          </p:cNvSpPr>
          <p:nvPr/>
        </p:nvSpPr>
        <p:spPr>
          <a:xfrm xmlns:a="http://schemas.openxmlformats.org/drawingml/2006/main">
            <a:off x="9048750" y="2647950"/>
            <a:ext cx="2000250" cy="1257300"/>
          </a:xfrm>
          <a:prstGeom xmlns:a="http://schemas.openxmlformats.org/drawingml/2006/main" prst="rect">
            <a:avLst/>
          </a:prstGeom>
          <a:solidFill xmlns:a="http://schemas.openxmlformats.org/drawingml/2006/main">
            <a:srgbClr val="FFFFFF"/>
          </a:solidFill>
          <a:ln xmlns:a="http://schemas.openxmlformats.org/drawingml/2006/main" w="9525">
            <a:solidFill>
              <a:srgbClr val="D8E0EA"/>
            </a:solidFill>
          </a:ln>
        </p:spPr>
      </p:sp>
      <p:sp>
        <p:nvSpPr>
          <p:cNvPr id="23" name="">
            <a:extLst xmlns:a="http://schemas.openxmlformats.org/drawingml/2006/main">
              <a:ext uri="{FF2B5EF4-FFF2-40B4-BE49-F238E27FC236}">
                <a16:creationId xmlns:a16="http://schemas.microsoft.com/office/drawing/2014/main" id="{D4EC24E1-F228-470B-A015-C11FB1A01F68}"/>
              </a:ext>
            </a:extLst>
          </p:cNvPr>
          <p:cNvSpPr>
            <a:spLocks xmlns:a="http://schemas.openxmlformats.org/drawingml/2006/main" noGrp="1"/>
          </p:cNvSpPr>
          <p:nvPr/>
        </p:nvSpPr>
        <p:spPr>
          <a:xfrm xmlns:a="http://schemas.openxmlformats.org/drawingml/2006/main">
            <a:off x="9258300" y="2895600"/>
            <a:ext cx="15811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650" b="1">
                <a:solidFill>
                  <a:srgbClr val="16A34A"/>
                </a:solidFill>
                <a:latin typeface="Aptos"/>
                <a:ea typeface="Aptos"/>
                <a:cs typeface="Aptos"/>
              </a:defRPr>
            </a:pPr>
            <a:r>
              <a:rPr sz="1650" b="1">
                <a:solidFill>
                  <a:srgbClr val="16A34A"/>
                </a:solidFill>
                <a:latin typeface="Aptos"/>
                <a:ea typeface="Aptos"/>
                <a:cs typeface="Aptos"/>
              </a:rPr>
              <a:t>Verify</a:t>
            </a:r>
          </a:p>
        </p:txBody>
      </p:sp>
      <p:sp>
        <p:nvSpPr>
          <p:cNvPr id="24" name="">
            <a:extLst xmlns:a="http://schemas.openxmlformats.org/drawingml/2006/main">
              <a:ext uri="{FF2B5EF4-FFF2-40B4-BE49-F238E27FC236}">
                <a16:creationId xmlns:a16="http://schemas.microsoft.com/office/drawing/2014/main" id="{21D6638C-0A24-4AD4-91DA-B6B896AE4CB2}"/>
              </a:ext>
            </a:extLst>
          </p:cNvPr>
          <p:cNvSpPr>
            <a:spLocks xmlns:a="http://schemas.openxmlformats.org/drawingml/2006/main" noGrp="1"/>
          </p:cNvSpPr>
          <p:nvPr/>
        </p:nvSpPr>
        <p:spPr>
          <a:xfrm xmlns:a="http://schemas.openxmlformats.org/drawingml/2006/main">
            <a:off x="9277350" y="3352800"/>
            <a:ext cx="15430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900" b="0">
                <a:solidFill>
                  <a:srgbClr val="526179"/>
                </a:solidFill>
                <a:latin typeface="Aptos"/>
                <a:ea typeface="Aptos"/>
                <a:cs typeface="Aptos"/>
              </a:defRPr>
            </a:pPr>
            <a:r>
              <a:rPr sz="900" b="0">
                <a:solidFill>
                  <a:srgbClr val="526179"/>
                </a:solidFill>
                <a:latin typeface="Aptos"/>
                <a:ea typeface="Aptos"/>
                <a:cs typeface="Aptos"/>
              </a:rPr>
              <a:t>Run tests, inspect diffs, check behavior, ask for residual risk.</a:t>
            </a:r>
          </a:p>
        </p:txBody>
      </p:sp>
      <p:sp>
        <p:nvSpPr>
          <p:cNvPr id="25" name="">
            <a:extLst xmlns:a="http://schemas.openxmlformats.org/drawingml/2006/main">
              <a:ext uri="{FF2B5EF4-FFF2-40B4-BE49-F238E27FC236}">
                <a16:creationId xmlns:a16="http://schemas.microsoft.com/office/drawing/2014/main" id="{F60F6589-5E6C-4B99-B540-7026A54256C3}"/>
              </a:ext>
            </a:extLst>
          </p:cNvPr>
          <p:cNvSpPr>
            <a:spLocks xmlns:a="http://schemas.openxmlformats.org/drawingml/2006/main" noGrp="1"/>
          </p:cNvSpPr>
          <p:nvPr/>
        </p:nvSpPr>
        <p:spPr>
          <a:xfrm xmlns:a="http://schemas.openxmlformats.org/drawingml/2006/main">
            <a:off x="2247900" y="5143500"/>
            <a:ext cx="7620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650" b="1">
                <a:solidFill>
                  <a:srgbClr val="172033"/>
                </a:solidFill>
                <a:latin typeface="Aptos"/>
                <a:ea typeface="Aptos"/>
                <a:cs typeface="Aptos"/>
              </a:defRPr>
            </a:pPr>
            <a:r>
              <a:rPr sz="1650" b="1">
                <a:solidFill>
                  <a:srgbClr val="172033"/>
                </a:solidFill>
                <a:latin typeface="Aptos"/>
                <a:ea typeface="Aptos"/>
                <a:cs typeface="Aptos"/>
              </a:rPr>
              <a:t>Interrupting early is cheaper than reviewing a confident wrong diff.</a:t>
            </a:r>
          </a:p>
        </p:txBody>
      </p:sp>
    </p:spTree>
    <p:extLst>
      <p:ext uri="{BB962C8B-B14F-4D97-AF65-F5344CB8AC3E}">
        <p14:creationId xmlns:p14="http://schemas.microsoft.com/office/powerpoint/2010/main" val="757529065"/>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CC294F3-0FD6-417D-97DE-974AB8768CC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6F8F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30E29D6-A033-4DAD-BAA3-E76806FE91D1}"/>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9F9A"/>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D5D7DA9-E6AF-449E-B636-72DFC369021B}"/>
              </a:ext>
            </a:extLst>
          </p:cNvPr>
          <p:cNvSpPr>
            <a:spLocks xmlns:a="http://schemas.openxmlformats.org/drawingml/2006/main" noGrp="1"/>
          </p:cNvSpPr>
          <p:nvPr/>
        </p:nvSpPr>
        <p:spPr>
          <a:xfrm xmlns:a="http://schemas.openxmlformats.org/drawingml/2006/main">
            <a:off x="514350" y="400050"/>
            <a:ext cx="5143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788" b="1">
                <a:solidFill>
                  <a:srgbClr val="0E9F9A"/>
                </a:solidFill>
                <a:latin typeface="Aptos"/>
                <a:ea typeface="Aptos"/>
                <a:cs typeface="Aptos"/>
              </a:defRPr>
            </a:pPr>
            <a:r>
              <a:rPr sz="788" b="1">
                <a:solidFill>
                  <a:srgbClr val="0E9F9A"/>
                </a:solidFill>
                <a:latin typeface="Aptos"/>
                <a:ea typeface="Aptos"/>
                <a:cs typeface="Aptos"/>
              </a:rPr>
              <a:t>FAILURE MODES</a:t>
            </a:r>
          </a:p>
        </p:txBody>
      </p:sp>
      <p:sp>
        <p:nvSpPr>
          <p:cNvPr id="4" name="">
            <a:extLst xmlns:a="http://schemas.openxmlformats.org/drawingml/2006/main">
              <a:ext uri="{FF2B5EF4-FFF2-40B4-BE49-F238E27FC236}">
                <a16:creationId xmlns:a16="http://schemas.microsoft.com/office/drawing/2014/main" id="{9E58E612-A6D2-4224-879B-D03F8F023C17}"/>
              </a:ext>
            </a:extLst>
          </p:cNvPr>
          <p:cNvSpPr>
            <a:spLocks xmlns:a="http://schemas.openxmlformats.org/drawingml/2006/main" noGrp="1"/>
          </p:cNvSpPr>
          <p:nvPr/>
        </p:nvSpPr>
        <p:spPr>
          <a:xfrm xmlns:a="http://schemas.openxmlformats.org/drawingml/2006/main">
            <a:off x="514350" y="685800"/>
            <a:ext cx="8382000" cy="8763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172033"/>
                </a:solidFill>
                <a:latin typeface="Aptos Display"/>
                <a:ea typeface="Aptos Display"/>
                <a:cs typeface="Aptos Display"/>
              </a:defRPr>
            </a:pPr>
            <a:r>
              <a:rPr sz="2550" b="1">
                <a:solidFill>
                  <a:srgbClr val="172033"/>
                </a:solidFill>
                <a:latin typeface="Aptos Display"/>
                <a:ea typeface="Aptos Display"/>
                <a:cs typeface="Aptos Display"/>
              </a:rPr>
              <a:t>Most agent failures are context failures wearing a confidence costume.</a:t>
            </a:r>
          </a:p>
        </p:txBody>
      </p:sp>
      <p:sp>
        <p:nvSpPr>
          <p:cNvPr id="5" name="">
            <a:extLst xmlns:a="http://schemas.openxmlformats.org/drawingml/2006/main">
              <a:ext uri="{FF2B5EF4-FFF2-40B4-BE49-F238E27FC236}">
                <a16:creationId xmlns:a16="http://schemas.microsoft.com/office/drawing/2014/main" id="{2E51E648-621C-4126-B266-6263C636EEB9}"/>
              </a:ext>
            </a:extLst>
          </p:cNvPr>
          <p:cNvSpPr>
            <a:spLocks xmlns:a="http://schemas.openxmlformats.org/drawingml/2006/main" noGrp="1"/>
          </p:cNvSpPr>
          <p:nvPr/>
        </p:nvSpPr>
        <p:spPr>
          <a:xfrm xmlns:a="http://schemas.openxmlformats.org/drawingml/2006/main">
            <a:off x="514350" y="6515100"/>
            <a:ext cx="88582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638" b="0">
                <a:solidFill>
                  <a:srgbClr val="7B8798"/>
                </a:solidFill>
                <a:latin typeface="Aptos"/>
                <a:ea typeface="Aptos"/>
                <a:cs typeface="Aptos"/>
              </a:defRPr>
            </a:pPr>
            <a:r>
              <a:rPr sz="638" b="0">
                <a:solidFill>
                  <a:srgbClr val="7B8798"/>
                </a:solidFill>
                <a:latin typeface="Aptos"/>
                <a:ea typeface="Aptos"/>
                <a:cs typeface="Aptos"/>
              </a:rPr>
              <a:t>101 AI Basics for Developers</a:t>
            </a:r>
          </a:p>
        </p:txBody>
      </p:sp>
      <p:sp>
        <p:nvSpPr>
          <p:cNvPr id="6" name="">
            <a:extLst xmlns:a="http://schemas.openxmlformats.org/drawingml/2006/main">
              <a:ext uri="{FF2B5EF4-FFF2-40B4-BE49-F238E27FC236}">
                <a16:creationId xmlns:a16="http://schemas.microsoft.com/office/drawing/2014/main" id="{578BF853-7B60-43E1-A2DC-51239C8D56B3}"/>
              </a:ext>
            </a:extLst>
          </p:cNvPr>
          <p:cNvSpPr>
            <a:spLocks xmlns:a="http://schemas.openxmlformats.org/drawingml/2006/main" noGrp="1"/>
          </p:cNvSpPr>
          <p:nvPr/>
        </p:nvSpPr>
        <p:spPr>
          <a:xfrm xmlns:a="http://schemas.openxmlformats.org/drawingml/2006/main">
            <a:off x="11239500" y="6477000"/>
            <a:ext cx="4381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r">
              <a:defRPr sz="750" b="1">
                <a:solidFill>
                  <a:srgbClr val="7B8798"/>
                </a:solidFill>
                <a:latin typeface="Aptos"/>
                <a:ea typeface="Aptos"/>
                <a:cs typeface="Aptos"/>
              </a:defRPr>
            </a:pPr>
            <a:r>
              <a:rPr sz="750" b="1">
                <a:solidFill>
                  <a:srgbClr val="7B8798"/>
                </a:solidFill>
                <a:latin typeface="Aptos"/>
                <a:ea typeface="Aptos"/>
                <a:cs typeface="Aptos"/>
              </a:rPr>
              <a:t>13</a:t>
            </a:r>
          </a:p>
        </p:txBody>
      </p:sp>
      <p:sp>
        <p:nvSpPr>
          <p:cNvPr id="7" name="">
            <a:extLst xmlns:a="http://schemas.openxmlformats.org/drawingml/2006/main">
              <a:ext uri="{FF2B5EF4-FFF2-40B4-BE49-F238E27FC236}">
                <a16:creationId xmlns:a16="http://schemas.microsoft.com/office/drawing/2014/main" id="{10A33B36-1465-4605-A4B2-DF2EA1DB6987}"/>
              </a:ext>
            </a:extLst>
          </p:cNvPr>
          <p:cNvSpPr>
            <a:spLocks xmlns:a="http://schemas.openxmlformats.org/drawingml/2006/main" noGrp="1"/>
          </p:cNvSpPr>
          <p:nvPr/>
        </p:nvSpPr>
        <p:spPr>
          <a:xfrm xmlns:a="http://schemas.openxmlformats.org/drawingml/2006/main">
            <a:off x="857250" y="2057400"/>
            <a:ext cx="2857500" cy="1219200"/>
          </a:xfrm>
          <a:prstGeom xmlns:a="http://schemas.openxmlformats.org/drawingml/2006/main" prst="rect">
            <a:avLst/>
          </a:prstGeom>
          <a:solidFill xmlns:a="http://schemas.openxmlformats.org/drawingml/2006/main">
            <a:srgbClr val="FFFFFF"/>
          </a:solidFill>
          <a:ln xmlns:a="http://schemas.openxmlformats.org/drawingml/2006/main" w="9525">
            <a:solidFill>
              <a:srgbClr val="D8E0EA"/>
            </a:solidFill>
          </a:ln>
        </p:spPr>
      </p:sp>
      <p:sp>
        <p:nvSpPr>
          <p:cNvPr id="8" name="">
            <a:extLst xmlns:a="http://schemas.openxmlformats.org/drawingml/2006/main">
              <a:ext uri="{FF2B5EF4-FFF2-40B4-BE49-F238E27FC236}">
                <a16:creationId xmlns:a16="http://schemas.microsoft.com/office/drawing/2014/main" id="{FA997D38-C153-4664-AA46-55ED98209D10}"/>
              </a:ext>
            </a:extLst>
          </p:cNvPr>
          <p:cNvSpPr>
            <a:spLocks xmlns:a="http://schemas.openxmlformats.org/drawingml/2006/main" noGrp="1"/>
          </p:cNvSpPr>
          <p:nvPr/>
        </p:nvSpPr>
        <p:spPr>
          <a:xfrm xmlns:a="http://schemas.openxmlformats.org/drawingml/2006/main">
            <a:off x="857250" y="2057400"/>
            <a:ext cx="47625" cy="1219200"/>
          </a:xfrm>
          <a:prstGeom xmlns:a="http://schemas.openxmlformats.org/drawingml/2006/main" prst="rect">
            <a:avLst/>
          </a:prstGeom>
          <a:solidFill xmlns:a="http://schemas.openxmlformats.org/drawingml/2006/main">
            <a:srgbClr val="DC262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21AF7F1D-B1BC-481C-BF9A-41BF5948EF2B}"/>
              </a:ext>
            </a:extLst>
          </p:cNvPr>
          <p:cNvSpPr>
            <a:spLocks xmlns:a="http://schemas.openxmlformats.org/drawingml/2006/main" noGrp="1"/>
          </p:cNvSpPr>
          <p:nvPr/>
        </p:nvSpPr>
        <p:spPr>
          <a:xfrm xmlns:a="http://schemas.openxmlformats.org/drawingml/2006/main">
            <a:off x="1066800" y="2266950"/>
            <a:ext cx="24384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172033"/>
                </a:solidFill>
                <a:latin typeface="Aptos"/>
                <a:ea typeface="Aptos"/>
                <a:cs typeface="Aptos"/>
              </a:defRPr>
            </a:pPr>
            <a:r>
              <a:rPr sz="1275" b="1">
                <a:solidFill>
                  <a:srgbClr val="172033"/>
                </a:solidFill>
                <a:latin typeface="Aptos"/>
                <a:ea typeface="Aptos"/>
                <a:cs typeface="Aptos"/>
              </a:rPr>
              <a:t>Hallucinated APIs</a:t>
            </a:r>
          </a:p>
        </p:txBody>
      </p:sp>
      <p:sp>
        <p:nvSpPr>
          <p:cNvPr id="10" name="">
            <a:extLst xmlns:a="http://schemas.openxmlformats.org/drawingml/2006/main">
              <a:ext uri="{FF2B5EF4-FFF2-40B4-BE49-F238E27FC236}">
                <a16:creationId xmlns:a16="http://schemas.microsoft.com/office/drawing/2014/main" id="{0239118D-9FEA-446F-B664-C292A1CED217}"/>
              </a:ext>
            </a:extLst>
          </p:cNvPr>
          <p:cNvSpPr>
            <a:spLocks xmlns:a="http://schemas.openxmlformats.org/drawingml/2006/main" noGrp="1"/>
          </p:cNvSpPr>
          <p:nvPr/>
        </p:nvSpPr>
        <p:spPr>
          <a:xfrm xmlns:a="http://schemas.openxmlformats.org/drawingml/2006/main">
            <a:off x="1066800" y="2609850"/>
            <a:ext cx="2438400" cy="4762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38" b="0">
                <a:solidFill>
                  <a:srgbClr val="526179"/>
                </a:solidFill>
                <a:latin typeface="Aptos"/>
                <a:ea typeface="Aptos"/>
                <a:cs typeface="Aptos"/>
              </a:defRPr>
            </a:pPr>
            <a:r>
              <a:rPr sz="938" b="0">
                <a:solidFill>
                  <a:srgbClr val="526179"/>
                </a:solidFill>
                <a:latin typeface="Aptos"/>
                <a:ea typeface="Aptos"/>
                <a:cs typeface="Aptos"/>
              </a:rPr>
              <a:t>Counter: ask it to cite the local symbol or docs before coding.</a:t>
            </a:r>
          </a:p>
        </p:txBody>
      </p:sp>
      <p:sp>
        <p:nvSpPr>
          <p:cNvPr id="11" name="">
            <a:extLst xmlns:a="http://schemas.openxmlformats.org/drawingml/2006/main">
              <a:ext uri="{FF2B5EF4-FFF2-40B4-BE49-F238E27FC236}">
                <a16:creationId xmlns:a16="http://schemas.microsoft.com/office/drawing/2014/main" id="{2CF4C903-4B04-4232-A778-72BFE43C3D0F}"/>
              </a:ext>
            </a:extLst>
          </p:cNvPr>
          <p:cNvSpPr>
            <a:spLocks xmlns:a="http://schemas.openxmlformats.org/drawingml/2006/main" noGrp="1"/>
          </p:cNvSpPr>
          <p:nvPr/>
        </p:nvSpPr>
        <p:spPr>
          <a:xfrm xmlns:a="http://schemas.openxmlformats.org/drawingml/2006/main">
            <a:off x="4333875" y="2057400"/>
            <a:ext cx="2857500" cy="1219200"/>
          </a:xfrm>
          <a:prstGeom xmlns:a="http://schemas.openxmlformats.org/drawingml/2006/main" prst="rect">
            <a:avLst/>
          </a:prstGeom>
          <a:solidFill xmlns:a="http://schemas.openxmlformats.org/drawingml/2006/main">
            <a:srgbClr val="FFFFFF"/>
          </a:solidFill>
          <a:ln xmlns:a="http://schemas.openxmlformats.org/drawingml/2006/main" w="9525">
            <a:solidFill>
              <a:srgbClr val="D8E0EA"/>
            </a:solidFill>
          </a:ln>
        </p:spPr>
      </p:sp>
      <p:sp>
        <p:nvSpPr>
          <p:cNvPr id="12" name="">
            <a:extLst xmlns:a="http://schemas.openxmlformats.org/drawingml/2006/main">
              <a:ext uri="{FF2B5EF4-FFF2-40B4-BE49-F238E27FC236}">
                <a16:creationId xmlns:a16="http://schemas.microsoft.com/office/drawing/2014/main" id="{A6D966DC-4F8E-46D8-B382-4B1233919A40}"/>
              </a:ext>
            </a:extLst>
          </p:cNvPr>
          <p:cNvSpPr>
            <a:spLocks xmlns:a="http://schemas.openxmlformats.org/drawingml/2006/main" noGrp="1"/>
          </p:cNvSpPr>
          <p:nvPr/>
        </p:nvSpPr>
        <p:spPr>
          <a:xfrm xmlns:a="http://schemas.openxmlformats.org/drawingml/2006/main">
            <a:off x="4333875" y="2057400"/>
            <a:ext cx="47625" cy="1219200"/>
          </a:xfrm>
          <a:prstGeom xmlns:a="http://schemas.openxmlformats.org/drawingml/2006/main" prst="rect">
            <a:avLst/>
          </a:prstGeom>
          <a:solidFill xmlns:a="http://schemas.openxmlformats.org/drawingml/2006/main">
            <a:srgbClr val="F59E0B"/>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9030FAFC-8A6D-4BDA-9C58-08FCF34471EB}"/>
              </a:ext>
            </a:extLst>
          </p:cNvPr>
          <p:cNvSpPr>
            <a:spLocks xmlns:a="http://schemas.openxmlformats.org/drawingml/2006/main" noGrp="1"/>
          </p:cNvSpPr>
          <p:nvPr/>
        </p:nvSpPr>
        <p:spPr>
          <a:xfrm xmlns:a="http://schemas.openxmlformats.org/drawingml/2006/main">
            <a:off x="4543425" y="2266950"/>
            <a:ext cx="24384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172033"/>
                </a:solidFill>
                <a:latin typeface="Aptos"/>
                <a:ea typeface="Aptos"/>
                <a:cs typeface="Aptos"/>
              </a:defRPr>
            </a:pPr>
            <a:r>
              <a:rPr sz="1275" b="1">
                <a:solidFill>
                  <a:srgbClr val="172033"/>
                </a:solidFill>
                <a:latin typeface="Aptos"/>
                <a:ea typeface="Aptos"/>
                <a:cs typeface="Aptos"/>
              </a:rPr>
              <a:t>Overbroad edits</a:t>
            </a:r>
          </a:p>
        </p:txBody>
      </p:sp>
      <p:sp>
        <p:nvSpPr>
          <p:cNvPr id="14" name="">
            <a:extLst xmlns:a="http://schemas.openxmlformats.org/drawingml/2006/main">
              <a:ext uri="{FF2B5EF4-FFF2-40B4-BE49-F238E27FC236}">
                <a16:creationId xmlns:a16="http://schemas.microsoft.com/office/drawing/2014/main" id="{1B4F5336-F11E-40C5-BF48-3F753AFABB23}"/>
              </a:ext>
            </a:extLst>
          </p:cNvPr>
          <p:cNvSpPr>
            <a:spLocks xmlns:a="http://schemas.openxmlformats.org/drawingml/2006/main" noGrp="1"/>
          </p:cNvSpPr>
          <p:nvPr/>
        </p:nvSpPr>
        <p:spPr>
          <a:xfrm xmlns:a="http://schemas.openxmlformats.org/drawingml/2006/main">
            <a:off x="4543425" y="2609850"/>
            <a:ext cx="2438400" cy="4762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38" b="0">
                <a:solidFill>
                  <a:srgbClr val="526179"/>
                </a:solidFill>
                <a:latin typeface="Aptos"/>
                <a:ea typeface="Aptos"/>
                <a:cs typeface="Aptos"/>
              </a:defRPr>
            </a:pPr>
            <a:r>
              <a:rPr sz="938" b="0">
                <a:solidFill>
                  <a:srgbClr val="526179"/>
                </a:solidFill>
                <a:latin typeface="Aptos"/>
                <a:ea typeface="Aptos"/>
                <a:cs typeface="Aptos"/>
              </a:rPr>
              <a:t>Counter: constrain files, public APIs, and migration scope.</a:t>
            </a:r>
          </a:p>
        </p:txBody>
      </p:sp>
      <p:sp>
        <p:nvSpPr>
          <p:cNvPr id="15" name="">
            <a:extLst xmlns:a="http://schemas.openxmlformats.org/drawingml/2006/main">
              <a:ext uri="{FF2B5EF4-FFF2-40B4-BE49-F238E27FC236}">
                <a16:creationId xmlns:a16="http://schemas.microsoft.com/office/drawing/2014/main" id="{D2F751F4-BA22-47A6-9F64-68083B1F35D4}"/>
              </a:ext>
            </a:extLst>
          </p:cNvPr>
          <p:cNvSpPr>
            <a:spLocks xmlns:a="http://schemas.openxmlformats.org/drawingml/2006/main" noGrp="1"/>
          </p:cNvSpPr>
          <p:nvPr/>
        </p:nvSpPr>
        <p:spPr>
          <a:xfrm xmlns:a="http://schemas.openxmlformats.org/drawingml/2006/main">
            <a:off x="7810500" y="2057400"/>
            <a:ext cx="2857500" cy="1219200"/>
          </a:xfrm>
          <a:prstGeom xmlns:a="http://schemas.openxmlformats.org/drawingml/2006/main" prst="rect">
            <a:avLst/>
          </a:prstGeom>
          <a:solidFill xmlns:a="http://schemas.openxmlformats.org/drawingml/2006/main">
            <a:srgbClr val="FFFFFF"/>
          </a:solidFill>
          <a:ln xmlns:a="http://schemas.openxmlformats.org/drawingml/2006/main" w="9525">
            <a:solidFill>
              <a:srgbClr val="D8E0EA"/>
            </a:solidFill>
          </a:ln>
        </p:spPr>
      </p:sp>
      <p:sp>
        <p:nvSpPr>
          <p:cNvPr id="16" name="">
            <a:extLst xmlns:a="http://schemas.openxmlformats.org/drawingml/2006/main">
              <a:ext uri="{FF2B5EF4-FFF2-40B4-BE49-F238E27FC236}">
                <a16:creationId xmlns:a16="http://schemas.microsoft.com/office/drawing/2014/main" id="{4A0D5F19-C58F-40D5-8C54-C1D158E975B2}"/>
              </a:ext>
            </a:extLst>
          </p:cNvPr>
          <p:cNvSpPr>
            <a:spLocks xmlns:a="http://schemas.openxmlformats.org/drawingml/2006/main" noGrp="1"/>
          </p:cNvSpPr>
          <p:nvPr/>
        </p:nvSpPr>
        <p:spPr>
          <a:xfrm xmlns:a="http://schemas.openxmlformats.org/drawingml/2006/main">
            <a:off x="7810500" y="2057400"/>
            <a:ext cx="47625" cy="1219200"/>
          </a:xfrm>
          <a:prstGeom xmlns:a="http://schemas.openxmlformats.org/drawingml/2006/main" prst="rect">
            <a:avLst/>
          </a:prstGeom>
          <a:solidFill xmlns:a="http://schemas.openxmlformats.org/drawingml/2006/main">
            <a:srgbClr val="7C3AED"/>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1D1E6729-A42E-49AD-94E3-E31318911B02}"/>
              </a:ext>
            </a:extLst>
          </p:cNvPr>
          <p:cNvSpPr>
            <a:spLocks xmlns:a="http://schemas.openxmlformats.org/drawingml/2006/main" noGrp="1"/>
          </p:cNvSpPr>
          <p:nvPr/>
        </p:nvSpPr>
        <p:spPr>
          <a:xfrm xmlns:a="http://schemas.openxmlformats.org/drawingml/2006/main">
            <a:off x="8020050" y="2266950"/>
            <a:ext cx="24384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172033"/>
                </a:solidFill>
                <a:latin typeface="Aptos"/>
                <a:ea typeface="Aptos"/>
                <a:cs typeface="Aptos"/>
              </a:defRPr>
            </a:pPr>
            <a:r>
              <a:rPr sz="1275" b="1">
                <a:solidFill>
                  <a:srgbClr val="172033"/>
                </a:solidFill>
                <a:latin typeface="Aptos"/>
                <a:ea typeface="Aptos"/>
                <a:cs typeface="Aptos"/>
              </a:rPr>
              <a:t>Stale context</a:t>
            </a:r>
          </a:p>
        </p:txBody>
      </p:sp>
      <p:sp>
        <p:nvSpPr>
          <p:cNvPr id="18" name="">
            <a:extLst xmlns:a="http://schemas.openxmlformats.org/drawingml/2006/main">
              <a:ext uri="{FF2B5EF4-FFF2-40B4-BE49-F238E27FC236}">
                <a16:creationId xmlns:a16="http://schemas.microsoft.com/office/drawing/2014/main" id="{4CB42ACC-FD38-4787-9E3E-FA16BE0C3231}"/>
              </a:ext>
            </a:extLst>
          </p:cNvPr>
          <p:cNvSpPr>
            <a:spLocks xmlns:a="http://schemas.openxmlformats.org/drawingml/2006/main" noGrp="1"/>
          </p:cNvSpPr>
          <p:nvPr/>
        </p:nvSpPr>
        <p:spPr>
          <a:xfrm xmlns:a="http://schemas.openxmlformats.org/drawingml/2006/main">
            <a:off x="8020050" y="2609850"/>
            <a:ext cx="2438400" cy="4762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38" b="0">
                <a:solidFill>
                  <a:srgbClr val="526179"/>
                </a:solidFill>
                <a:latin typeface="Aptos"/>
                <a:ea typeface="Aptos"/>
                <a:cs typeface="Aptos"/>
              </a:defRPr>
            </a:pPr>
            <a:r>
              <a:rPr sz="938" b="0">
                <a:solidFill>
                  <a:srgbClr val="526179"/>
                </a:solidFill>
                <a:latin typeface="Aptos"/>
                <a:ea typeface="Aptos"/>
                <a:cs typeface="Aptos"/>
              </a:rPr>
              <a:t>Counter: restart, summarize, or checkpoint after major pivots.</a:t>
            </a:r>
          </a:p>
        </p:txBody>
      </p:sp>
      <p:sp>
        <p:nvSpPr>
          <p:cNvPr id="19" name="">
            <a:extLst xmlns:a="http://schemas.openxmlformats.org/drawingml/2006/main">
              <a:ext uri="{FF2B5EF4-FFF2-40B4-BE49-F238E27FC236}">
                <a16:creationId xmlns:a16="http://schemas.microsoft.com/office/drawing/2014/main" id="{F4F4AFDB-8838-4B32-BD59-257EBD6BC025}"/>
              </a:ext>
            </a:extLst>
          </p:cNvPr>
          <p:cNvSpPr>
            <a:spLocks xmlns:a="http://schemas.openxmlformats.org/drawingml/2006/main" noGrp="1"/>
          </p:cNvSpPr>
          <p:nvPr/>
        </p:nvSpPr>
        <p:spPr>
          <a:xfrm xmlns:a="http://schemas.openxmlformats.org/drawingml/2006/main">
            <a:off x="2571750" y="3981450"/>
            <a:ext cx="2857500" cy="1219200"/>
          </a:xfrm>
          <a:prstGeom xmlns:a="http://schemas.openxmlformats.org/drawingml/2006/main" prst="rect">
            <a:avLst/>
          </a:prstGeom>
          <a:solidFill xmlns:a="http://schemas.openxmlformats.org/drawingml/2006/main">
            <a:srgbClr val="FFFFFF"/>
          </a:solidFill>
          <a:ln xmlns:a="http://schemas.openxmlformats.org/drawingml/2006/main" w="9525">
            <a:solidFill>
              <a:srgbClr val="D8E0EA"/>
            </a:solidFill>
          </a:ln>
        </p:spPr>
      </p:sp>
      <p:sp>
        <p:nvSpPr>
          <p:cNvPr id="20" name="">
            <a:extLst xmlns:a="http://schemas.openxmlformats.org/drawingml/2006/main">
              <a:ext uri="{FF2B5EF4-FFF2-40B4-BE49-F238E27FC236}">
                <a16:creationId xmlns:a16="http://schemas.microsoft.com/office/drawing/2014/main" id="{F7D43AD9-FBAE-49EC-A254-DC347E185712}"/>
              </a:ext>
            </a:extLst>
          </p:cNvPr>
          <p:cNvSpPr>
            <a:spLocks xmlns:a="http://schemas.openxmlformats.org/drawingml/2006/main" noGrp="1"/>
          </p:cNvSpPr>
          <p:nvPr/>
        </p:nvSpPr>
        <p:spPr>
          <a:xfrm xmlns:a="http://schemas.openxmlformats.org/drawingml/2006/main">
            <a:off x="2571750" y="3981450"/>
            <a:ext cx="47625" cy="1219200"/>
          </a:xfrm>
          <a:prstGeom xmlns:a="http://schemas.openxmlformats.org/drawingml/2006/main" prst="rect">
            <a:avLst/>
          </a:prstGeom>
          <a:solidFill xmlns:a="http://schemas.openxmlformats.org/drawingml/2006/main">
            <a:srgbClr val="2563EB"/>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FC6BD7D1-0D4D-4914-8680-905084BAEE72}"/>
              </a:ext>
            </a:extLst>
          </p:cNvPr>
          <p:cNvSpPr>
            <a:spLocks xmlns:a="http://schemas.openxmlformats.org/drawingml/2006/main" noGrp="1"/>
          </p:cNvSpPr>
          <p:nvPr/>
        </p:nvSpPr>
        <p:spPr>
          <a:xfrm xmlns:a="http://schemas.openxmlformats.org/drawingml/2006/main">
            <a:off x="2781300" y="4191000"/>
            <a:ext cx="24384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172033"/>
                </a:solidFill>
                <a:latin typeface="Aptos"/>
                <a:ea typeface="Aptos"/>
                <a:cs typeface="Aptos"/>
              </a:defRPr>
            </a:pPr>
            <a:r>
              <a:rPr sz="1275" b="1">
                <a:solidFill>
                  <a:srgbClr val="172033"/>
                </a:solidFill>
                <a:latin typeface="Aptos"/>
                <a:ea typeface="Aptos"/>
                <a:cs typeface="Aptos"/>
              </a:rPr>
              <a:t>Weak tests</a:t>
            </a:r>
          </a:p>
        </p:txBody>
      </p:sp>
      <p:sp>
        <p:nvSpPr>
          <p:cNvPr id="22" name="">
            <a:extLst xmlns:a="http://schemas.openxmlformats.org/drawingml/2006/main">
              <a:ext uri="{FF2B5EF4-FFF2-40B4-BE49-F238E27FC236}">
                <a16:creationId xmlns:a16="http://schemas.microsoft.com/office/drawing/2014/main" id="{0488639A-81C1-446F-B5E2-8B6FF50541A9}"/>
              </a:ext>
            </a:extLst>
          </p:cNvPr>
          <p:cNvSpPr>
            <a:spLocks xmlns:a="http://schemas.openxmlformats.org/drawingml/2006/main" noGrp="1"/>
          </p:cNvSpPr>
          <p:nvPr/>
        </p:nvSpPr>
        <p:spPr>
          <a:xfrm xmlns:a="http://schemas.openxmlformats.org/drawingml/2006/main">
            <a:off x="2781300" y="4533900"/>
            <a:ext cx="2438400" cy="4762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38" b="0">
                <a:solidFill>
                  <a:srgbClr val="526179"/>
                </a:solidFill>
                <a:latin typeface="Aptos"/>
                <a:ea typeface="Aptos"/>
                <a:cs typeface="Aptos"/>
              </a:defRPr>
            </a:pPr>
            <a:r>
              <a:rPr sz="938" b="0">
                <a:solidFill>
                  <a:srgbClr val="526179"/>
                </a:solidFill>
                <a:latin typeface="Aptos"/>
                <a:ea typeface="Aptos"/>
                <a:cs typeface="Aptos"/>
              </a:rPr>
              <a:t>Counter: require failing test first or explicit manual QA steps.</a:t>
            </a:r>
          </a:p>
        </p:txBody>
      </p:sp>
      <p:sp>
        <p:nvSpPr>
          <p:cNvPr id="23" name="">
            <a:extLst xmlns:a="http://schemas.openxmlformats.org/drawingml/2006/main">
              <a:ext uri="{FF2B5EF4-FFF2-40B4-BE49-F238E27FC236}">
                <a16:creationId xmlns:a16="http://schemas.microsoft.com/office/drawing/2014/main" id="{63ED4D86-F751-459C-96DB-5AAC9BF85C97}"/>
              </a:ext>
            </a:extLst>
          </p:cNvPr>
          <p:cNvSpPr>
            <a:spLocks xmlns:a="http://schemas.openxmlformats.org/drawingml/2006/main" noGrp="1"/>
          </p:cNvSpPr>
          <p:nvPr/>
        </p:nvSpPr>
        <p:spPr>
          <a:xfrm xmlns:a="http://schemas.openxmlformats.org/drawingml/2006/main">
            <a:off x="6048375" y="3981450"/>
            <a:ext cx="2857500" cy="1219200"/>
          </a:xfrm>
          <a:prstGeom xmlns:a="http://schemas.openxmlformats.org/drawingml/2006/main" prst="rect">
            <a:avLst/>
          </a:prstGeom>
          <a:solidFill xmlns:a="http://schemas.openxmlformats.org/drawingml/2006/main">
            <a:srgbClr val="FFFFFF"/>
          </a:solidFill>
          <a:ln xmlns:a="http://schemas.openxmlformats.org/drawingml/2006/main" w="9525">
            <a:solidFill>
              <a:srgbClr val="D8E0EA"/>
            </a:solidFill>
          </a:ln>
        </p:spPr>
      </p:sp>
      <p:sp>
        <p:nvSpPr>
          <p:cNvPr id="24" name="">
            <a:extLst xmlns:a="http://schemas.openxmlformats.org/drawingml/2006/main">
              <a:ext uri="{FF2B5EF4-FFF2-40B4-BE49-F238E27FC236}">
                <a16:creationId xmlns:a16="http://schemas.microsoft.com/office/drawing/2014/main" id="{BFBC06B3-DF3D-4E6A-B5A4-99DA34509907}"/>
              </a:ext>
            </a:extLst>
          </p:cNvPr>
          <p:cNvSpPr>
            <a:spLocks xmlns:a="http://schemas.openxmlformats.org/drawingml/2006/main" noGrp="1"/>
          </p:cNvSpPr>
          <p:nvPr/>
        </p:nvSpPr>
        <p:spPr>
          <a:xfrm xmlns:a="http://schemas.openxmlformats.org/drawingml/2006/main">
            <a:off x="6048375" y="3981450"/>
            <a:ext cx="47625" cy="1219200"/>
          </a:xfrm>
          <a:prstGeom xmlns:a="http://schemas.openxmlformats.org/drawingml/2006/main" prst="rect">
            <a:avLst/>
          </a:prstGeom>
          <a:solidFill xmlns:a="http://schemas.openxmlformats.org/drawingml/2006/main">
            <a:srgbClr val="16A34A"/>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28C855ED-1DC8-413A-B816-2E6B0E1E9795}"/>
              </a:ext>
            </a:extLst>
          </p:cNvPr>
          <p:cNvSpPr>
            <a:spLocks xmlns:a="http://schemas.openxmlformats.org/drawingml/2006/main" noGrp="1"/>
          </p:cNvSpPr>
          <p:nvPr/>
        </p:nvSpPr>
        <p:spPr>
          <a:xfrm xmlns:a="http://schemas.openxmlformats.org/drawingml/2006/main">
            <a:off x="6257925" y="4191000"/>
            <a:ext cx="24384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172033"/>
                </a:solidFill>
                <a:latin typeface="Aptos"/>
                <a:ea typeface="Aptos"/>
                <a:cs typeface="Aptos"/>
              </a:defRPr>
            </a:pPr>
            <a:r>
              <a:rPr sz="1275" b="1">
                <a:solidFill>
                  <a:srgbClr val="172033"/>
                </a:solidFill>
                <a:latin typeface="Aptos"/>
                <a:ea typeface="Aptos"/>
                <a:cs typeface="Aptos"/>
              </a:rPr>
              <a:t>Permission risk</a:t>
            </a:r>
          </a:p>
        </p:txBody>
      </p:sp>
      <p:sp>
        <p:nvSpPr>
          <p:cNvPr id="26" name="">
            <a:extLst xmlns:a="http://schemas.openxmlformats.org/drawingml/2006/main">
              <a:ext uri="{FF2B5EF4-FFF2-40B4-BE49-F238E27FC236}">
                <a16:creationId xmlns:a16="http://schemas.microsoft.com/office/drawing/2014/main" id="{78C3B281-592D-428F-8FAB-1C2C8E0F9508}"/>
              </a:ext>
            </a:extLst>
          </p:cNvPr>
          <p:cNvSpPr>
            <a:spLocks xmlns:a="http://schemas.openxmlformats.org/drawingml/2006/main" noGrp="1"/>
          </p:cNvSpPr>
          <p:nvPr/>
        </p:nvSpPr>
        <p:spPr>
          <a:xfrm xmlns:a="http://schemas.openxmlformats.org/drawingml/2006/main">
            <a:off x="6257925" y="4533900"/>
            <a:ext cx="2438400" cy="4762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38" b="0">
                <a:solidFill>
                  <a:srgbClr val="526179"/>
                </a:solidFill>
                <a:latin typeface="Aptos"/>
                <a:ea typeface="Aptos"/>
                <a:cs typeface="Aptos"/>
              </a:defRPr>
            </a:pPr>
            <a:r>
              <a:rPr sz="938" b="0">
                <a:solidFill>
                  <a:srgbClr val="526179"/>
                </a:solidFill>
                <a:latin typeface="Aptos"/>
                <a:ea typeface="Aptos"/>
                <a:cs typeface="Aptos"/>
              </a:rPr>
              <a:t>Counter: keep dangerous commands and secret access gated.</a:t>
            </a:r>
          </a:p>
        </p:txBody>
      </p:sp>
    </p:spTree>
    <p:extLst>
      <p:ext uri="{BB962C8B-B14F-4D97-AF65-F5344CB8AC3E}">
        <p14:creationId xmlns:p14="http://schemas.microsoft.com/office/powerpoint/2010/main" val="1503347772"/>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E5E492B-3A44-4F13-AD57-AD364862657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6F8F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1124953-F0AB-459B-9804-9FF579CD67AD}"/>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9F9A"/>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414569C-CE95-470D-B316-F6D804CA46C8}"/>
              </a:ext>
            </a:extLst>
          </p:cNvPr>
          <p:cNvSpPr>
            <a:spLocks xmlns:a="http://schemas.openxmlformats.org/drawingml/2006/main" noGrp="1"/>
          </p:cNvSpPr>
          <p:nvPr/>
        </p:nvSpPr>
        <p:spPr>
          <a:xfrm xmlns:a="http://schemas.openxmlformats.org/drawingml/2006/main">
            <a:off x="514350" y="400050"/>
            <a:ext cx="5143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788" b="1">
                <a:solidFill>
                  <a:srgbClr val="0E9F9A"/>
                </a:solidFill>
                <a:latin typeface="Aptos"/>
                <a:ea typeface="Aptos"/>
                <a:cs typeface="Aptos"/>
              </a:defRPr>
            </a:pPr>
            <a:r>
              <a:rPr sz="788" b="1">
                <a:solidFill>
                  <a:srgbClr val="0E9F9A"/>
                </a:solidFill>
                <a:latin typeface="Aptos"/>
                <a:ea typeface="Aptos"/>
                <a:cs typeface="Aptos"/>
              </a:rPr>
              <a:t>TEAM SETUP</a:t>
            </a:r>
          </a:p>
        </p:txBody>
      </p:sp>
      <p:sp>
        <p:nvSpPr>
          <p:cNvPr id="4" name="">
            <a:extLst xmlns:a="http://schemas.openxmlformats.org/drawingml/2006/main">
              <a:ext uri="{FF2B5EF4-FFF2-40B4-BE49-F238E27FC236}">
                <a16:creationId xmlns:a16="http://schemas.microsoft.com/office/drawing/2014/main" id="{78E18C34-3086-4E23-AF36-2C43DFA4F50E}"/>
              </a:ext>
            </a:extLst>
          </p:cNvPr>
          <p:cNvSpPr>
            <a:spLocks xmlns:a="http://schemas.openxmlformats.org/drawingml/2006/main" noGrp="1"/>
          </p:cNvSpPr>
          <p:nvPr/>
        </p:nvSpPr>
        <p:spPr>
          <a:xfrm xmlns:a="http://schemas.openxmlformats.org/drawingml/2006/main">
            <a:off x="514350" y="685800"/>
            <a:ext cx="8382000" cy="8763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172033"/>
                </a:solidFill>
                <a:latin typeface="Aptos Display"/>
                <a:ea typeface="Aptos Display"/>
                <a:cs typeface="Aptos Display"/>
              </a:defRPr>
            </a:pPr>
            <a:r>
              <a:rPr sz="2550" b="1">
                <a:solidFill>
                  <a:srgbClr val="172033"/>
                </a:solidFill>
                <a:latin typeface="Aptos Display"/>
                <a:ea typeface="Aptos Display"/>
                <a:cs typeface="Aptos Display"/>
              </a:rPr>
              <a:t>Make the repo easier for humans and agents to understand.</a:t>
            </a:r>
          </a:p>
        </p:txBody>
      </p:sp>
      <p:sp>
        <p:nvSpPr>
          <p:cNvPr id="5" name="">
            <a:extLst xmlns:a="http://schemas.openxmlformats.org/drawingml/2006/main">
              <a:ext uri="{FF2B5EF4-FFF2-40B4-BE49-F238E27FC236}">
                <a16:creationId xmlns:a16="http://schemas.microsoft.com/office/drawing/2014/main" id="{4377A411-F348-48C2-8CB0-C381FBDB5F0A}"/>
              </a:ext>
            </a:extLst>
          </p:cNvPr>
          <p:cNvSpPr>
            <a:spLocks xmlns:a="http://schemas.openxmlformats.org/drawingml/2006/main" noGrp="1"/>
          </p:cNvSpPr>
          <p:nvPr/>
        </p:nvSpPr>
        <p:spPr>
          <a:xfrm xmlns:a="http://schemas.openxmlformats.org/drawingml/2006/main">
            <a:off x="514350" y="6515100"/>
            <a:ext cx="88582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638" b="0">
                <a:solidFill>
                  <a:srgbClr val="7B8798"/>
                </a:solidFill>
                <a:latin typeface="Aptos"/>
                <a:ea typeface="Aptos"/>
                <a:cs typeface="Aptos"/>
              </a:defRPr>
            </a:pPr>
            <a:r>
              <a:rPr sz="638" b="0">
                <a:solidFill>
                  <a:srgbClr val="7B8798"/>
                </a:solidFill>
                <a:latin typeface="Aptos"/>
                <a:ea typeface="Aptos"/>
                <a:cs typeface="Aptos"/>
              </a:rPr>
              <a:t>GitHub Docs: custom instructions</a:t>
            </a:r>
          </a:p>
        </p:txBody>
      </p:sp>
      <p:sp>
        <p:nvSpPr>
          <p:cNvPr id="6" name="">
            <a:extLst xmlns:a="http://schemas.openxmlformats.org/drawingml/2006/main">
              <a:ext uri="{FF2B5EF4-FFF2-40B4-BE49-F238E27FC236}">
                <a16:creationId xmlns:a16="http://schemas.microsoft.com/office/drawing/2014/main" id="{D8380529-FA46-4445-830A-9BACAADA3F11}"/>
              </a:ext>
            </a:extLst>
          </p:cNvPr>
          <p:cNvSpPr>
            <a:spLocks xmlns:a="http://schemas.openxmlformats.org/drawingml/2006/main" noGrp="1"/>
          </p:cNvSpPr>
          <p:nvPr/>
        </p:nvSpPr>
        <p:spPr>
          <a:xfrm xmlns:a="http://schemas.openxmlformats.org/drawingml/2006/main">
            <a:off x="11239500" y="6477000"/>
            <a:ext cx="4381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r">
              <a:defRPr sz="750" b="1">
                <a:solidFill>
                  <a:srgbClr val="7B8798"/>
                </a:solidFill>
                <a:latin typeface="Aptos"/>
                <a:ea typeface="Aptos"/>
                <a:cs typeface="Aptos"/>
              </a:defRPr>
            </a:pPr>
            <a:r>
              <a:rPr sz="750" b="1">
                <a:solidFill>
                  <a:srgbClr val="7B8798"/>
                </a:solidFill>
                <a:latin typeface="Aptos"/>
                <a:ea typeface="Aptos"/>
                <a:cs typeface="Aptos"/>
              </a:rPr>
              <a:t>14</a:t>
            </a:r>
          </a:p>
        </p:txBody>
      </p:sp>
      <p:sp>
        <p:nvSpPr>
          <p:cNvPr id="7" name="">
            <a:extLst xmlns:a="http://schemas.openxmlformats.org/drawingml/2006/main">
              <a:ext uri="{FF2B5EF4-FFF2-40B4-BE49-F238E27FC236}">
                <a16:creationId xmlns:a16="http://schemas.microsoft.com/office/drawing/2014/main" id="{C8EFFEAD-AC8A-4A6F-B8FE-F8F8A43F5DB8}"/>
              </a:ext>
            </a:extLst>
          </p:cNvPr>
          <p:cNvSpPr>
            <a:spLocks xmlns:a="http://schemas.openxmlformats.org/drawingml/2006/main" noGrp="1"/>
          </p:cNvSpPr>
          <p:nvPr/>
        </p:nvSpPr>
        <p:spPr>
          <a:xfrm xmlns:a="http://schemas.openxmlformats.org/drawingml/2006/main">
            <a:off x="1047750" y="2095500"/>
            <a:ext cx="100965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D8E0EA"/>
            </a:solidFill>
          </a:ln>
        </p:spPr>
      </p:sp>
      <p:sp>
        <p:nvSpPr>
          <p:cNvPr id="8" name="">
            <a:extLst xmlns:a="http://schemas.openxmlformats.org/drawingml/2006/main">
              <a:ext uri="{FF2B5EF4-FFF2-40B4-BE49-F238E27FC236}">
                <a16:creationId xmlns:a16="http://schemas.microsoft.com/office/drawing/2014/main" id="{978F67D1-83DF-456A-A7DA-8C5C6AB5C780}"/>
              </a:ext>
            </a:extLst>
          </p:cNvPr>
          <p:cNvSpPr>
            <a:spLocks xmlns:a="http://schemas.openxmlformats.org/drawingml/2006/main" noGrp="1"/>
          </p:cNvSpPr>
          <p:nvPr/>
        </p:nvSpPr>
        <p:spPr>
          <a:xfrm xmlns:a="http://schemas.openxmlformats.org/drawingml/2006/main">
            <a:off x="1295400" y="2257425"/>
            <a:ext cx="29527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2563EB"/>
                </a:solidFill>
                <a:latin typeface="Aptos Mono"/>
                <a:ea typeface="Aptos Mono"/>
                <a:cs typeface="Aptos Mono"/>
              </a:defRPr>
            </a:pPr>
            <a:r>
              <a:rPr sz="1050" b="1">
                <a:solidFill>
                  <a:srgbClr val="2563EB"/>
                </a:solidFill>
                <a:latin typeface="Aptos Mono"/>
                <a:ea typeface="Aptos Mono"/>
                <a:cs typeface="Aptos Mono"/>
              </a:rPr>
              <a:t>.github/copilot-instructions.md</a:t>
            </a:r>
          </a:p>
        </p:txBody>
      </p:sp>
      <p:sp>
        <p:nvSpPr>
          <p:cNvPr id="9" name="">
            <a:extLst xmlns:a="http://schemas.openxmlformats.org/drawingml/2006/main">
              <a:ext uri="{FF2B5EF4-FFF2-40B4-BE49-F238E27FC236}">
                <a16:creationId xmlns:a16="http://schemas.microsoft.com/office/drawing/2014/main" id="{7928AF60-8EA7-4636-B60C-E38FEB433B21}"/>
              </a:ext>
            </a:extLst>
          </p:cNvPr>
          <p:cNvSpPr>
            <a:spLocks xmlns:a="http://schemas.openxmlformats.org/drawingml/2006/main" noGrp="1"/>
          </p:cNvSpPr>
          <p:nvPr/>
        </p:nvSpPr>
        <p:spPr>
          <a:xfrm xmlns:a="http://schemas.openxmlformats.org/drawingml/2006/main">
            <a:off x="4762500" y="2238375"/>
            <a:ext cx="5238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26179"/>
                </a:solidFill>
                <a:latin typeface="Aptos"/>
                <a:ea typeface="Aptos"/>
                <a:cs typeface="Aptos"/>
              </a:defRPr>
            </a:pPr>
            <a:r>
              <a:rPr sz="1050" b="0">
                <a:solidFill>
                  <a:srgbClr val="526179"/>
                </a:solidFill>
                <a:latin typeface="Aptos"/>
                <a:ea typeface="Aptos"/>
                <a:cs typeface="Aptos"/>
              </a:rPr>
              <a:t>Broad repo conventions and engineering preferences.</a:t>
            </a:r>
          </a:p>
        </p:txBody>
      </p:sp>
      <p:sp>
        <p:nvSpPr>
          <p:cNvPr id="10" name="">
            <a:extLst xmlns:a="http://schemas.openxmlformats.org/drawingml/2006/main">
              <a:ext uri="{FF2B5EF4-FFF2-40B4-BE49-F238E27FC236}">
                <a16:creationId xmlns:a16="http://schemas.microsoft.com/office/drawing/2014/main" id="{AD68FD2C-BF82-4F6B-86AD-8F5561113595}"/>
              </a:ext>
            </a:extLst>
          </p:cNvPr>
          <p:cNvSpPr>
            <a:spLocks xmlns:a="http://schemas.openxmlformats.org/drawingml/2006/main" noGrp="1"/>
          </p:cNvSpPr>
          <p:nvPr/>
        </p:nvSpPr>
        <p:spPr>
          <a:xfrm xmlns:a="http://schemas.openxmlformats.org/drawingml/2006/main">
            <a:off x="1047750" y="2914650"/>
            <a:ext cx="100965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D8E0EA"/>
            </a:solidFill>
          </a:ln>
        </p:spPr>
      </p:sp>
      <p:sp>
        <p:nvSpPr>
          <p:cNvPr id="11" name="">
            <a:extLst xmlns:a="http://schemas.openxmlformats.org/drawingml/2006/main">
              <a:ext uri="{FF2B5EF4-FFF2-40B4-BE49-F238E27FC236}">
                <a16:creationId xmlns:a16="http://schemas.microsoft.com/office/drawing/2014/main" id="{274107DC-7324-4BFA-96D8-263741B39EDA}"/>
              </a:ext>
            </a:extLst>
          </p:cNvPr>
          <p:cNvSpPr>
            <a:spLocks xmlns:a="http://schemas.openxmlformats.org/drawingml/2006/main" noGrp="1"/>
          </p:cNvSpPr>
          <p:nvPr/>
        </p:nvSpPr>
        <p:spPr>
          <a:xfrm xmlns:a="http://schemas.openxmlformats.org/drawingml/2006/main">
            <a:off x="1295400" y="3076575"/>
            <a:ext cx="29527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0E9F9A"/>
                </a:solidFill>
                <a:latin typeface="Aptos Mono"/>
                <a:ea typeface="Aptos Mono"/>
                <a:cs typeface="Aptos Mono"/>
              </a:defRPr>
            </a:pPr>
            <a:r>
              <a:rPr sz="1050" b="1">
                <a:solidFill>
                  <a:srgbClr val="0E9F9A"/>
                </a:solidFill>
                <a:latin typeface="Aptos Mono"/>
                <a:ea typeface="Aptos Mono"/>
                <a:cs typeface="Aptos Mono"/>
              </a:rPr>
              <a:t>.github/instructions/*.instructions.md</a:t>
            </a:r>
          </a:p>
        </p:txBody>
      </p:sp>
      <p:sp>
        <p:nvSpPr>
          <p:cNvPr id="12" name="">
            <a:extLst xmlns:a="http://schemas.openxmlformats.org/drawingml/2006/main">
              <a:ext uri="{FF2B5EF4-FFF2-40B4-BE49-F238E27FC236}">
                <a16:creationId xmlns:a16="http://schemas.microsoft.com/office/drawing/2014/main" id="{9FB8C0DC-1E60-4519-95C7-09D5A0CC5BA5}"/>
              </a:ext>
            </a:extLst>
          </p:cNvPr>
          <p:cNvSpPr>
            <a:spLocks xmlns:a="http://schemas.openxmlformats.org/drawingml/2006/main" noGrp="1"/>
          </p:cNvSpPr>
          <p:nvPr/>
        </p:nvSpPr>
        <p:spPr>
          <a:xfrm xmlns:a="http://schemas.openxmlformats.org/drawingml/2006/main">
            <a:off x="4762500" y="3057525"/>
            <a:ext cx="5238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26179"/>
                </a:solidFill>
                <a:latin typeface="Aptos"/>
                <a:ea typeface="Aptos"/>
                <a:cs typeface="Aptos"/>
              </a:defRPr>
            </a:pPr>
            <a:r>
              <a:rPr sz="1050" b="0">
                <a:solidFill>
                  <a:srgbClr val="526179"/>
                </a:solidFill>
                <a:latin typeface="Aptos"/>
                <a:ea typeface="Aptos"/>
                <a:cs typeface="Aptos"/>
              </a:rPr>
              <a:t>Path-specific rules for tests, APIs, frontend, infra.</a:t>
            </a:r>
          </a:p>
        </p:txBody>
      </p:sp>
      <p:sp>
        <p:nvSpPr>
          <p:cNvPr id="13" name="">
            <a:extLst xmlns:a="http://schemas.openxmlformats.org/drawingml/2006/main">
              <a:ext uri="{FF2B5EF4-FFF2-40B4-BE49-F238E27FC236}">
                <a16:creationId xmlns:a16="http://schemas.microsoft.com/office/drawing/2014/main" id="{1939ECAD-5C0E-4752-8F66-88EB5D031833}"/>
              </a:ext>
            </a:extLst>
          </p:cNvPr>
          <p:cNvSpPr>
            <a:spLocks xmlns:a="http://schemas.openxmlformats.org/drawingml/2006/main" noGrp="1"/>
          </p:cNvSpPr>
          <p:nvPr/>
        </p:nvSpPr>
        <p:spPr>
          <a:xfrm xmlns:a="http://schemas.openxmlformats.org/drawingml/2006/main">
            <a:off x="1047750" y="3733800"/>
            <a:ext cx="100965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D8E0EA"/>
            </a:solidFill>
          </a:ln>
        </p:spPr>
      </p:sp>
      <p:sp>
        <p:nvSpPr>
          <p:cNvPr id="14" name="">
            <a:extLst xmlns:a="http://schemas.openxmlformats.org/drawingml/2006/main">
              <a:ext uri="{FF2B5EF4-FFF2-40B4-BE49-F238E27FC236}">
                <a16:creationId xmlns:a16="http://schemas.microsoft.com/office/drawing/2014/main" id="{218D2CF4-B904-4BAF-A4A7-7078DE4D1846}"/>
              </a:ext>
            </a:extLst>
          </p:cNvPr>
          <p:cNvSpPr>
            <a:spLocks xmlns:a="http://schemas.openxmlformats.org/drawingml/2006/main" noGrp="1"/>
          </p:cNvSpPr>
          <p:nvPr/>
        </p:nvSpPr>
        <p:spPr>
          <a:xfrm xmlns:a="http://schemas.openxmlformats.org/drawingml/2006/main">
            <a:off x="1295400" y="3895725"/>
            <a:ext cx="29527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F59E0B"/>
                </a:solidFill>
                <a:latin typeface="Aptos Mono"/>
                <a:ea typeface="Aptos Mono"/>
                <a:cs typeface="Aptos Mono"/>
              </a:defRPr>
            </a:pPr>
            <a:r>
              <a:rPr sz="1050" b="1">
                <a:solidFill>
                  <a:srgbClr val="F59E0B"/>
                </a:solidFill>
                <a:latin typeface="Aptos Mono"/>
                <a:ea typeface="Aptos Mono"/>
                <a:cs typeface="Aptos Mono"/>
              </a:rPr>
              <a:t>AGENTS.md / CLAUDE.md / GEMINI.md</a:t>
            </a:r>
          </a:p>
        </p:txBody>
      </p:sp>
      <p:sp>
        <p:nvSpPr>
          <p:cNvPr id="15" name="">
            <a:extLst xmlns:a="http://schemas.openxmlformats.org/drawingml/2006/main">
              <a:ext uri="{FF2B5EF4-FFF2-40B4-BE49-F238E27FC236}">
                <a16:creationId xmlns:a16="http://schemas.microsoft.com/office/drawing/2014/main" id="{91749F97-2D6F-4BF0-895D-8C304F496A0B}"/>
              </a:ext>
            </a:extLst>
          </p:cNvPr>
          <p:cNvSpPr>
            <a:spLocks xmlns:a="http://schemas.openxmlformats.org/drawingml/2006/main" noGrp="1"/>
          </p:cNvSpPr>
          <p:nvPr/>
        </p:nvSpPr>
        <p:spPr>
          <a:xfrm xmlns:a="http://schemas.openxmlformats.org/drawingml/2006/main">
            <a:off x="4762500" y="3876675"/>
            <a:ext cx="5238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26179"/>
                </a:solidFill>
                <a:latin typeface="Aptos"/>
                <a:ea typeface="Aptos"/>
                <a:cs typeface="Aptos"/>
              </a:defRPr>
            </a:pPr>
            <a:r>
              <a:rPr sz="1050" b="0">
                <a:solidFill>
                  <a:srgbClr val="526179"/>
                </a:solidFill>
                <a:latin typeface="Aptos"/>
                <a:ea typeface="Aptos"/>
                <a:cs typeface="Aptos"/>
              </a:rPr>
              <a:t>Agent-facing project workflow notes when supported.</a:t>
            </a:r>
          </a:p>
        </p:txBody>
      </p:sp>
      <p:sp>
        <p:nvSpPr>
          <p:cNvPr id="16" name="">
            <a:extLst xmlns:a="http://schemas.openxmlformats.org/drawingml/2006/main">
              <a:ext uri="{FF2B5EF4-FFF2-40B4-BE49-F238E27FC236}">
                <a16:creationId xmlns:a16="http://schemas.microsoft.com/office/drawing/2014/main" id="{82E4825C-55FA-438A-920D-F9A5731CBC3C}"/>
              </a:ext>
            </a:extLst>
          </p:cNvPr>
          <p:cNvSpPr>
            <a:spLocks xmlns:a="http://schemas.openxmlformats.org/drawingml/2006/main" noGrp="1"/>
          </p:cNvSpPr>
          <p:nvPr/>
        </p:nvSpPr>
        <p:spPr>
          <a:xfrm xmlns:a="http://schemas.openxmlformats.org/drawingml/2006/main">
            <a:off x="1047750" y="4552950"/>
            <a:ext cx="100965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D8E0EA"/>
            </a:solidFill>
          </a:ln>
        </p:spPr>
      </p:sp>
      <p:sp>
        <p:nvSpPr>
          <p:cNvPr id="17" name="">
            <a:extLst xmlns:a="http://schemas.openxmlformats.org/drawingml/2006/main">
              <a:ext uri="{FF2B5EF4-FFF2-40B4-BE49-F238E27FC236}">
                <a16:creationId xmlns:a16="http://schemas.microsoft.com/office/drawing/2014/main" id="{9112E63F-743F-48C6-B755-107751519640}"/>
              </a:ext>
            </a:extLst>
          </p:cNvPr>
          <p:cNvSpPr>
            <a:spLocks xmlns:a="http://schemas.openxmlformats.org/drawingml/2006/main" noGrp="1"/>
          </p:cNvSpPr>
          <p:nvPr/>
        </p:nvSpPr>
        <p:spPr>
          <a:xfrm xmlns:a="http://schemas.openxmlformats.org/drawingml/2006/main">
            <a:off x="1295400" y="4714875"/>
            <a:ext cx="29527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7C3AED"/>
                </a:solidFill>
                <a:latin typeface="Aptos Mono"/>
                <a:ea typeface="Aptos Mono"/>
                <a:cs typeface="Aptos Mono"/>
              </a:defRPr>
            </a:pPr>
            <a:r>
              <a:rPr sz="1050" b="1">
                <a:solidFill>
                  <a:srgbClr val="7C3AED"/>
                </a:solidFill>
                <a:latin typeface="Aptos Mono"/>
                <a:ea typeface="Aptos Mono"/>
                <a:cs typeface="Aptos Mono"/>
              </a:rPr>
              <a:t>Skills / prompt files</a:t>
            </a:r>
          </a:p>
        </p:txBody>
      </p:sp>
      <p:sp>
        <p:nvSpPr>
          <p:cNvPr id="18" name="">
            <a:extLst xmlns:a="http://schemas.openxmlformats.org/drawingml/2006/main">
              <a:ext uri="{FF2B5EF4-FFF2-40B4-BE49-F238E27FC236}">
                <a16:creationId xmlns:a16="http://schemas.microsoft.com/office/drawing/2014/main" id="{36EE35F8-5A47-44AC-8FB9-B4E59E254A8A}"/>
              </a:ext>
            </a:extLst>
          </p:cNvPr>
          <p:cNvSpPr>
            <a:spLocks xmlns:a="http://schemas.openxmlformats.org/drawingml/2006/main" noGrp="1"/>
          </p:cNvSpPr>
          <p:nvPr/>
        </p:nvSpPr>
        <p:spPr>
          <a:xfrm xmlns:a="http://schemas.openxmlformats.org/drawingml/2006/main">
            <a:off x="4762500" y="4695825"/>
            <a:ext cx="5238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26179"/>
                </a:solidFill>
                <a:latin typeface="Aptos"/>
                <a:ea typeface="Aptos"/>
                <a:cs typeface="Aptos"/>
              </a:defRPr>
            </a:pPr>
            <a:r>
              <a:rPr sz="1050" b="0">
                <a:solidFill>
                  <a:srgbClr val="526179"/>
                </a:solidFill>
                <a:latin typeface="Aptos"/>
                <a:ea typeface="Aptos"/>
                <a:cs typeface="Aptos"/>
              </a:rPr>
              <a:t>Repeatable workflows such as bug triage, code review, release notes.</a:t>
            </a:r>
          </a:p>
        </p:txBody>
      </p:sp>
      <p:sp>
        <p:nvSpPr>
          <p:cNvPr id="19" name="">
            <a:extLst xmlns:a="http://schemas.openxmlformats.org/drawingml/2006/main">
              <a:ext uri="{FF2B5EF4-FFF2-40B4-BE49-F238E27FC236}">
                <a16:creationId xmlns:a16="http://schemas.microsoft.com/office/drawing/2014/main" id="{FAE3F80F-4078-4220-BD4D-0A0353EE5435}"/>
              </a:ext>
            </a:extLst>
          </p:cNvPr>
          <p:cNvSpPr>
            <a:spLocks xmlns:a="http://schemas.openxmlformats.org/drawingml/2006/main" noGrp="1"/>
          </p:cNvSpPr>
          <p:nvPr/>
        </p:nvSpPr>
        <p:spPr>
          <a:xfrm xmlns:a="http://schemas.openxmlformats.org/drawingml/2006/main">
            <a:off x="1866900" y="5638800"/>
            <a:ext cx="8382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500" b="1">
                <a:solidFill>
                  <a:srgbClr val="172033"/>
                </a:solidFill>
                <a:latin typeface="Aptos"/>
                <a:ea typeface="Aptos"/>
                <a:cs typeface="Aptos"/>
              </a:defRPr>
            </a:pPr>
            <a:r>
              <a:rPr sz="1500" b="1">
                <a:solidFill>
                  <a:srgbClr val="172033"/>
                </a:solidFill>
                <a:latin typeface="Aptos"/>
                <a:ea typeface="Aptos"/>
                <a:cs typeface="Aptos"/>
              </a:rPr>
              <a:t>This is documentation with operational leverage: humans read it occasionally; agents read it every session.</a:t>
            </a:r>
          </a:p>
        </p:txBody>
      </p:sp>
    </p:spTree>
    <p:extLst>
      <p:ext uri="{BB962C8B-B14F-4D97-AF65-F5344CB8AC3E}">
        <p14:creationId xmlns:p14="http://schemas.microsoft.com/office/powerpoint/2010/main" val="699683257"/>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pic>
        <p:nvPicPr>
          <p:cNvPr id="1" name=""/>
          <p:cNvPicPr>
            <a:picLocks xmlns:a="http://schemas.openxmlformats.org/drawingml/2006/main" noChangeAspect="1"/>
          </p:cNvPicPr>
          <p:nvPr/>
        </p:nvPicPr>
        <p:blipFill>
          <a:blip xmlns:r="http://schemas.openxmlformats.org/officeDocument/2006/relationships" xmlns:a="http://schemas.openxmlformats.org/drawingml/2006/main" r:embed="R193d5103016244af"/>
          <a:srcRect xmlns:a="http://schemas.openxmlformats.org/drawingml/2006/main" l="1515" t="0" r="1515"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B3324FE-35E8-452C-BF8C-DCF4605E25A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alpha val="90980"/>
            </a:srgbClr>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6E9E918-63B7-4ACE-9EA6-3D76E13B26D8}"/>
              </a:ext>
            </a:extLst>
          </p:cNvPr>
          <p:cNvSpPr>
            <a:spLocks xmlns:a="http://schemas.openxmlformats.org/drawingml/2006/main" noGrp="1"/>
          </p:cNvSpPr>
          <p:nvPr/>
        </p:nvSpPr>
        <p:spPr>
          <a:xfrm xmlns:a="http://schemas.openxmlformats.org/drawingml/2006/main">
            <a:off x="514350" y="400050"/>
            <a:ext cx="5143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788" b="1">
                <a:solidFill>
                  <a:srgbClr val="0E9F9A"/>
                </a:solidFill>
                <a:latin typeface="Aptos"/>
                <a:ea typeface="Aptos"/>
                <a:cs typeface="Aptos"/>
              </a:defRPr>
            </a:pPr>
            <a:r>
              <a:rPr sz="788" b="1">
                <a:solidFill>
                  <a:srgbClr val="0E9F9A"/>
                </a:solidFill>
                <a:latin typeface="Aptos"/>
                <a:ea typeface="Aptos"/>
                <a:cs typeface="Aptos"/>
              </a:rPr>
              <a:t>PRACTICAL CHECKLIST</a:t>
            </a:r>
          </a:p>
        </p:txBody>
      </p:sp>
      <p:sp>
        <p:nvSpPr>
          <p:cNvPr id="4" name="">
            <a:extLst xmlns:a="http://schemas.openxmlformats.org/drawingml/2006/main">
              <a:ext uri="{FF2B5EF4-FFF2-40B4-BE49-F238E27FC236}">
                <a16:creationId xmlns:a16="http://schemas.microsoft.com/office/drawing/2014/main" id="{A3176778-766C-4F73-A4E7-CCCA21C2956A}"/>
              </a:ext>
            </a:extLst>
          </p:cNvPr>
          <p:cNvSpPr>
            <a:spLocks xmlns:a="http://schemas.openxmlformats.org/drawingml/2006/main" noGrp="1"/>
          </p:cNvSpPr>
          <p:nvPr/>
        </p:nvSpPr>
        <p:spPr>
          <a:xfrm xmlns:a="http://schemas.openxmlformats.org/drawingml/2006/main">
            <a:off x="514350" y="685800"/>
            <a:ext cx="8382000" cy="8763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172033"/>
                </a:solidFill>
                <a:latin typeface="Aptos Display"/>
                <a:ea typeface="Aptos Display"/>
                <a:cs typeface="Aptos Display"/>
              </a:defRPr>
            </a:pPr>
            <a:r>
              <a:rPr sz="2550" b="1">
                <a:solidFill>
                  <a:srgbClr val="172033"/>
                </a:solidFill>
                <a:latin typeface="Aptos Display"/>
                <a:ea typeface="Aptos Display"/>
                <a:cs typeface="Aptos Display"/>
              </a:rPr>
              <a:t>A reliable agent session has three checkpoints.</a:t>
            </a:r>
          </a:p>
        </p:txBody>
      </p:sp>
      <p:sp>
        <p:nvSpPr>
          <p:cNvPr id="5" name="">
            <a:extLst xmlns:a="http://schemas.openxmlformats.org/drawingml/2006/main">
              <a:ext uri="{FF2B5EF4-FFF2-40B4-BE49-F238E27FC236}">
                <a16:creationId xmlns:a16="http://schemas.microsoft.com/office/drawing/2014/main" id="{F570F26E-0BE3-4AB0-AD43-8A451FC8092C}"/>
              </a:ext>
            </a:extLst>
          </p:cNvPr>
          <p:cNvSpPr>
            <a:spLocks xmlns:a="http://schemas.openxmlformats.org/drawingml/2006/main" noGrp="1"/>
          </p:cNvSpPr>
          <p:nvPr/>
        </p:nvSpPr>
        <p:spPr>
          <a:xfrm xmlns:a="http://schemas.openxmlformats.org/drawingml/2006/main">
            <a:off x="514350" y="6515100"/>
            <a:ext cx="88582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638" b="0">
                <a:solidFill>
                  <a:srgbClr val="7B8798"/>
                </a:solidFill>
                <a:latin typeface="Aptos"/>
                <a:ea typeface="Aptos"/>
                <a:cs typeface="Aptos"/>
              </a:defRPr>
            </a:pPr>
            <a:r>
              <a:rPr sz="638" b="0">
                <a:solidFill>
                  <a:srgbClr val="7B8798"/>
                </a:solidFill>
                <a:latin typeface="Aptos"/>
                <a:ea typeface="Aptos"/>
                <a:cs typeface="Aptos"/>
              </a:rPr>
              <a:t>101 AI Basics for Developers</a:t>
            </a:r>
          </a:p>
        </p:txBody>
      </p:sp>
      <p:sp>
        <p:nvSpPr>
          <p:cNvPr id="6" name="">
            <a:extLst xmlns:a="http://schemas.openxmlformats.org/drawingml/2006/main">
              <a:ext uri="{FF2B5EF4-FFF2-40B4-BE49-F238E27FC236}">
                <a16:creationId xmlns:a16="http://schemas.microsoft.com/office/drawing/2014/main" id="{9509158E-151E-4288-9D7B-00FC3653D2B1}"/>
              </a:ext>
            </a:extLst>
          </p:cNvPr>
          <p:cNvSpPr>
            <a:spLocks xmlns:a="http://schemas.openxmlformats.org/drawingml/2006/main" noGrp="1"/>
          </p:cNvSpPr>
          <p:nvPr/>
        </p:nvSpPr>
        <p:spPr>
          <a:xfrm xmlns:a="http://schemas.openxmlformats.org/drawingml/2006/main">
            <a:off x="11239500" y="6477000"/>
            <a:ext cx="4381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r">
              <a:defRPr sz="750" b="1">
                <a:solidFill>
                  <a:srgbClr val="7B8798"/>
                </a:solidFill>
                <a:latin typeface="Aptos"/>
                <a:ea typeface="Aptos"/>
                <a:cs typeface="Aptos"/>
              </a:defRPr>
            </a:pPr>
            <a:r>
              <a:rPr sz="750" b="1">
                <a:solidFill>
                  <a:srgbClr val="7B8798"/>
                </a:solidFill>
                <a:latin typeface="Aptos"/>
                <a:ea typeface="Aptos"/>
                <a:cs typeface="Aptos"/>
              </a:rPr>
              <a:t>15</a:t>
            </a:r>
          </a:p>
        </p:txBody>
      </p:sp>
      <p:sp>
        <p:nvSpPr>
          <p:cNvPr id="7" name="">
            <a:extLst xmlns:a="http://schemas.openxmlformats.org/drawingml/2006/main">
              <a:ext uri="{FF2B5EF4-FFF2-40B4-BE49-F238E27FC236}">
                <a16:creationId xmlns:a16="http://schemas.microsoft.com/office/drawing/2014/main" id="{8C20388C-5DD1-4A4D-8219-BA02AC794A8A}"/>
              </a:ext>
            </a:extLst>
          </p:cNvPr>
          <p:cNvSpPr>
            <a:spLocks xmlns:a="http://schemas.openxmlformats.org/drawingml/2006/main" noGrp="1"/>
          </p:cNvSpPr>
          <p:nvPr/>
        </p:nvSpPr>
        <p:spPr>
          <a:xfrm xmlns:a="http://schemas.openxmlformats.org/drawingml/2006/main">
            <a:off x="1181100" y="2209800"/>
            <a:ext cx="2667000" cy="2952750"/>
          </a:xfrm>
          <a:prstGeom xmlns:a="http://schemas.openxmlformats.org/drawingml/2006/main" prst="rect">
            <a:avLst/>
          </a:prstGeom>
          <a:solidFill xmlns:a="http://schemas.openxmlformats.org/drawingml/2006/main">
            <a:srgbClr val="FFFFFF"/>
          </a:solidFill>
          <a:ln xmlns:a="http://schemas.openxmlformats.org/drawingml/2006/main" w="9525">
            <a:solidFill>
              <a:srgbClr val="D8E0EA"/>
            </a:solidFill>
          </a:ln>
        </p:spPr>
      </p:sp>
      <p:sp>
        <p:nvSpPr>
          <p:cNvPr id="8" name="">
            <a:extLst xmlns:a="http://schemas.openxmlformats.org/drawingml/2006/main">
              <a:ext uri="{FF2B5EF4-FFF2-40B4-BE49-F238E27FC236}">
                <a16:creationId xmlns:a16="http://schemas.microsoft.com/office/drawing/2014/main" id="{945D7223-026E-40CD-B05D-24382625FF18}"/>
              </a:ext>
            </a:extLst>
          </p:cNvPr>
          <p:cNvSpPr>
            <a:spLocks xmlns:a="http://schemas.openxmlformats.org/drawingml/2006/main" noGrp="1"/>
          </p:cNvSpPr>
          <p:nvPr/>
        </p:nvSpPr>
        <p:spPr>
          <a:xfrm xmlns:a="http://schemas.openxmlformats.org/drawingml/2006/main">
            <a:off x="1428750" y="2476500"/>
            <a:ext cx="20955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875" b="1">
                <a:solidFill>
                  <a:srgbClr val="2563EB"/>
                </a:solidFill>
                <a:latin typeface="Aptos"/>
                <a:ea typeface="Aptos"/>
                <a:cs typeface="Aptos"/>
              </a:defRPr>
            </a:pPr>
            <a:r>
              <a:rPr sz="1875" b="1">
                <a:solidFill>
                  <a:srgbClr val="2563EB"/>
                </a:solidFill>
                <a:latin typeface="Aptos"/>
                <a:ea typeface="Aptos"/>
                <a:cs typeface="Aptos"/>
              </a:rPr>
              <a:t>Before</a:t>
            </a:r>
          </a:p>
        </p:txBody>
      </p:sp>
      <p:sp>
        <p:nvSpPr>
          <p:cNvPr id="9" name="">
            <a:extLst xmlns:a="http://schemas.openxmlformats.org/drawingml/2006/main">
              <a:ext uri="{FF2B5EF4-FFF2-40B4-BE49-F238E27FC236}">
                <a16:creationId xmlns:a16="http://schemas.microsoft.com/office/drawing/2014/main" id="{32B909F1-4522-495C-A878-BE1F1504990F}"/>
              </a:ext>
            </a:extLst>
          </p:cNvPr>
          <p:cNvSpPr>
            <a:spLocks xmlns:a="http://schemas.openxmlformats.org/drawingml/2006/main" noGrp="1"/>
          </p:cNvSpPr>
          <p:nvPr/>
        </p:nvSpPr>
        <p:spPr>
          <a:xfrm xmlns:a="http://schemas.openxmlformats.org/drawingml/2006/main">
            <a:off x="1581150" y="3162300"/>
            <a:ext cx="3238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75" b="0">
                <a:solidFill>
                  <a:srgbClr val="7B8798"/>
                </a:solidFill>
                <a:latin typeface="Aptos Mono"/>
                <a:ea typeface="Aptos Mono"/>
                <a:cs typeface="Aptos Mono"/>
              </a:defRPr>
            </a:pPr>
            <a:r>
              <a:rPr sz="975" b="0">
                <a:solidFill>
                  <a:srgbClr val="7B8798"/>
                </a:solidFill>
                <a:latin typeface="Aptos Mono"/>
                <a:ea typeface="Aptos Mono"/>
                <a:cs typeface="Aptos Mono"/>
              </a:rPr>
              <a:t>[ ]</a:t>
            </a:r>
          </a:p>
        </p:txBody>
      </p:sp>
      <p:sp>
        <p:nvSpPr>
          <p:cNvPr id="10" name="">
            <a:extLst xmlns:a="http://schemas.openxmlformats.org/drawingml/2006/main">
              <a:ext uri="{FF2B5EF4-FFF2-40B4-BE49-F238E27FC236}">
                <a16:creationId xmlns:a16="http://schemas.microsoft.com/office/drawing/2014/main" id="{4FB5FC55-57D2-47EA-BCCD-9BF57273C229}"/>
              </a:ext>
            </a:extLst>
          </p:cNvPr>
          <p:cNvSpPr>
            <a:spLocks xmlns:a="http://schemas.openxmlformats.org/drawingml/2006/main" noGrp="1"/>
          </p:cNvSpPr>
          <p:nvPr/>
        </p:nvSpPr>
        <p:spPr>
          <a:xfrm xmlns:a="http://schemas.openxmlformats.org/drawingml/2006/main">
            <a:off x="1962150" y="3143250"/>
            <a:ext cx="14287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172033"/>
                </a:solidFill>
                <a:latin typeface="Aptos"/>
                <a:ea typeface="Aptos"/>
                <a:cs typeface="Aptos"/>
              </a:defRPr>
            </a:pPr>
            <a:r>
              <a:rPr sz="1050" b="1">
                <a:solidFill>
                  <a:srgbClr val="172033"/>
                </a:solidFill>
                <a:latin typeface="Aptos"/>
                <a:ea typeface="Aptos"/>
                <a:cs typeface="Aptos"/>
              </a:rPr>
              <a:t>Define done</a:t>
            </a:r>
          </a:p>
        </p:txBody>
      </p:sp>
      <p:sp>
        <p:nvSpPr>
          <p:cNvPr id="11" name="">
            <a:extLst xmlns:a="http://schemas.openxmlformats.org/drawingml/2006/main">
              <a:ext uri="{FF2B5EF4-FFF2-40B4-BE49-F238E27FC236}">
                <a16:creationId xmlns:a16="http://schemas.microsoft.com/office/drawing/2014/main" id="{9DAAD158-D36C-431F-A856-C809B0729FB6}"/>
              </a:ext>
            </a:extLst>
          </p:cNvPr>
          <p:cNvSpPr>
            <a:spLocks xmlns:a="http://schemas.openxmlformats.org/drawingml/2006/main" noGrp="1"/>
          </p:cNvSpPr>
          <p:nvPr/>
        </p:nvSpPr>
        <p:spPr>
          <a:xfrm xmlns:a="http://schemas.openxmlformats.org/drawingml/2006/main">
            <a:off x="1581150" y="3562350"/>
            <a:ext cx="3238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75" b="0">
                <a:solidFill>
                  <a:srgbClr val="7B8798"/>
                </a:solidFill>
                <a:latin typeface="Aptos Mono"/>
                <a:ea typeface="Aptos Mono"/>
                <a:cs typeface="Aptos Mono"/>
              </a:defRPr>
            </a:pPr>
            <a:r>
              <a:rPr sz="975" b="0">
                <a:solidFill>
                  <a:srgbClr val="7B8798"/>
                </a:solidFill>
                <a:latin typeface="Aptos Mono"/>
                <a:ea typeface="Aptos Mono"/>
                <a:cs typeface="Aptos Mono"/>
              </a:rPr>
              <a:t>[ ]</a:t>
            </a:r>
          </a:p>
        </p:txBody>
      </p:sp>
      <p:sp>
        <p:nvSpPr>
          <p:cNvPr id="12" name="">
            <a:extLst xmlns:a="http://schemas.openxmlformats.org/drawingml/2006/main">
              <a:ext uri="{FF2B5EF4-FFF2-40B4-BE49-F238E27FC236}">
                <a16:creationId xmlns:a16="http://schemas.microsoft.com/office/drawing/2014/main" id="{D3DC780A-3786-4E24-AF6A-50D65BB2496D}"/>
              </a:ext>
            </a:extLst>
          </p:cNvPr>
          <p:cNvSpPr>
            <a:spLocks xmlns:a="http://schemas.openxmlformats.org/drawingml/2006/main" noGrp="1"/>
          </p:cNvSpPr>
          <p:nvPr/>
        </p:nvSpPr>
        <p:spPr>
          <a:xfrm xmlns:a="http://schemas.openxmlformats.org/drawingml/2006/main">
            <a:off x="1962150" y="3543300"/>
            <a:ext cx="14287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172033"/>
                </a:solidFill>
                <a:latin typeface="Aptos"/>
                <a:ea typeface="Aptos"/>
                <a:cs typeface="Aptos"/>
              </a:defRPr>
            </a:pPr>
            <a:r>
              <a:rPr sz="1050" b="1">
                <a:solidFill>
                  <a:srgbClr val="172033"/>
                </a:solidFill>
                <a:latin typeface="Aptos"/>
                <a:ea typeface="Aptos"/>
                <a:cs typeface="Aptos"/>
              </a:rPr>
              <a:t>Name files or areas</a:t>
            </a:r>
          </a:p>
        </p:txBody>
      </p:sp>
      <p:sp>
        <p:nvSpPr>
          <p:cNvPr id="13" name="">
            <a:extLst xmlns:a="http://schemas.openxmlformats.org/drawingml/2006/main">
              <a:ext uri="{FF2B5EF4-FFF2-40B4-BE49-F238E27FC236}">
                <a16:creationId xmlns:a16="http://schemas.microsoft.com/office/drawing/2014/main" id="{FABD2022-1047-4C0C-AEB1-177BF82C16EF}"/>
              </a:ext>
            </a:extLst>
          </p:cNvPr>
          <p:cNvSpPr>
            <a:spLocks xmlns:a="http://schemas.openxmlformats.org/drawingml/2006/main" noGrp="1"/>
          </p:cNvSpPr>
          <p:nvPr/>
        </p:nvSpPr>
        <p:spPr>
          <a:xfrm xmlns:a="http://schemas.openxmlformats.org/drawingml/2006/main">
            <a:off x="1581150" y="3962400"/>
            <a:ext cx="3238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75" b="0">
                <a:solidFill>
                  <a:srgbClr val="7B8798"/>
                </a:solidFill>
                <a:latin typeface="Aptos Mono"/>
                <a:ea typeface="Aptos Mono"/>
                <a:cs typeface="Aptos Mono"/>
              </a:defRPr>
            </a:pPr>
            <a:r>
              <a:rPr sz="975" b="0">
                <a:solidFill>
                  <a:srgbClr val="7B8798"/>
                </a:solidFill>
                <a:latin typeface="Aptos Mono"/>
                <a:ea typeface="Aptos Mono"/>
                <a:cs typeface="Aptos Mono"/>
              </a:rPr>
              <a:t>[ ]</a:t>
            </a:r>
          </a:p>
        </p:txBody>
      </p:sp>
      <p:sp>
        <p:nvSpPr>
          <p:cNvPr id="14" name="">
            <a:extLst xmlns:a="http://schemas.openxmlformats.org/drawingml/2006/main">
              <a:ext uri="{FF2B5EF4-FFF2-40B4-BE49-F238E27FC236}">
                <a16:creationId xmlns:a16="http://schemas.microsoft.com/office/drawing/2014/main" id="{4707FB7F-051F-4CD3-9F05-0C63DD1C8D0C}"/>
              </a:ext>
            </a:extLst>
          </p:cNvPr>
          <p:cNvSpPr>
            <a:spLocks xmlns:a="http://schemas.openxmlformats.org/drawingml/2006/main" noGrp="1"/>
          </p:cNvSpPr>
          <p:nvPr/>
        </p:nvSpPr>
        <p:spPr>
          <a:xfrm xmlns:a="http://schemas.openxmlformats.org/drawingml/2006/main">
            <a:off x="1962150" y="3943350"/>
            <a:ext cx="14287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172033"/>
                </a:solidFill>
                <a:latin typeface="Aptos"/>
                <a:ea typeface="Aptos"/>
                <a:cs typeface="Aptos"/>
              </a:defRPr>
            </a:pPr>
            <a:r>
              <a:rPr sz="1050" b="1">
                <a:solidFill>
                  <a:srgbClr val="172033"/>
                </a:solidFill>
                <a:latin typeface="Aptos"/>
                <a:ea typeface="Aptos"/>
                <a:cs typeface="Aptos"/>
              </a:rPr>
              <a:t>State constraints</a:t>
            </a:r>
          </a:p>
        </p:txBody>
      </p:sp>
      <p:sp>
        <p:nvSpPr>
          <p:cNvPr id="15" name="">
            <a:extLst xmlns:a="http://schemas.openxmlformats.org/drawingml/2006/main">
              <a:ext uri="{FF2B5EF4-FFF2-40B4-BE49-F238E27FC236}">
                <a16:creationId xmlns:a16="http://schemas.microsoft.com/office/drawing/2014/main" id="{D4AEC831-4B75-4D3F-9ADA-1792FE7F26F4}"/>
              </a:ext>
            </a:extLst>
          </p:cNvPr>
          <p:cNvSpPr>
            <a:spLocks xmlns:a="http://schemas.openxmlformats.org/drawingml/2006/main" noGrp="1"/>
          </p:cNvSpPr>
          <p:nvPr/>
        </p:nvSpPr>
        <p:spPr>
          <a:xfrm xmlns:a="http://schemas.openxmlformats.org/drawingml/2006/main">
            <a:off x="1581150" y="4362450"/>
            <a:ext cx="3238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75" b="0">
                <a:solidFill>
                  <a:srgbClr val="7B8798"/>
                </a:solidFill>
                <a:latin typeface="Aptos Mono"/>
                <a:ea typeface="Aptos Mono"/>
                <a:cs typeface="Aptos Mono"/>
              </a:defRPr>
            </a:pPr>
            <a:r>
              <a:rPr sz="975" b="0">
                <a:solidFill>
                  <a:srgbClr val="7B8798"/>
                </a:solidFill>
                <a:latin typeface="Aptos Mono"/>
                <a:ea typeface="Aptos Mono"/>
                <a:cs typeface="Aptos Mono"/>
              </a:rPr>
              <a:t>[ ]</a:t>
            </a:r>
          </a:p>
        </p:txBody>
      </p:sp>
      <p:sp>
        <p:nvSpPr>
          <p:cNvPr id="16" name="">
            <a:extLst xmlns:a="http://schemas.openxmlformats.org/drawingml/2006/main">
              <a:ext uri="{FF2B5EF4-FFF2-40B4-BE49-F238E27FC236}">
                <a16:creationId xmlns:a16="http://schemas.microsoft.com/office/drawing/2014/main" id="{AB90933E-FC41-4051-9374-3C761E263402}"/>
              </a:ext>
            </a:extLst>
          </p:cNvPr>
          <p:cNvSpPr>
            <a:spLocks xmlns:a="http://schemas.openxmlformats.org/drawingml/2006/main" noGrp="1"/>
          </p:cNvSpPr>
          <p:nvPr/>
        </p:nvSpPr>
        <p:spPr>
          <a:xfrm xmlns:a="http://schemas.openxmlformats.org/drawingml/2006/main">
            <a:off x="1962150" y="4343400"/>
            <a:ext cx="14287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172033"/>
                </a:solidFill>
                <a:latin typeface="Aptos"/>
                <a:ea typeface="Aptos"/>
                <a:cs typeface="Aptos"/>
              </a:defRPr>
            </a:pPr>
            <a:r>
              <a:rPr sz="1050" b="1">
                <a:solidFill>
                  <a:srgbClr val="172033"/>
                </a:solidFill>
                <a:latin typeface="Aptos"/>
                <a:ea typeface="Aptos"/>
                <a:cs typeface="Aptos"/>
              </a:rPr>
              <a:t>Pick mode</a:t>
            </a:r>
          </a:p>
        </p:txBody>
      </p:sp>
      <p:sp>
        <p:nvSpPr>
          <p:cNvPr id="17" name="">
            <a:extLst xmlns:a="http://schemas.openxmlformats.org/drawingml/2006/main">
              <a:ext uri="{FF2B5EF4-FFF2-40B4-BE49-F238E27FC236}">
                <a16:creationId xmlns:a16="http://schemas.microsoft.com/office/drawing/2014/main" id="{39BD5857-6E00-4592-B383-DFE98E221665}"/>
              </a:ext>
            </a:extLst>
          </p:cNvPr>
          <p:cNvSpPr>
            <a:spLocks xmlns:a="http://schemas.openxmlformats.org/drawingml/2006/main" noGrp="1"/>
          </p:cNvSpPr>
          <p:nvPr/>
        </p:nvSpPr>
        <p:spPr>
          <a:xfrm xmlns:a="http://schemas.openxmlformats.org/drawingml/2006/main">
            <a:off x="4514850" y="2209800"/>
            <a:ext cx="2667000" cy="2952750"/>
          </a:xfrm>
          <a:prstGeom xmlns:a="http://schemas.openxmlformats.org/drawingml/2006/main" prst="rect">
            <a:avLst/>
          </a:prstGeom>
          <a:solidFill xmlns:a="http://schemas.openxmlformats.org/drawingml/2006/main">
            <a:srgbClr val="FFFFFF"/>
          </a:solidFill>
          <a:ln xmlns:a="http://schemas.openxmlformats.org/drawingml/2006/main" w="9525">
            <a:solidFill>
              <a:srgbClr val="D8E0EA"/>
            </a:solidFill>
          </a:ln>
        </p:spPr>
      </p:sp>
      <p:sp>
        <p:nvSpPr>
          <p:cNvPr id="18" name="">
            <a:extLst xmlns:a="http://schemas.openxmlformats.org/drawingml/2006/main">
              <a:ext uri="{FF2B5EF4-FFF2-40B4-BE49-F238E27FC236}">
                <a16:creationId xmlns:a16="http://schemas.microsoft.com/office/drawing/2014/main" id="{3E6486A4-D63B-4B93-B523-8E020170FC7E}"/>
              </a:ext>
            </a:extLst>
          </p:cNvPr>
          <p:cNvSpPr>
            <a:spLocks xmlns:a="http://schemas.openxmlformats.org/drawingml/2006/main" noGrp="1"/>
          </p:cNvSpPr>
          <p:nvPr/>
        </p:nvSpPr>
        <p:spPr>
          <a:xfrm xmlns:a="http://schemas.openxmlformats.org/drawingml/2006/main">
            <a:off x="4762500" y="2476500"/>
            <a:ext cx="20955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875" b="1">
                <a:solidFill>
                  <a:srgbClr val="0E9F9A"/>
                </a:solidFill>
                <a:latin typeface="Aptos"/>
                <a:ea typeface="Aptos"/>
                <a:cs typeface="Aptos"/>
              </a:defRPr>
            </a:pPr>
            <a:r>
              <a:rPr sz="1875" b="1">
                <a:solidFill>
                  <a:srgbClr val="0E9F9A"/>
                </a:solidFill>
                <a:latin typeface="Aptos"/>
                <a:ea typeface="Aptos"/>
                <a:cs typeface="Aptos"/>
              </a:rPr>
              <a:t>During</a:t>
            </a:r>
          </a:p>
        </p:txBody>
      </p:sp>
      <p:sp>
        <p:nvSpPr>
          <p:cNvPr id="19" name="">
            <a:extLst xmlns:a="http://schemas.openxmlformats.org/drawingml/2006/main">
              <a:ext uri="{FF2B5EF4-FFF2-40B4-BE49-F238E27FC236}">
                <a16:creationId xmlns:a16="http://schemas.microsoft.com/office/drawing/2014/main" id="{AA4BCC16-A967-4F41-90EE-7087393DC616}"/>
              </a:ext>
            </a:extLst>
          </p:cNvPr>
          <p:cNvSpPr>
            <a:spLocks xmlns:a="http://schemas.openxmlformats.org/drawingml/2006/main" noGrp="1"/>
          </p:cNvSpPr>
          <p:nvPr/>
        </p:nvSpPr>
        <p:spPr>
          <a:xfrm xmlns:a="http://schemas.openxmlformats.org/drawingml/2006/main">
            <a:off x="4914900" y="3162300"/>
            <a:ext cx="3238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75" b="0">
                <a:solidFill>
                  <a:srgbClr val="7B8798"/>
                </a:solidFill>
                <a:latin typeface="Aptos Mono"/>
                <a:ea typeface="Aptos Mono"/>
                <a:cs typeface="Aptos Mono"/>
              </a:defRPr>
            </a:pPr>
            <a:r>
              <a:rPr sz="975" b="0">
                <a:solidFill>
                  <a:srgbClr val="7B8798"/>
                </a:solidFill>
                <a:latin typeface="Aptos Mono"/>
                <a:ea typeface="Aptos Mono"/>
                <a:cs typeface="Aptos Mono"/>
              </a:rPr>
              <a:t>[ ]</a:t>
            </a:r>
          </a:p>
        </p:txBody>
      </p:sp>
      <p:sp>
        <p:nvSpPr>
          <p:cNvPr id="20" name="">
            <a:extLst xmlns:a="http://schemas.openxmlformats.org/drawingml/2006/main">
              <a:ext uri="{FF2B5EF4-FFF2-40B4-BE49-F238E27FC236}">
                <a16:creationId xmlns:a16="http://schemas.microsoft.com/office/drawing/2014/main" id="{E00E15C3-74BC-4A99-B3A4-0D04C43D6F3B}"/>
              </a:ext>
            </a:extLst>
          </p:cNvPr>
          <p:cNvSpPr>
            <a:spLocks xmlns:a="http://schemas.openxmlformats.org/drawingml/2006/main" noGrp="1"/>
          </p:cNvSpPr>
          <p:nvPr/>
        </p:nvSpPr>
        <p:spPr>
          <a:xfrm xmlns:a="http://schemas.openxmlformats.org/drawingml/2006/main">
            <a:off x="5295900" y="3143250"/>
            <a:ext cx="14287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172033"/>
                </a:solidFill>
                <a:latin typeface="Aptos"/>
                <a:ea typeface="Aptos"/>
                <a:cs typeface="Aptos"/>
              </a:defRPr>
            </a:pPr>
            <a:r>
              <a:rPr sz="1050" b="1">
                <a:solidFill>
                  <a:srgbClr val="172033"/>
                </a:solidFill>
                <a:latin typeface="Aptos"/>
                <a:ea typeface="Aptos"/>
                <a:cs typeface="Aptos"/>
              </a:rPr>
              <a:t>Review plan</a:t>
            </a:r>
          </a:p>
        </p:txBody>
      </p:sp>
      <p:sp>
        <p:nvSpPr>
          <p:cNvPr id="21" name="">
            <a:extLst xmlns:a="http://schemas.openxmlformats.org/drawingml/2006/main">
              <a:ext uri="{FF2B5EF4-FFF2-40B4-BE49-F238E27FC236}">
                <a16:creationId xmlns:a16="http://schemas.microsoft.com/office/drawing/2014/main" id="{E935C31B-A0B9-4E08-8028-EFC1B27DFC5F}"/>
              </a:ext>
            </a:extLst>
          </p:cNvPr>
          <p:cNvSpPr>
            <a:spLocks xmlns:a="http://schemas.openxmlformats.org/drawingml/2006/main" noGrp="1"/>
          </p:cNvSpPr>
          <p:nvPr/>
        </p:nvSpPr>
        <p:spPr>
          <a:xfrm xmlns:a="http://schemas.openxmlformats.org/drawingml/2006/main">
            <a:off x="4914900" y="3562350"/>
            <a:ext cx="3238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75" b="0">
                <a:solidFill>
                  <a:srgbClr val="7B8798"/>
                </a:solidFill>
                <a:latin typeface="Aptos Mono"/>
                <a:ea typeface="Aptos Mono"/>
                <a:cs typeface="Aptos Mono"/>
              </a:defRPr>
            </a:pPr>
            <a:r>
              <a:rPr sz="975" b="0">
                <a:solidFill>
                  <a:srgbClr val="7B8798"/>
                </a:solidFill>
                <a:latin typeface="Aptos Mono"/>
                <a:ea typeface="Aptos Mono"/>
                <a:cs typeface="Aptos Mono"/>
              </a:rPr>
              <a:t>[ ]</a:t>
            </a:r>
          </a:p>
        </p:txBody>
      </p:sp>
      <p:sp>
        <p:nvSpPr>
          <p:cNvPr id="22" name="">
            <a:extLst xmlns:a="http://schemas.openxmlformats.org/drawingml/2006/main">
              <a:ext uri="{FF2B5EF4-FFF2-40B4-BE49-F238E27FC236}">
                <a16:creationId xmlns:a16="http://schemas.microsoft.com/office/drawing/2014/main" id="{6ACF8B0B-E4DB-430B-AD37-C23FC9A975A2}"/>
              </a:ext>
            </a:extLst>
          </p:cNvPr>
          <p:cNvSpPr>
            <a:spLocks xmlns:a="http://schemas.openxmlformats.org/drawingml/2006/main" noGrp="1"/>
          </p:cNvSpPr>
          <p:nvPr/>
        </p:nvSpPr>
        <p:spPr>
          <a:xfrm xmlns:a="http://schemas.openxmlformats.org/drawingml/2006/main">
            <a:off x="5295900" y="3543300"/>
            <a:ext cx="14287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172033"/>
                </a:solidFill>
                <a:latin typeface="Aptos"/>
                <a:ea typeface="Aptos"/>
                <a:cs typeface="Aptos"/>
              </a:defRPr>
            </a:pPr>
            <a:r>
              <a:rPr sz="1050" b="1">
                <a:solidFill>
                  <a:srgbClr val="172033"/>
                </a:solidFill>
                <a:latin typeface="Aptos"/>
                <a:ea typeface="Aptos"/>
                <a:cs typeface="Aptos"/>
              </a:rPr>
              <a:t>Watch tool calls</a:t>
            </a:r>
          </a:p>
        </p:txBody>
      </p:sp>
      <p:sp>
        <p:nvSpPr>
          <p:cNvPr id="23" name="">
            <a:extLst xmlns:a="http://schemas.openxmlformats.org/drawingml/2006/main">
              <a:ext uri="{FF2B5EF4-FFF2-40B4-BE49-F238E27FC236}">
                <a16:creationId xmlns:a16="http://schemas.microsoft.com/office/drawing/2014/main" id="{3901A306-B401-4E4B-BB25-3622DC382475}"/>
              </a:ext>
            </a:extLst>
          </p:cNvPr>
          <p:cNvSpPr>
            <a:spLocks xmlns:a="http://schemas.openxmlformats.org/drawingml/2006/main" noGrp="1"/>
          </p:cNvSpPr>
          <p:nvPr/>
        </p:nvSpPr>
        <p:spPr>
          <a:xfrm xmlns:a="http://schemas.openxmlformats.org/drawingml/2006/main">
            <a:off x="4914900" y="3962400"/>
            <a:ext cx="3238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75" b="0">
                <a:solidFill>
                  <a:srgbClr val="7B8798"/>
                </a:solidFill>
                <a:latin typeface="Aptos Mono"/>
                <a:ea typeface="Aptos Mono"/>
                <a:cs typeface="Aptos Mono"/>
              </a:defRPr>
            </a:pPr>
            <a:r>
              <a:rPr sz="975" b="0">
                <a:solidFill>
                  <a:srgbClr val="7B8798"/>
                </a:solidFill>
                <a:latin typeface="Aptos Mono"/>
                <a:ea typeface="Aptos Mono"/>
                <a:cs typeface="Aptos Mono"/>
              </a:rPr>
              <a:t>[ ]</a:t>
            </a:r>
          </a:p>
        </p:txBody>
      </p:sp>
      <p:sp>
        <p:nvSpPr>
          <p:cNvPr id="24" name="">
            <a:extLst xmlns:a="http://schemas.openxmlformats.org/drawingml/2006/main">
              <a:ext uri="{FF2B5EF4-FFF2-40B4-BE49-F238E27FC236}">
                <a16:creationId xmlns:a16="http://schemas.microsoft.com/office/drawing/2014/main" id="{D31C49CF-70D5-45C3-B314-C348326D90AF}"/>
              </a:ext>
            </a:extLst>
          </p:cNvPr>
          <p:cNvSpPr>
            <a:spLocks xmlns:a="http://schemas.openxmlformats.org/drawingml/2006/main" noGrp="1"/>
          </p:cNvSpPr>
          <p:nvPr/>
        </p:nvSpPr>
        <p:spPr>
          <a:xfrm xmlns:a="http://schemas.openxmlformats.org/drawingml/2006/main">
            <a:off x="5295900" y="3943350"/>
            <a:ext cx="14287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172033"/>
                </a:solidFill>
                <a:latin typeface="Aptos"/>
                <a:ea typeface="Aptos"/>
                <a:cs typeface="Aptos"/>
              </a:defRPr>
            </a:pPr>
            <a:r>
              <a:rPr sz="1050" b="1">
                <a:solidFill>
                  <a:srgbClr val="172033"/>
                </a:solidFill>
                <a:latin typeface="Aptos"/>
                <a:ea typeface="Aptos"/>
                <a:cs typeface="Aptos"/>
              </a:rPr>
              <a:t>Interrupt drift</a:t>
            </a:r>
          </a:p>
        </p:txBody>
      </p:sp>
      <p:sp>
        <p:nvSpPr>
          <p:cNvPr id="25" name="">
            <a:extLst xmlns:a="http://schemas.openxmlformats.org/drawingml/2006/main">
              <a:ext uri="{FF2B5EF4-FFF2-40B4-BE49-F238E27FC236}">
                <a16:creationId xmlns:a16="http://schemas.microsoft.com/office/drawing/2014/main" id="{C7233B62-7053-443C-9967-84479008E99F}"/>
              </a:ext>
            </a:extLst>
          </p:cNvPr>
          <p:cNvSpPr>
            <a:spLocks xmlns:a="http://schemas.openxmlformats.org/drawingml/2006/main" noGrp="1"/>
          </p:cNvSpPr>
          <p:nvPr/>
        </p:nvSpPr>
        <p:spPr>
          <a:xfrm xmlns:a="http://schemas.openxmlformats.org/drawingml/2006/main">
            <a:off x="4914900" y="4362450"/>
            <a:ext cx="3238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75" b="0">
                <a:solidFill>
                  <a:srgbClr val="7B8798"/>
                </a:solidFill>
                <a:latin typeface="Aptos Mono"/>
                <a:ea typeface="Aptos Mono"/>
                <a:cs typeface="Aptos Mono"/>
              </a:defRPr>
            </a:pPr>
            <a:r>
              <a:rPr sz="975" b="0">
                <a:solidFill>
                  <a:srgbClr val="7B8798"/>
                </a:solidFill>
                <a:latin typeface="Aptos Mono"/>
                <a:ea typeface="Aptos Mono"/>
                <a:cs typeface="Aptos Mono"/>
              </a:rPr>
              <a:t>[ ]</a:t>
            </a:r>
          </a:p>
        </p:txBody>
      </p:sp>
      <p:sp>
        <p:nvSpPr>
          <p:cNvPr id="26" name="">
            <a:extLst xmlns:a="http://schemas.openxmlformats.org/drawingml/2006/main">
              <a:ext uri="{FF2B5EF4-FFF2-40B4-BE49-F238E27FC236}">
                <a16:creationId xmlns:a16="http://schemas.microsoft.com/office/drawing/2014/main" id="{7B0FC2A4-0673-4C22-9D91-33C0B3FC7DA2}"/>
              </a:ext>
            </a:extLst>
          </p:cNvPr>
          <p:cNvSpPr>
            <a:spLocks xmlns:a="http://schemas.openxmlformats.org/drawingml/2006/main" noGrp="1"/>
          </p:cNvSpPr>
          <p:nvPr/>
        </p:nvSpPr>
        <p:spPr>
          <a:xfrm xmlns:a="http://schemas.openxmlformats.org/drawingml/2006/main">
            <a:off x="5295900" y="4343400"/>
            <a:ext cx="14287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172033"/>
                </a:solidFill>
                <a:latin typeface="Aptos"/>
                <a:ea typeface="Aptos"/>
                <a:cs typeface="Aptos"/>
              </a:defRPr>
            </a:pPr>
            <a:r>
              <a:rPr sz="1050" b="1">
                <a:solidFill>
                  <a:srgbClr val="172033"/>
                </a:solidFill>
                <a:latin typeface="Aptos"/>
                <a:ea typeface="Aptos"/>
                <a:cs typeface="Aptos"/>
              </a:rPr>
              <a:t>Ask for assumptions</a:t>
            </a:r>
          </a:p>
        </p:txBody>
      </p:sp>
      <p:sp>
        <p:nvSpPr>
          <p:cNvPr id="27" name="">
            <a:extLst xmlns:a="http://schemas.openxmlformats.org/drawingml/2006/main">
              <a:ext uri="{FF2B5EF4-FFF2-40B4-BE49-F238E27FC236}">
                <a16:creationId xmlns:a16="http://schemas.microsoft.com/office/drawing/2014/main" id="{8591F1D4-EC11-41D1-B3BE-6F1F26B0E82A}"/>
              </a:ext>
            </a:extLst>
          </p:cNvPr>
          <p:cNvSpPr>
            <a:spLocks xmlns:a="http://schemas.openxmlformats.org/drawingml/2006/main" noGrp="1"/>
          </p:cNvSpPr>
          <p:nvPr/>
        </p:nvSpPr>
        <p:spPr>
          <a:xfrm xmlns:a="http://schemas.openxmlformats.org/drawingml/2006/main">
            <a:off x="7848600" y="2209800"/>
            <a:ext cx="2667000" cy="2952750"/>
          </a:xfrm>
          <a:prstGeom xmlns:a="http://schemas.openxmlformats.org/drawingml/2006/main" prst="rect">
            <a:avLst/>
          </a:prstGeom>
          <a:solidFill xmlns:a="http://schemas.openxmlformats.org/drawingml/2006/main">
            <a:srgbClr val="FFFFFF"/>
          </a:solidFill>
          <a:ln xmlns:a="http://schemas.openxmlformats.org/drawingml/2006/main" w="9525">
            <a:solidFill>
              <a:srgbClr val="D8E0EA"/>
            </a:solidFill>
          </a:ln>
        </p:spPr>
      </p:sp>
      <p:sp>
        <p:nvSpPr>
          <p:cNvPr id="28" name="">
            <a:extLst xmlns:a="http://schemas.openxmlformats.org/drawingml/2006/main">
              <a:ext uri="{FF2B5EF4-FFF2-40B4-BE49-F238E27FC236}">
                <a16:creationId xmlns:a16="http://schemas.microsoft.com/office/drawing/2014/main" id="{9ABAE717-48CF-4B98-8307-2A2E79F31396}"/>
              </a:ext>
            </a:extLst>
          </p:cNvPr>
          <p:cNvSpPr>
            <a:spLocks xmlns:a="http://schemas.openxmlformats.org/drawingml/2006/main" noGrp="1"/>
          </p:cNvSpPr>
          <p:nvPr/>
        </p:nvSpPr>
        <p:spPr>
          <a:xfrm xmlns:a="http://schemas.openxmlformats.org/drawingml/2006/main">
            <a:off x="8096250" y="2476500"/>
            <a:ext cx="20955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875" b="1">
                <a:solidFill>
                  <a:srgbClr val="16A34A"/>
                </a:solidFill>
                <a:latin typeface="Aptos"/>
                <a:ea typeface="Aptos"/>
                <a:cs typeface="Aptos"/>
              </a:defRPr>
            </a:pPr>
            <a:r>
              <a:rPr sz="1875" b="1">
                <a:solidFill>
                  <a:srgbClr val="16A34A"/>
                </a:solidFill>
                <a:latin typeface="Aptos"/>
                <a:ea typeface="Aptos"/>
                <a:cs typeface="Aptos"/>
              </a:rPr>
              <a:t>After</a:t>
            </a:r>
          </a:p>
        </p:txBody>
      </p:sp>
      <p:sp>
        <p:nvSpPr>
          <p:cNvPr id="29" name="">
            <a:extLst xmlns:a="http://schemas.openxmlformats.org/drawingml/2006/main">
              <a:ext uri="{FF2B5EF4-FFF2-40B4-BE49-F238E27FC236}">
                <a16:creationId xmlns:a16="http://schemas.microsoft.com/office/drawing/2014/main" id="{96642620-ADE1-46FF-8BC0-5B7CD5A639DD}"/>
              </a:ext>
            </a:extLst>
          </p:cNvPr>
          <p:cNvSpPr>
            <a:spLocks xmlns:a="http://schemas.openxmlformats.org/drawingml/2006/main" noGrp="1"/>
          </p:cNvSpPr>
          <p:nvPr/>
        </p:nvSpPr>
        <p:spPr>
          <a:xfrm xmlns:a="http://schemas.openxmlformats.org/drawingml/2006/main">
            <a:off x="8248650" y="3162300"/>
            <a:ext cx="3238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75" b="0">
                <a:solidFill>
                  <a:srgbClr val="7B8798"/>
                </a:solidFill>
                <a:latin typeface="Aptos Mono"/>
                <a:ea typeface="Aptos Mono"/>
                <a:cs typeface="Aptos Mono"/>
              </a:defRPr>
            </a:pPr>
            <a:r>
              <a:rPr sz="975" b="0">
                <a:solidFill>
                  <a:srgbClr val="7B8798"/>
                </a:solidFill>
                <a:latin typeface="Aptos Mono"/>
                <a:ea typeface="Aptos Mono"/>
                <a:cs typeface="Aptos Mono"/>
              </a:rPr>
              <a:t>[ ]</a:t>
            </a:r>
          </a:p>
        </p:txBody>
      </p:sp>
      <p:sp>
        <p:nvSpPr>
          <p:cNvPr id="30" name="">
            <a:extLst xmlns:a="http://schemas.openxmlformats.org/drawingml/2006/main">
              <a:ext uri="{FF2B5EF4-FFF2-40B4-BE49-F238E27FC236}">
                <a16:creationId xmlns:a16="http://schemas.microsoft.com/office/drawing/2014/main" id="{6770A73E-D534-4A65-B9BC-54A30FFE74A3}"/>
              </a:ext>
            </a:extLst>
          </p:cNvPr>
          <p:cNvSpPr>
            <a:spLocks xmlns:a="http://schemas.openxmlformats.org/drawingml/2006/main" noGrp="1"/>
          </p:cNvSpPr>
          <p:nvPr/>
        </p:nvSpPr>
        <p:spPr>
          <a:xfrm xmlns:a="http://schemas.openxmlformats.org/drawingml/2006/main">
            <a:off x="8629650" y="3143250"/>
            <a:ext cx="14287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172033"/>
                </a:solidFill>
                <a:latin typeface="Aptos"/>
                <a:ea typeface="Aptos"/>
                <a:cs typeface="Aptos"/>
              </a:defRPr>
            </a:pPr>
            <a:r>
              <a:rPr sz="1050" b="1">
                <a:solidFill>
                  <a:srgbClr val="172033"/>
                </a:solidFill>
                <a:latin typeface="Aptos"/>
                <a:ea typeface="Aptos"/>
                <a:cs typeface="Aptos"/>
              </a:rPr>
              <a:t>Inspect diff</a:t>
            </a:r>
          </a:p>
        </p:txBody>
      </p:sp>
      <p:sp>
        <p:nvSpPr>
          <p:cNvPr id="31" name="">
            <a:extLst xmlns:a="http://schemas.openxmlformats.org/drawingml/2006/main">
              <a:ext uri="{FF2B5EF4-FFF2-40B4-BE49-F238E27FC236}">
                <a16:creationId xmlns:a16="http://schemas.microsoft.com/office/drawing/2014/main" id="{4FFE3162-03F3-46B4-B62B-7C50516DD4CF}"/>
              </a:ext>
            </a:extLst>
          </p:cNvPr>
          <p:cNvSpPr>
            <a:spLocks xmlns:a="http://schemas.openxmlformats.org/drawingml/2006/main" noGrp="1"/>
          </p:cNvSpPr>
          <p:nvPr/>
        </p:nvSpPr>
        <p:spPr>
          <a:xfrm xmlns:a="http://schemas.openxmlformats.org/drawingml/2006/main">
            <a:off x="8248650" y="3562350"/>
            <a:ext cx="3238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75" b="0">
                <a:solidFill>
                  <a:srgbClr val="7B8798"/>
                </a:solidFill>
                <a:latin typeface="Aptos Mono"/>
                <a:ea typeface="Aptos Mono"/>
                <a:cs typeface="Aptos Mono"/>
              </a:defRPr>
            </a:pPr>
            <a:r>
              <a:rPr sz="975" b="0">
                <a:solidFill>
                  <a:srgbClr val="7B8798"/>
                </a:solidFill>
                <a:latin typeface="Aptos Mono"/>
                <a:ea typeface="Aptos Mono"/>
                <a:cs typeface="Aptos Mono"/>
              </a:rPr>
              <a:t>[ ]</a:t>
            </a:r>
          </a:p>
        </p:txBody>
      </p:sp>
      <p:sp>
        <p:nvSpPr>
          <p:cNvPr id="32" name="">
            <a:extLst xmlns:a="http://schemas.openxmlformats.org/drawingml/2006/main">
              <a:ext uri="{FF2B5EF4-FFF2-40B4-BE49-F238E27FC236}">
                <a16:creationId xmlns:a16="http://schemas.microsoft.com/office/drawing/2014/main" id="{9BB65AC9-12CA-43D1-8E4A-7ADCBE791227}"/>
              </a:ext>
            </a:extLst>
          </p:cNvPr>
          <p:cNvSpPr>
            <a:spLocks xmlns:a="http://schemas.openxmlformats.org/drawingml/2006/main" noGrp="1"/>
          </p:cNvSpPr>
          <p:nvPr/>
        </p:nvSpPr>
        <p:spPr>
          <a:xfrm xmlns:a="http://schemas.openxmlformats.org/drawingml/2006/main">
            <a:off x="8629650" y="3543300"/>
            <a:ext cx="14287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172033"/>
                </a:solidFill>
                <a:latin typeface="Aptos"/>
                <a:ea typeface="Aptos"/>
                <a:cs typeface="Aptos"/>
              </a:defRPr>
            </a:pPr>
            <a:r>
              <a:rPr sz="1050" b="1">
                <a:solidFill>
                  <a:srgbClr val="172033"/>
                </a:solidFill>
                <a:latin typeface="Aptos"/>
                <a:ea typeface="Aptos"/>
                <a:cs typeface="Aptos"/>
              </a:rPr>
              <a:t>Run tests</a:t>
            </a:r>
          </a:p>
        </p:txBody>
      </p:sp>
      <p:sp>
        <p:nvSpPr>
          <p:cNvPr id="33" name="">
            <a:extLst xmlns:a="http://schemas.openxmlformats.org/drawingml/2006/main">
              <a:ext uri="{FF2B5EF4-FFF2-40B4-BE49-F238E27FC236}">
                <a16:creationId xmlns:a16="http://schemas.microsoft.com/office/drawing/2014/main" id="{9EB9AE14-52CA-4424-8B67-2217DBD5D8CA}"/>
              </a:ext>
            </a:extLst>
          </p:cNvPr>
          <p:cNvSpPr>
            <a:spLocks xmlns:a="http://schemas.openxmlformats.org/drawingml/2006/main" noGrp="1"/>
          </p:cNvSpPr>
          <p:nvPr/>
        </p:nvSpPr>
        <p:spPr>
          <a:xfrm xmlns:a="http://schemas.openxmlformats.org/drawingml/2006/main">
            <a:off x="8248650" y="3962400"/>
            <a:ext cx="3238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75" b="0">
                <a:solidFill>
                  <a:srgbClr val="7B8798"/>
                </a:solidFill>
                <a:latin typeface="Aptos Mono"/>
                <a:ea typeface="Aptos Mono"/>
                <a:cs typeface="Aptos Mono"/>
              </a:defRPr>
            </a:pPr>
            <a:r>
              <a:rPr sz="975" b="0">
                <a:solidFill>
                  <a:srgbClr val="7B8798"/>
                </a:solidFill>
                <a:latin typeface="Aptos Mono"/>
                <a:ea typeface="Aptos Mono"/>
                <a:cs typeface="Aptos Mono"/>
              </a:rPr>
              <a:t>[ ]</a:t>
            </a:r>
          </a:p>
        </p:txBody>
      </p:sp>
      <p:sp>
        <p:nvSpPr>
          <p:cNvPr id="34" name="">
            <a:extLst xmlns:a="http://schemas.openxmlformats.org/drawingml/2006/main">
              <a:ext uri="{FF2B5EF4-FFF2-40B4-BE49-F238E27FC236}">
                <a16:creationId xmlns:a16="http://schemas.microsoft.com/office/drawing/2014/main" id="{AD6473B6-1BDC-433C-A402-722BD0593F2C}"/>
              </a:ext>
            </a:extLst>
          </p:cNvPr>
          <p:cNvSpPr>
            <a:spLocks xmlns:a="http://schemas.openxmlformats.org/drawingml/2006/main" noGrp="1"/>
          </p:cNvSpPr>
          <p:nvPr/>
        </p:nvSpPr>
        <p:spPr>
          <a:xfrm xmlns:a="http://schemas.openxmlformats.org/drawingml/2006/main">
            <a:off x="8629650" y="3943350"/>
            <a:ext cx="14287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172033"/>
                </a:solidFill>
                <a:latin typeface="Aptos"/>
                <a:ea typeface="Aptos"/>
                <a:cs typeface="Aptos"/>
              </a:defRPr>
            </a:pPr>
            <a:r>
              <a:rPr sz="1050" b="1">
                <a:solidFill>
                  <a:srgbClr val="172033"/>
                </a:solidFill>
                <a:latin typeface="Aptos"/>
                <a:ea typeface="Aptos"/>
                <a:cs typeface="Aptos"/>
              </a:rPr>
              <a:t>Check edge cases</a:t>
            </a:r>
          </a:p>
        </p:txBody>
      </p:sp>
      <p:sp>
        <p:nvSpPr>
          <p:cNvPr id="35" name="">
            <a:extLst xmlns:a="http://schemas.openxmlformats.org/drawingml/2006/main">
              <a:ext uri="{FF2B5EF4-FFF2-40B4-BE49-F238E27FC236}">
                <a16:creationId xmlns:a16="http://schemas.microsoft.com/office/drawing/2014/main" id="{7A39D001-EB92-4003-BA3F-C8FE11D5F8BB}"/>
              </a:ext>
            </a:extLst>
          </p:cNvPr>
          <p:cNvSpPr>
            <a:spLocks xmlns:a="http://schemas.openxmlformats.org/drawingml/2006/main" noGrp="1"/>
          </p:cNvSpPr>
          <p:nvPr/>
        </p:nvSpPr>
        <p:spPr>
          <a:xfrm xmlns:a="http://schemas.openxmlformats.org/drawingml/2006/main">
            <a:off x="8248650" y="4362450"/>
            <a:ext cx="3238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75" b="0">
                <a:solidFill>
                  <a:srgbClr val="7B8798"/>
                </a:solidFill>
                <a:latin typeface="Aptos Mono"/>
                <a:ea typeface="Aptos Mono"/>
                <a:cs typeface="Aptos Mono"/>
              </a:defRPr>
            </a:pPr>
            <a:r>
              <a:rPr sz="975" b="0">
                <a:solidFill>
                  <a:srgbClr val="7B8798"/>
                </a:solidFill>
                <a:latin typeface="Aptos Mono"/>
                <a:ea typeface="Aptos Mono"/>
                <a:cs typeface="Aptos Mono"/>
              </a:rPr>
              <a:t>[ ]</a:t>
            </a:r>
          </a:p>
        </p:txBody>
      </p:sp>
      <p:sp>
        <p:nvSpPr>
          <p:cNvPr id="36" name="">
            <a:extLst xmlns:a="http://schemas.openxmlformats.org/drawingml/2006/main">
              <a:ext uri="{FF2B5EF4-FFF2-40B4-BE49-F238E27FC236}">
                <a16:creationId xmlns:a16="http://schemas.microsoft.com/office/drawing/2014/main" id="{42FAC837-C78E-4D17-80E0-86587F9FB426}"/>
              </a:ext>
            </a:extLst>
          </p:cNvPr>
          <p:cNvSpPr>
            <a:spLocks xmlns:a="http://schemas.openxmlformats.org/drawingml/2006/main" noGrp="1"/>
          </p:cNvSpPr>
          <p:nvPr/>
        </p:nvSpPr>
        <p:spPr>
          <a:xfrm xmlns:a="http://schemas.openxmlformats.org/drawingml/2006/main">
            <a:off x="8629650" y="4343400"/>
            <a:ext cx="14287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172033"/>
                </a:solidFill>
                <a:latin typeface="Aptos"/>
                <a:ea typeface="Aptos"/>
                <a:cs typeface="Aptos"/>
              </a:defRPr>
            </a:pPr>
            <a:r>
              <a:rPr sz="1050" b="1">
                <a:solidFill>
                  <a:srgbClr val="172033"/>
                </a:solidFill>
                <a:latin typeface="Aptos"/>
                <a:ea typeface="Aptos"/>
                <a:cs typeface="Aptos"/>
              </a:rPr>
              <a:t>Capture learnings</a:t>
            </a:r>
          </a:p>
        </p:txBody>
      </p:sp>
    </p:spTree>
    <p:extLst>
      <p:ext uri="{BB962C8B-B14F-4D97-AF65-F5344CB8AC3E}">
        <p14:creationId xmlns:p14="http://schemas.microsoft.com/office/powerpoint/2010/main" val="1127639653"/>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ED15BFA-6151-4164-B66F-104B9648D06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6F8F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03EFC65-B8EA-4FA8-905D-8490EEE797CE}"/>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9F9A"/>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71F33DE-0748-49DF-B1FD-1E5F5E88D535}"/>
              </a:ext>
            </a:extLst>
          </p:cNvPr>
          <p:cNvSpPr>
            <a:spLocks xmlns:a="http://schemas.openxmlformats.org/drawingml/2006/main" noGrp="1"/>
          </p:cNvSpPr>
          <p:nvPr/>
        </p:nvSpPr>
        <p:spPr>
          <a:xfrm xmlns:a="http://schemas.openxmlformats.org/drawingml/2006/main">
            <a:off x="514350" y="400050"/>
            <a:ext cx="5143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788" b="1">
                <a:solidFill>
                  <a:srgbClr val="0E9F9A"/>
                </a:solidFill>
                <a:latin typeface="Aptos"/>
                <a:ea typeface="Aptos"/>
                <a:cs typeface="Aptos"/>
              </a:defRPr>
            </a:pPr>
            <a:r>
              <a:rPr sz="788" b="1">
                <a:solidFill>
                  <a:srgbClr val="0E9F9A"/>
                </a:solidFill>
                <a:latin typeface="Aptos"/>
                <a:ea typeface="Aptos"/>
                <a:cs typeface="Aptos"/>
              </a:rPr>
              <a:t>CLOSING EXERCISE</a:t>
            </a:r>
          </a:p>
        </p:txBody>
      </p:sp>
      <p:sp>
        <p:nvSpPr>
          <p:cNvPr id="4" name="">
            <a:extLst xmlns:a="http://schemas.openxmlformats.org/drawingml/2006/main">
              <a:ext uri="{FF2B5EF4-FFF2-40B4-BE49-F238E27FC236}">
                <a16:creationId xmlns:a16="http://schemas.microsoft.com/office/drawing/2014/main" id="{10036298-682D-4929-B914-DCBE1FBF54E3}"/>
              </a:ext>
            </a:extLst>
          </p:cNvPr>
          <p:cNvSpPr>
            <a:spLocks xmlns:a="http://schemas.openxmlformats.org/drawingml/2006/main" noGrp="1"/>
          </p:cNvSpPr>
          <p:nvPr/>
        </p:nvSpPr>
        <p:spPr>
          <a:xfrm xmlns:a="http://schemas.openxmlformats.org/drawingml/2006/main">
            <a:off x="514350" y="685800"/>
            <a:ext cx="8382000" cy="8763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172033"/>
                </a:solidFill>
                <a:latin typeface="Aptos Display"/>
                <a:ea typeface="Aptos Display"/>
                <a:cs typeface="Aptos Display"/>
              </a:defRPr>
            </a:pPr>
            <a:r>
              <a:rPr sz="2550" b="1">
                <a:solidFill>
                  <a:srgbClr val="172033"/>
                </a:solidFill>
                <a:latin typeface="Aptos Display"/>
                <a:ea typeface="Aptos Display"/>
                <a:cs typeface="Aptos Display"/>
              </a:rPr>
              <a:t>Turn a vague request into an agent-ready task.</a:t>
            </a:r>
          </a:p>
        </p:txBody>
      </p:sp>
      <p:sp>
        <p:nvSpPr>
          <p:cNvPr id="5" name="">
            <a:extLst xmlns:a="http://schemas.openxmlformats.org/drawingml/2006/main">
              <a:ext uri="{FF2B5EF4-FFF2-40B4-BE49-F238E27FC236}">
                <a16:creationId xmlns:a16="http://schemas.microsoft.com/office/drawing/2014/main" id="{736D890F-7CA2-4195-8402-11971190CCC2}"/>
              </a:ext>
            </a:extLst>
          </p:cNvPr>
          <p:cNvSpPr>
            <a:spLocks xmlns:a="http://schemas.openxmlformats.org/drawingml/2006/main" noGrp="1"/>
          </p:cNvSpPr>
          <p:nvPr/>
        </p:nvSpPr>
        <p:spPr>
          <a:xfrm xmlns:a="http://schemas.openxmlformats.org/drawingml/2006/main">
            <a:off x="514350" y="6515100"/>
            <a:ext cx="88582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638" b="0">
                <a:solidFill>
                  <a:srgbClr val="7B8798"/>
                </a:solidFill>
                <a:latin typeface="Aptos"/>
                <a:ea typeface="Aptos"/>
                <a:cs typeface="Aptos"/>
              </a:defRPr>
            </a:pPr>
            <a:r>
              <a:rPr sz="638" b="0">
                <a:solidFill>
                  <a:srgbClr val="7B8798"/>
                </a:solidFill>
                <a:latin typeface="Aptos"/>
                <a:ea typeface="Aptos"/>
                <a:cs typeface="Aptos"/>
              </a:rPr>
              <a:t>101 AI Basics for Developers</a:t>
            </a:r>
          </a:p>
        </p:txBody>
      </p:sp>
      <p:sp>
        <p:nvSpPr>
          <p:cNvPr id="6" name="">
            <a:extLst xmlns:a="http://schemas.openxmlformats.org/drawingml/2006/main">
              <a:ext uri="{FF2B5EF4-FFF2-40B4-BE49-F238E27FC236}">
                <a16:creationId xmlns:a16="http://schemas.microsoft.com/office/drawing/2014/main" id="{261484C3-B1A1-4747-B15E-192E555BBB9C}"/>
              </a:ext>
            </a:extLst>
          </p:cNvPr>
          <p:cNvSpPr>
            <a:spLocks xmlns:a="http://schemas.openxmlformats.org/drawingml/2006/main" noGrp="1"/>
          </p:cNvSpPr>
          <p:nvPr/>
        </p:nvSpPr>
        <p:spPr>
          <a:xfrm xmlns:a="http://schemas.openxmlformats.org/drawingml/2006/main">
            <a:off x="11239500" y="6477000"/>
            <a:ext cx="4381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r">
              <a:defRPr sz="750" b="1">
                <a:solidFill>
                  <a:srgbClr val="7B8798"/>
                </a:solidFill>
                <a:latin typeface="Aptos"/>
                <a:ea typeface="Aptos"/>
                <a:cs typeface="Aptos"/>
              </a:defRPr>
            </a:pPr>
            <a:r>
              <a:rPr sz="750" b="1">
                <a:solidFill>
                  <a:srgbClr val="7B8798"/>
                </a:solidFill>
                <a:latin typeface="Aptos"/>
                <a:ea typeface="Aptos"/>
                <a:cs typeface="Aptos"/>
              </a:rPr>
              <a:t>16</a:t>
            </a:r>
          </a:p>
        </p:txBody>
      </p:sp>
      <p:sp>
        <p:nvSpPr>
          <p:cNvPr id="7" name="">
            <a:extLst xmlns:a="http://schemas.openxmlformats.org/drawingml/2006/main">
              <a:ext uri="{FF2B5EF4-FFF2-40B4-BE49-F238E27FC236}">
                <a16:creationId xmlns:a16="http://schemas.microsoft.com/office/drawing/2014/main" id="{AD71544E-8E89-4B28-A1DC-8544C7559D45}"/>
              </a:ext>
            </a:extLst>
          </p:cNvPr>
          <p:cNvSpPr>
            <a:spLocks xmlns:a="http://schemas.openxmlformats.org/drawingml/2006/main" noGrp="1"/>
          </p:cNvSpPr>
          <p:nvPr/>
        </p:nvSpPr>
        <p:spPr>
          <a:xfrm xmlns:a="http://schemas.openxmlformats.org/drawingml/2006/main">
            <a:off x="1047750" y="1943100"/>
            <a:ext cx="15240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DC2626"/>
                </a:solidFill>
                <a:latin typeface="Aptos"/>
                <a:ea typeface="Aptos"/>
                <a:cs typeface="Aptos"/>
              </a:defRPr>
            </a:pPr>
            <a:r>
              <a:rPr sz="1500" b="1">
                <a:solidFill>
                  <a:srgbClr val="DC2626"/>
                </a:solidFill>
                <a:latin typeface="Aptos"/>
                <a:ea typeface="Aptos"/>
                <a:cs typeface="Aptos"/>
              </a:rPr>
              <a:t>Vague</a:t>
            </a:r>
          </a:p>
        </p:txBody>
      </p:sp>
      <p:sp>
        <p:nvSpPr>
          <p:cNvPr id="8" name="">
            <a:extLst xmlns:a="http://schemas.openxmlformats.org/drawingml/2006/main">
              <a:ext uri="{FF2B5EF4-FFF2-40B4-BE49-F238E27FC236}">
                <a16:creationId xmlns:a16="http://schemas.microsoft.com/office/drawing/2014/main" id="{462C93A3-7D9A-403B-899C-DB789AD7C8A5}"/>
              </a:ext>
            </a:extLst>
          </p:cNvPr>
          <p:cNvSpPr>
            <a:spLocks xmlns:a="http://schemas.openxmlformats.org/drawingml/2006/main" noGrp="1"/>
          </p:cNvSpPr>
          <p:nvPr/>
        </p:nvSpPr>
        <p:spPr>
          <a:xfrm xmlns:a="http://schemas.openxmlformats.org/drawingml/2006/main">
            <a:off x="1047750" y="2324100"/>
            <a:ext cx="4095750" cy="1143000"/>
          </a:xfrm>
          <a:prstGeom xmlns:a="http://schemas.openxmlformats.org/drawingml/2006/main" prst="rect">
            <a:avLst/>
          </a:prstGeom>
          <a:solidFill xmlns:a="http://schemas.openxmlformats.org/drawingml/2006/main">
            <a:srgbClr val="0B122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DED74F64-B737-4DF0-87D9-FD64A07544D5}"/>
              </a:ext>
            </a:extLst>
          </p:cNvPr>
          <p:cNvSpPr>
            <a:spLocks xmlns:a="http://schemas.openxmlformats.org/drawingml/2006/main" noGrp="1"/>
          </p:cNvSpPr>
          <p:nvPr/>
        </p:nvSpPr>
        <p:spPr>
          <a:xfrm xmlns:a="http://schemas.openxmlformats.org/drawingml/2006/main">
            <a:off x="1257300" y="2533650"/>
            <a:ext cx="3676650" cy="7239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75" b="0">
                <a:solidFill>
                  <a:srgbClr val="D8E6F3"/>
                </a:solidFill>
                <a:latin typeface="Aptos Mono"/>
                <a:ea typeface="Aptos Mono"/>
                <a:cs typeface="Aptos Mono"/>
              </a:defRPr>
            </a:pPr>
            <a:r>
              <a:rPr sz="975" b="0">
                <a:solidFill>
                  <a:srgbClr val="D8E6F3"/>
                </a:solidFill>
                <a:latin typeface="Aptos Mono"/>
                <a:ea typeface="Aptos Mono"/>
                <a:cs typeface="Aptos Mono"/>
              </a:rPr>
              <a:t>Make the settings page better.</a:t>
            </a:r>
          </a:p>
        </p:txBody>
      </p:sp>
      <p:sp>
        <p:nvSpPr>
          <p:cNvPr id="10" name="">
            <a:extLst xmlns:a="http://schemas.openxmlformats.org/drawingml/2006/main">
              <a:ext uri="{FF2B5EF4-FFF2-40B4-BE49-F238E27FC236}">
                <a16:creationId xmlns:a16="http://schemas.microsoft.com/office/drawing/2014/main" id="{71C35A67-E388-40B1-9052-511C4D7EC96F}"/>
              </a:ext>
            </a:extLst>
          </p:cNvPr>
          <p:cNvSpPr>
            <a:spLocks xmlns:a="http://schemas.openxmlformats.org/drawingml/2006/main" noGrp="1"/>
          </p:cNvSpPr>
          <p:nvPr/>
        </p:nvSpPr>
        <p:spPr>
          <a:xfrm xmlns:a="http://schemas.openxmlformats.org/drawingml/2006/main">
            <a:off x="6667500" y="1943100"/>
            <a:ext cx="20955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16A34A"/>
                </a:solidFill>
                <a:latin typeface="Aptos"/>
                <a:ea typeface="Aptos"/>
                <a:cs typeface="Aptos"/>
              </a:defRPr>
            </a:pPr>
            <a:r>
              <a:rPr sz="1500" b="1">
                <a:solidFill>
                  <a:srgbClr val="16A34A"/>
                </a:solidFill>
                <a:latin typeface="Aptos"/>
                <a:ea typeface="Aptos"/>
                <a:cs typeface="Aptos"/>
              </a:rPr>
              <a:t>Agent-ready</a:t>
            </a:r>
          </a:p>
        </p:txBody>
      </p:sp>
      <p:sp>
        <p:nvSpPr>
          <p:cNvPr id="11" name="">
            <a:extLst xmlns:a="http://schemas.openxmlformats.org/drawingml/2006/main">
              <a:ext uri="{FF2B5EF4-FFF2-40B4-BE49-F238E27FC236}">
                <a16:creationId xmlns:a16="http://schemas.microsoft.com/office/drawing/2014/main" id="{B8D40495-7817-490D-BF9C-422C71D1B727}"/>
              </a:ext>
            </a:extLst>
          </p:cNvPr>
          <p:cNvSpPr>
            <a:spLocks xmlns:a="http://schemas.openxmlformats.org/drawingml/2006/main" noGrp="1"/>
          </p:cNvSpPr>
          <p:nvPr/>
        </p:nvSpPr>
        <p:spPr>
          <a:xfrm xmlns:a="http://schemas.openxmlformats.org/drawingml/2006/main">
            <a:off x="6667500" y="2324100"/>
            <a:ext cx="4095750" cy="1847850"/>
          </a:xfrm>
          <a:prstGeom xmlns:a="http://schemas.openxmlformats.org/drawingml/2006/main" prst="rect">
            <a:avLst/>
          </a:prstGeom>
          <a:solidFill xmlns:a="http://schemas.openxmlformats.org/drawingml/2006/main">
            <a:srgbClr val="0B1220"/>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41B62161-C55F-4BB1-B37F-7E328D6536A8}"/>
              </a:ext>
            </a:extLst>
          </p:cNvPr>
          <p:cNvSpPr>
            <a:spLocks xmlns:a="http://schemas.openxmlformats.org/drawingml/2006/main" noGrp="1"/>
          </p:cNvSpPr>
          <p:nvPr/>
        </p:nvSpPr>
        <p:spPr>
          <a:xfrm xmlns:a="http://schemas.openxmlformats.org/drawingml/2006/main">
            <a:off x="6877050" y="2533650"/>
            <a:ext cx="3676650" cy="14287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75" b="0">
                <a:solidFill>
                  <a:srgbClr val="D8E6F3"/>
                </a:solidFill>
                <a:latin typeface="Aptos Mono"/>
                <a:ea typeface="Aptos Mono"/>
                <a:cs typeface="Aptos Mono"/>
              </a:defRPr>
            </a:pPr>
            <a:r>
              <a:rPr sz="975" b="0">
                <a:solidFill>
                  <a:srgbClr val="D8E6F3"/>
                </a:solidFill>
                <a:latin typeface="Aptos Mono"/>
                <a:ea typeface="Aptos Mono"/>
                <a:cs typeface="Aptos Mono"/>
              </a:rPr>
              <a:t>Review the current settings page UX. Identify the smallest accessibility and layout improvements that do not change routes or API behavior. Implement them in the settings component only, add or update focused tests, and summarize before/after behavior.</a:t>
            </a:r>
          </a:p>
        </p:txBody>
      </p:sp>
      <p:sp>
        <p:nvSpPr>
          <p:cNvPr id="13" name="">
            <a:extLst xmlns:a="http://schemas.openxmlformats.org/drawingml/2006/main">
              <a:ext uri="{FF2B5EF4-FFF2-40B4-BE49-F238E27FC236}">
                <a16:creationId xmlns:a16="http://schemas.microsoft.com/office/drawing/2014/main" id="{7B2CD4D8-7860-4E37-B7C3-627C5B804A79}"/>
              </a:ext>
            </a:extLst>
          </p:cNvPr>
          <p:cNvSpPr>
            <a:spLocks xmlns:a="http://schemas.openxmlformats.org/drawingml/2006/main" noGrp="1"/>
          </p:cNvSpPr>
          <p:nvPr/>
        </p:nvSpPr>
        <p:spPr>
          <a:xfrm xmlns:a="http://schemas.openxmlformats.org/drawingml/2006/main">
            <a:off x="5286375" y="2876550"/>
            <a:ext cx="1190625" cy="38100"/>
          </a:xfrm>
          <a:prstGeom xmlns:a="http://schemas.openxmlformats.org/drawingml/2006/main" prst="rect">
            <a:avLst/>
          </a:prstGeom>
          <a:solidFill xmlns:a="http://schemas.openxmlformats.org/drawingml/2006/main">
            <a:srgbClr val="0E9F9A"/>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9F8B71AE-96BD-44BC-B67C-08BF293EA3A7}"/>
              </a:ext>
            </a:extLst>
          </p:cNvPr>
          <p:cNvSpPr>
            <a:spLocks xmlns:a="http://schemas.openxmlformats.org/drawingml/2006/main" noGrp="1"/>
          </p:cNvSpPr>
          <p:nvPr/>
        </p:nvSpPr>
        <p:spPr>
          <a:xfrm xmlns:a="http://schemas.openxmlformats.org/drawingml/2006/main">
            <a:off x="6410325" y="2781300"/>
            <a:ext cx="190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0E9F9A"/>
                </a:solidFill>
                <a:latin typeface="Aptos"/>
                <a:ea typeface="Aptos"/>
                <a:cs typeface="Aptos"/>
              </a:defRPr>
            </a:pPr>
            <a:r>
              <a:rPr sz="1350" b="1">
                <a:solidFill>
                  <a:srgbClr val="0E9F9A"/>
                </a:solidFill>
                <a:latin typeface="Aptos"/>
                <a:ea typeface="Aptos"/>
                <a:cs typeface="Aptos"/>
              </a:rPr>
              <a:t>&gt;</a:t>
            </a:r>
          </a:p>
        </p:txBody>
      </p:sp>
      <p:sp>
        <p:nvSpPr>
          <p:cNvPr id="15" name="">
            <a:extLst xmlns:a="http://schemas.openxmlformats.org/drawingml/2006/main">
              <a:ext uri="{FF2B5EF4-FFF2-40B4-BE49-F238E27FC236}">
                <a16:creationId xmlns:a16="http://schemas.microsoft.com/office/drawing/2014/main" id="{C1BD28FA-FB30-45D8-9E11-F4250B9B0378}"/>
              </a:ext>
            </a:extLst>
          </p:cNvPr>
          <p:cNvSpPr>
            <a:spLocks xmlns:a="http://schemas.openxmlformats.org/drawingml/2006/main" noGrp="1"/>
          </p:cNvSpPr>
          <p:nvPr/>
        </p:nvSpPr>
        <p:spPr>
          <a:xfrm xmlns:a="http://schemas.openxmlformats.org/drawingml/2006/main">
            <a:off x="1714500" y="5095875"/>
            <a:ext cx="2381250" cy="285750"/>
          </a:xfrm>
          <a:prstGeom xmlns:a="http://schemas.openxmlformats.org/drawingml/2006/main" prst="rect">
            <a:avLst/>
          </a:prstGeom>
          <a:solidFill xmlns:a="http://schemas.openxmlformats.org/drawingml/2006/main">
            <a:srgbClr val="FFFFFF"/>
          </a:solidFill>
          <a:ln xmlns:a="http://schemas.openxmlformats.org/drawingml/2006/main" w="9525">
            <a:solidFill>
              <a:srgbClr val="2563EB"/>
            </a:solidFill>
          </a:ln>
        </p:spPr>
      </p:sp>
      <p:sp>
        <p:nvSpPr>
          <p:cNvPr id="16" name="">
            <a:extLst xmlns:a="http://schemas.openxmlformats.org/drawingml/2006/main">
              <a:ext uri="{FF2B5EF4-FFF2-40B4-BE49-F238E27FC236}">
                <a16:creationId xmlns:a16="http://schemas.microsoft.com/office/drawing/2014/main" id="{EB28DAE9-FF8F-42F2-B7E4-0BCE8B2F3EB0}"/>
              </a:ext>
            </a:extLst>
          </p:cNvPr>
          <p:cNvSpPr>
            <a:spLocks xmlns:a="http://schemas.openxmlformats.org/drawingml/2006/main" noGrp="1"/>
          </p:cNvSpPr>
          <p:nvPr/>
        </p:nvSpPr>
        <p:spPr>
          <a:xfrm xmlns:a="http://schemas.openxmlformats.org/drawingml/2006/main">
            <a:off x="1828800" y="5162550"/>
            <a:ext cx="2152650" cy="1333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713" b="1">
                <a:solidFill>
                  <a:srgbClr val="2563EB"/>
                </a:solidFill>
                <a:latin typeface="Aptos"/>
                <a:ea typeface="Aptos"/>
                <a:cs typeface="Aptos"/>
              </a:defRPr>
            </a:pPr>
            <a:r>
              <a:rPr sz="713" b="1">
                <a:solidFill>
                  <a:srgbClr val="2563EB"/>
                </a:solidFill>
                <a:latin typeface="Aptos"/>
                <a:ea typeface="Aptos"/>
                <a:cs typeface="Aptos"/>
              </a:rPr>
              <a:t>What is the smallest useful scope?</a:t>
            </a:r>
          </a:p>
        </p:txBody>
      </p:sp>
      <p:sp>
        <p:nvSpPr>
          <p:cNvPr id="17" name="">
            <a:extLst xmlns:a="http://schemas.openxmlformats.org/drawingml/2006/main">
              <a:ext uri="{FF2B5EF4-FFF2-40B4-BE49-F238E27FC236}">
                <a16:creationId xmlns:a16="http://schemas.microsoft.com/office/drawing/2014/main" id="{BD4F0099-AA7C-429A-BE7B-5143FCDACD6E}"/>
              </a:ext>
            </a:extLst>
          </p:cNvPr>
          <p:cNvSpPr>
            <a:spLocks xmlns:a="http://schemas.openxmlformats.org/drawingml/2006/main" noGrp="1"/>
          </p:cNvSpPr>
          <p:nvPr/>
        </p:nvSpPr>
        <p:spPr>
          <a:xfrm xmlns:a="http://schemas.openxmlformats.org/drawingml/2006/main">
            <a:off x="4572000" y="5095875"/>
            <a:ext cx="2381250" cy="285750"/>
          </a:xfrm>
          <a:prstGeom xmlns:a="http://schemas.openxmlformats.org/drawingml/2006/main" prst="rect">
            <a:avLst/>
          </a:prstGeom>
          <a:solidFill xmlns:a="http://schemas.openxmlformats.org/drawingml/2006/main">
            <a:srgbClr val="FFFFFF"/>
          </a:solidFill>
          <a:ln xmlns:a="http://schemas.openxmlformats.org/drawingml/2006/main" w="9525">
            <a:solidFill>
              <a:srgbClr val="0E9F9A"/>
            </a:solidFill>
          </a:ln>
        </p:spPr>
      </p:sp>
      <p:sp>
        <p:nvSpPr>
          <p:cNvPr id="18" name="">
            <a:extLst xmlns:a="http://schemas.openxmlformats.org/drawingml/2006/main">
              <a:ext uri="{FF2B5EF4-FFF2-40B4-BE49-F238E27FC236}">
                <a16:creationId xmlns:a16="http://schemas.microsoft.com/office/drawing/2014/main" id="{68927AC7-3EB7-4E9F-B58A-1159D0B7B794}"/>
              </a:ext>
            </a:extLst>
          </p:cNvPr>
          <p:cNvSpPr>
            <a:spLocks xmlns:a="http://schemas.openxmlformats.org/drawingml/2006/main" noGrp="1"/>
          </p:cNvSpPr>
          <p:nvPr/>
        </p:nvSpPr>
        <p:spPr>
          <a:xfrm xmlns:a="http://schemas.openxmlformats.org/drawingml/2006/main">
            <a:off x="4686300" y="5162550"/>
            <a:ext cx="2152650" cy="1333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713" b="1">
                <a:solidFill>
                  <a:srgbClr val="0E9F9A"/>
                </a:solidFill>
                <a:latin typeface="Aptos"/>
                <a:ea typeface="Aptos"/>
                <a:cs typeface="Aptos"/>
              </a:defRPr>
            </a:pPr>
            <a:r>
              <a:rPr sz="713" b="1">
                <a:solidFill>
                  <a:srgbClr val="0E9F9A"/>
                </a:solidFill>
                <a:latin typeface="Aptos"/>
                <a:ea typeface="Aptos"/>
                <a:cs typeface="Aptos"/>
              </a:rPr>
              <a:t>What should the agent inspect first?</a:t>
            </a:r>
          </a:p>
        </p:txBody>
      </p:sp>
      <p:sp>
        <p:nvSpPr>
          <p:cNvPr id="19" name="">
            <a:extLst xmlns:a="http://schemas.openxmlformats.org/drawingml/2006/main">
              <a:ext uri="{FF2B5EF4-FFF2-40B4-BE49-F238E27FC236}">
                <a16:creationId xmlns:a16="http://schemas.microsoft.com/office/drawing/2014/main" id="{4CD76D1A-E291-4A43-B35B-9C36728D7EB6}"/>
              </a:ext>
            </a:extLst>
          </p:cNvPr>
          <p:cNvSpPr>
            <a:spLocks xmlns:a="http://schemas.openxmlformats.org/drawingml/2006/main" noGrp="1"/>
          </p:cNvSpPr>
          <p:nvPr/>
        </p:nvSpPr>
        <p:spPr>
          <a:xfrm xmlns:a="http://schemas.openxmlformats.org/drawingml/2006/main">
            <a:off x="7429500" y="5095875"/>
            <a:ext cx="2381250" cy="285750"/>
          </a:xfrm>
          <a:prstGeom xmlns:a="http://schemas.openxmlformats.org/drawingml/2006/main" prst="rect">
            <a:avLst/>
          </a:prstGeom>
          <a:solidFill xmlns:a="http://schemas.openxmlformats.org/drawingml/2006/main">
            <a:srgbClr val="FFFFFF"/>
          </a:solidFill>
          <a:ln xmlns:a="http://schemas.openxmlformats.org/drawingml/2006/main" w="9525">
            <a:solidFill>
              <a:srgbClr val="F59E0B"/>
            </a:solidFill>
          </a:ln>
        </p:spPr>
      </p:sp>
      <p:sp>
        <p:nvSpPr>
          <p:cNvPr id="20" name="">
            <a:extLst xmlns:a="http://schemas.openxmlformats.org/drawingml/2006/main">
              <a:ext uri="{FF2B5EF4-FFF2-40B4-BE49-F238E27FC236}">
                <a16:creationId xmlns:a16="http://schemas.microsoft.com/office/drawing/2014/main" id="{7090C542-CD21-4DD5-8C6D-312638671CCC}"/>
              </a:ext>
            </a:extLst>
          </p:cNvPr>
          <p:cNvSpPr>
            <a:spLocks xmlns:a="http://schemas.openxmlformats.org/drawingml/2006/main" noGrp="1"/>
          </p:cNvSpPr>
          <p:nvPr/>
        </p:nvSpPr>
        <p:spPr>
          <a:xfrm xmlns:a="http://schemas.openxmlformats.org/drawingml/2006/main">
            <a:off x="7543800" y="5162550"/>
            <a:ext cx="2152650" cy="1333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713" b="1">
                <a:solidFill>
                  <a:srgbClr val="F59E0B"/>
                </a:solidFill>
                <a:latin typeface="Aptos"/>
                <a:ea typeface="Aptos"/>
                <a:cs typeface="Aptos"/>
              </a:defRPr>
            </a:pPr>
            <a:r>
              <a:rPr sz="713" b="1">
                <a:solidFill>
                  <a:srgbClr val="F59E0B"/>
                </a:solidFill>
                <a:latin typeface="Aptos"/>
                <a:ea typeface="Aptos"/>
                <a:cs typeface="Aptos"/>
              </a:rPr>
              <a:t>How will we know it worked?</a:t>
            </a:r>
          </a:p>
        </p:txBody>
      </p:sp>
      <p:sp>
        <p:nvSpPr>
          <p:cNvPr id="21" name="">
            <a:extLst xmlns:a="http://schemas.openxmlformats.org/drawingml/2006/main">
              <a:ext uri="{FF2B5EF4-FFF2-40B4-BE49-F238E27FC236}">
                <a16:creationId xmlns:a16="http://schemas.microsoft.com/office/drawing/2014/main" id="{243E3E9A-D75E-4977-A5BD-DB78FAC77AB0}"/>
              </a:ext>
            </a:extLst>
          </p:cNvPr>
          <p:cNvSpPr>
            <a:spLocks xmlns:a="http://schemas.openxmlformats.org/drawingml/2006/main" noGrp="1"/>
          </p:cNvSpPr>
          <p:nvPr/>
        </p:nvSpPr>
        <p:spPr>
          <a:xfrm xmlns:a="http://schemas.openxmlformats.org/drawingml/2006/main">
            <a:off x="2571750" y="5753100"/>
            <a:ext cx="7048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650" b="1">
                <a:solidFill>
                  <a:srgbClr val="172033"/>
                </a:solidFill>
                <a:latin typeface="Aptos"/>
                <a:ea typeface="Aptos"/>
                <a:cs typeface="Aptos"/>
              </a:defRPr>
            </a:pPr>
            <a:r>
              <a:rPr sz="1650" b="1">
                <a:solidFill>
                  <a:srgbClr val="172033"/>
                </a:solidFill>
                <a:latin typeface="Aptos"/>
                <a:ea typeface="Aptos"/>
                <a:cs typeface="Aptos"/>
              </a:rPr>
              <a:t>Your job is to keep the agent inside a useful problem shape.</a:t>
            </a:r>
          </a:p>
        </p:txBody>
      </p:sp>
    </p:spTree>
    <p:extLst>
      <p:ext uri="{BB962C8B-B14F-4D97-AF65-F5344CB8AC3E}">
        <p14:creationId xmlns:p14="http://schemas.microsoft.com/office/powerpoint/2010/main" val="193728782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2026-05-21T11:37:01.2280000Z</dcterms:created>
  <dcterms:modified xsi:type="dcterms:W3CDTF">2026-05-21T11:37:01.2280000Z</dcterms:modified>
</coreProperties>
</file>