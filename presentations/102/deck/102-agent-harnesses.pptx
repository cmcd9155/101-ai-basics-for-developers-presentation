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bbd61c75a4442" /><Relationship Type="http://schemas.openxmlformats.org/officeDocument/2006/relationships/extended-properties" Target="/docProps/app.xml" Id="R27dc56740b10444b" /><Relationship Type="http://schemas.openxmlformats.org/officeDocument/2006/relationships/officeDocument" Target="/ppt/presentation.xml" Id="Re7dccae68cbb42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2697af73149f2"/>
  </p:sldMasterIdLst>
  <p:notesMasterIdLst>
    <p:notesMasterId xmlns:r="http://schemas.openxmlformats.org/officeDocument/2006/relationships" r:id="Rbb83dfaec97b40f4"/>
  </p:notesMasterIdLst>
  <p:sldIdLst>
    <p:sldId xmlns:r="http://schemas.openxmlformats.org/officeDocument/2006/relationships" id="256" r:id="R2df93340bec14a1c"/>
    <p:sldId xmlns:r="http://schemas.openxmlformats.org/officeDocument/2006/relationships" id="257" r:id="Raaefcf21252f4787"/>
    <p:sldId xmlns:r="http://schemas.openxmlformats.org/officeDocument/2006/relationships" id="258" r:id="R4d21f001e70c4922"/>
    <p:sldId xmlns:r="http://schemas.openxmlformats.org/officeDocument/2006/relationships" id="259" r:id="R0508566a458d4e94"/>
    <p:sldId xmlns:r="http://schemas.openxmlformats.org/officeDocument/2006/relationships" id="260" r:id="Rca5f3e383f174e67"/>
    <p:sldId xmlns:r="http://schemas.openxmlformats.org/officeDocument/2006/relationships" id="261" r:id="R44630132503143f5"/>
    <p:sldId xmlns:r="http://schemas.openxmlformats.org/officeDocument/2006/relationships" id="262" r:id="R10dfbb18997e4b60"/>
    <p:sldId xmlns:r="http://schemas.openxmlformats.org/officeDocument/2006/relationships" id="263" r:id="R7521f5715f474167"/>
    <p:sldId xmlns:r="http://schemas.openxmlformats.org/officeDocument/2006/relationships" id="264" r:id="R27219817188d4589"/>
    <p:sldId xmlns:r="http://schemas.openxmlformats.org/officeDocument/2006/relationships" id="265" r:id="R701a0a9ee44f451e"/>
    <p:sldId xmlns:r="http://schemas.openxmlformats.org/officeDocument/2006/relationships" id="266" r:id="R1fd7a082d49a47b4"/>
    <p:sldId xmlns:r="http://schemas.openxmlformats.org/officeDocument/2006/relationships" id="267" r:id="R6d1de94901464749"/>
    <p:sldId xmlns:r="http://schemas.openxmlformats.org/officeDocument/2006/relationships" id="268" r:id="R0e62b67f279342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2697af73149f2" /><Relationship Type="http://schemas.openxmlformats.org/officeDocument/2006/relationships/theme" Target="/ppt/theme/theme1.xml" Id="Rd04117296efa4727" /><Relationship Type="http://schemas.openxmlformats.org/officeDocument/2006/relationships/notesMaster" Target="/ppt/notesMasters/notesMaster1.xml" Id="Rbb83dfaec97b40f4" /><Relationship Type="http://schemas.openxmlformats.org/officeDocument/2006/relationships/presProps" Target="/ppt/presProps.xml" Id="R141b2842ce7f4c05" /><Relationship Type="http://schemas.openxmlformats.org/officeDocument/2006/relationships/viewProps" Target="/ppt/viewProps.xml" Id="R54bed245954443ac" /><Relationship Type="http://schemas.openxmlformats.org/officeDocument/2006/relationships/tableStyles" Target="/ppt/tableStyles.xml" Id="R998c4f02ebb24978" /><Relationship Type="http://schemas.openxmlformats.org/officeDocument/2006/relationships/slide" Target="/ppt/slides/slide1.xml" Id="R2df93340bec14a1c" /><Relationship Type="http://schemas.openxmlformats.org/officeDocument/2006/relationships/slide" Target="/ppt/slides/slide2.xml" Id="Raaefcf21252f4787" /><Relationship Type="http://schemas.openxmlformats.org/officeDocument/2006/relationships/slide" Target="/ppt/slides/slide3.xml" Id="R4d21f001e70c4922" /><Relationship Type="http://schemas.openxmlformats.org/officeDocument/2006/relationships/slide" Target="/ppt/slides/slide4.xml" Id="R0508566a458d4e94" /><Relationship Type="http://schemas.openxmlformats.org/officeDocument/2006/relationships/slide" Target="/ppt/slides/slide5.xml" Id="Rca5f3e383f174e67" /><Relationship Type="http://schemas.openxmlformats.org/officeDocument/2006/relationships/slide" Target="/ppt/slides/slide6.xml" Id="R44630132503143f5" /><Relationship Type="http://schemas.openxmlformats.org/officeDocument/2006/relationships/slide" Target="/ppt/slides/slide7.xml" Id="R10dfbb18997e4b60" /><Relationship Type="http://schemas.openxmlformats.org/officeDocument/2006/relationships/slide" Target="/ppt/slides/slide8.xml" Id="R7521f5715f474167" /><Relationship Type="http://schemas.openxmlformats.org/officeDocument/2006/relationships/slide" Target="/ppt/slides/slide9.xml" Id="R27219817188d4589" /><Relationship Type="http://schemas.openxmlformats.org/officeDocument/2006/relationships/slide" Target="/ppt/slides/slide10.xml" Id="R701a0a9ee44f451e" /><Relationship Type="http://schemas.openxmlformats.org/officeDocument/2006/relationships/slide" Target="/ppt/slides/slide11.xml" Id="R1fd7a082d49a47b4" /><Relationship Type="http://schemas.openxmlformats.org/officeDocument/2006/relationships/slide" Target="/ppt/slides/slide12.xml" Id="R6d1de94901464749" /><Relationship Type="http://schemas.openxmlformats.org/officeDocument/2006/relationships/slide" Target="/ppt/slides/slide13.xml" Id="R0e62b67f2793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4958ddc6ef8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f08ef937fb4267" /><Relationship Type="http://schemas.openxmlformats.org/officeDocument/2006/relationships/notesMaster" Target="/ppt/notesMasters/notesMaster1.xml" Id="R0323ca4c8692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296d0669940d8" /><Relationship Type="http://schemas.openxmlformats.org/officeDocument/2006/relationships/notesMaster" Target="/ppt/notesMasters/notesMaster1.xml" Id="R61a8e3100361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9a4fb25df435f" /><Relationship Type="http://schemas.openxmlformats.org/officeDocument/2006/relationships/notesMaster" Target="/ppt/notesMasters/notesMaster1.xml" Id="Re60829274cb44c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906059029b4a64" /><Relationship Type="http://schemas.openxmlformats.org/officeDocument/2006/relationships/notesMaster" Target="/ppt/notesMasters/notesMaster1.xml" Id="R723a5948ee0b40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39389d21c4630" /><Relationship Type="http://schemas.openxmlformats.org/officeDocument/2006/relationships/notesMaster" Target="/ppt/notesMasters/notesMaster1.xml" Id="R65b5525dc98f48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ce7fe3e1ad4641" /><Relationship Type="http://schemas.openxmlformats.org/officeDocument/2006/relationships/notesMaster" Target="/ppt/notesMasters/notesMaster1.xml" Id="R15ee5c1a0e4e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3a40e1c8574e58" /><Relationship Type="http://schemas.openxmlformats.org/officeDocument/2006/relationships/notesMaster" Target="/ppt/notesMasters/notesMaster1.xml" Id="R3b5d10a2bb4042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a7225a99e6416a" /><Relationship Type="http://schemas.openxmlformats.org/officeDocument/2006/relationships/notesMaster" Target="/ppt/notesMasters/notesMaster1.xml" Id="Rc133544d0add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88a8d3f504006" /><Relationship Type="http://schemas.openxmlformats.org/officeDocument/2006/relationships/notesMaster" Target="/ppt/notesMasters/notesMaster1.xml" Id="R5a1eba893e1e4d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82429e0f3c45b6" /><Relationship Type="http://schemas.openxmlformats.org/officeDocument/2006/relationships/notesMaster" Target="/ppt/notesMasters/notesMaster1.xml" Id="Red710e683f7843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b14dfb2c64e3d" /><Relationship Type="http://schemas.openxmlformats.org/officeDocument/2006/relationships/notesMaster" Target="/ppt/notesMasters/notesMaster1.xml" Id="R52fb88d68c0c42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93236fb6304e3d" /><Relationship Type="http://schemas.openxmlformats.org/officeDocument/2006/relationships/notesMaster" Target="/ppt/notesMasters/notesMaster1.xml" Id="Rd1ec710a98b349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60e31a64a84c3e" /><Relationship Type="http://schemas.openxmlformats.org/officeDocument/2006/relationships/notesMaster" Target="/ppt/notesMasters/notesMaster1.xml" Id="R2687b4a99640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aa404db4840a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2443d8a5eb4af4" /><Relationship Type="http://schemas.openxmlformats.org/officeDocument/2006/relationships/slideLayout" Target="/ppt/slideLayouts/slideLayout2.xml" Id="Rc64afb9ed6b4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afb9ed6b4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4708614a94a41" /><Relationship Type="http://schemas.openxmlformats.org/officeDocument/2006/relationships/image" Target="/ppt/media/image.jpeg" Id="R6a04bd021bac4df6" /><Relationship Type="http://schemas.openxmlformats.org/officeDocument/2006/relationships/notesSlide" Target="/ppt/notesSlides/notesSlide1.xml" Id="R12e319e17a87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c901caf1e4a9f" /><Relationship Type="http://schemas.openxmlformats.org/officeDocument/2006/relationships/image" Target="/ppt/media/image2.jpeg" Id="R64c46c9be1954662" /><Relationship Type="http://schemas.openxmlformats.org/officeDocument/2006/relationships/notesSlide" Target="/ppt/notesSlides/notesSlide2.xml" Id="R4c6a8a17c506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b592a230024911" /><Relationship Type="http://schemas.openxmlformats.org/officeDocument/2006/relationships/image" Target="/ppt/media/image3.jpeg" Id="R31a1e48f9059485d" /><Relationship Type="http://schemas.openxmlformats.org/officeDocument/2006/relationships/notesSlide" Target="/ppt/notesSlides/notesSlide3.xml" Id="Rd48bc7672b59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04ef3d6a64d1d" /><Relationship Type="http://schemas.openxmlformats.org/officeDocument/2006/relationships/image" Target="/ppt/media/image4.jpeg" Id="R1e3b9ffd952f49db" /><Relationship Type="http://schemas.openxmlformats.org/officeDocument/2006/relationships/notesSlide" Target="/ppt/notesSlides/notesSlide4.xml" Id="Rfc42cc43c9e4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36f4d5b5d4ef6" /><Relationship Type="http://schemas.openxmlformats.org/officeDocument/2006/relationships/image" Target="/ppt/media/image5.jpeg" Id="Rd5bfd379c0ba44ec" /><Relationship Type="http://schemas.openxmlformats.org/officeDocument/2006/relationships/notesSlide" Target="/ppt/notesSlides/notesSlide5.xml" Id="Ra723be9065c248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290dd9f43b412a" /><Relationship Type="http://schemas.openxmlformats.org/officeDocument/2006/relationships/image" Target="/ppt/media/image6.jpeg" Id="R7aa6a3553f7e4844" /><Relationship Type="http://schemas.openxmlformats.org/officeDocument/2006/relationships/notesSlide" Target="/ppt/notesSlides/notesSlide6.xml" Id="R17f2b5db3d0b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7f393c23a44db" /><Relationship Type="http://schemas.openxmlformats.org/officeDocument/2006/relationships/image" Target="/ppt/media/image7.jpeg" Id="Rbf45841091324c30" /><Relationship Type="http://schemas.openxmlformats.org/officeDocument/2006/relationships/notesSlide" Target="/ppt/notesSlides/notesSlide7.xml" Id="R16c36f867ced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6ffaf3d5f418a" /><Relationship Type="http://schemas.openxmlformats.org/officeDocument/2006/relationships/image" Target="/ppt/media/image8.jpeg" Id="R65abe3070cf94655" /><Relationship Type="http://schemas.openxmlformats.org/officeDocument/2006/relationships/notesSlide" Target="/ppt/notesSlides/notesSlide8.xml" Id="R27739e551e7b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bcc433725c497a" /><Relationship Type="http://schemas.openxmlformats.org/officeDocument/2006/relationships/image" Target="/ppt/media/image9.jpeg" Id="Rce55846775464057" /><Relationship Type="http://schemas.openxmlformats.org/officeDocument/2006/relationships/notesSlide" Target="/ppt/notesSlides/notesSlide9.xml" Id="Rb6f67a3a7e3a44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d06f33e264cf6" /><Relationship Type="http://schemas.openxmlformats.org/officeDocument/2006/relationships/image" Target="/ppt/media/image10.jpeg" Id="R2f5730e568744089" /><Relationship Type="http://schemas.openxmlformats.org/officeDocument/2006/relationships/notesSlide" Target="/ppt/notesSlides/notesSlide10.xml" Id="R744e714cb46749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14e0749394d26" /><Relationship Type="http://schemas.openxmlformats.org/officeDocument/2006/relationships/image" Target="/ppt/media/image11.jpeg" Id="Rba6cb92767104e94" /><Relationship Type="http://schemas.openxmlformats.org/officeDocument/2006/relationships/notesSlide" Target="/ppt/notesSlides/notesSlide11.xml" Id="R67af4226ae7842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5a244ad8e4261" /><Relationship Type="http://schemas.openxmlformats.org/officeDocument/2006/relationships/image" Target="/ppt/media/image12.jpeg" Id="R926b541c7c5e412b" /><Relationship Type="http://schemas.openxmlformats.org/officeDocument/2006/relationships/notesSlide" Target="/ppt/notesSlides/notesSlide12.xml" Id="Rc9939babdbf544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f9950996f4118" /><Relationship Type="http://schemas.openxmlformats.org/officeDocument/2006/relationships/notesSlide" Target="/ppt/notesSlides/notesSlide13.xml" Id="R6246a0ed15e743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4bd021bac4df6"/>
          <a:srcRect xmlns:a="http://schemas.openxmlformats.org/drawingml/2006/main" l="1515" t="0" r="1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F54C6-3C97-491A-9405-EAB2289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399DB-5F46-4AC6-BFC0-3909100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78A96-EBF4-46BD-B65C-38EBDBA0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BE953-B345-44DA-9F01-12F7BAEE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5C81-F0DE-4436-9854-A197FDD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7DDF9-9D1B-4733-ADC3-525F0E7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AI BASICS 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7A2AC-A4D9-4D3E-BD43-BFB2BFA6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Agent Harnesses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70A46-F5C6-40B2-8A15-2991841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8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68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How teams keep Copilot useful, bounded, and reviewable.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FA876-9F51-4672-B590-4A9C4BAF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A484D-2400-4A93-89EC-006AE7A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3672-7BA1-44AD-AB1F-42E0F857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18D25-5E76-4914-B56A-F6AA8102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29CD5-C5B4-453A-9DA8-5C493070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94463-A7FE-4C75-BD49-9EA7BB1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958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5FD6-45E6-41B1-B457-88E2D48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E6703-91F2-453A-8A53-9F75487F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9582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6D311-549A-431F-B010-96790383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20 minutes | VS Code + GitHub Copilot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8CC66-8A82-4A7A-AFD7-1F161D9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78571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CD863-9F5F-4506-BE66-0889C6E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65D83-02ED-40D5-BE80-902C6017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7BE99-5CD4-43E9-B8A7-E708E3E5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PROMPTING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22BCB-A22D-4A59-87BB-654A9DC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good prompt helps once. A harness helps every session.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7515-C574-420E-BD07-8336874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7E3E9-4D83-4275-A298-79BA4925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46c9be1954662"/>
          <a:srcRect xmlns:a="http://schemas.openxmlformats.org/drawingml/2006/main" l="2184" t="0" r="21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38200"/>
            <a:ext cx="5143500" cy="293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4F900-F6F3-42AE-92D5-6385762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5143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F6FE6-B603-4D88-B67C-238690C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38200"/>
            <a:ext cx="5143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D0508-6E2B-48BC-B7D4-88D915D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BEF52-87F4-4666-A4E7-49C84E52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D8E6F3"/>
                </a:solidFill>
                <a:latin typeface="Aptos Mono"/>
                <a:ea typeface="Aptos Mono"/>
                <a:cs typeface="Aptos Mono"/>
              </a:defRPr>
            </a:pPr>
            <a:r>
              <a:rPr sz="1260" b="0">
                <a:solidFill>
                  <a:srgbClr val="D8E6F3"/>
                </a:solidFill>
                <a:latin typeface="Aptos Mono"/>
                <a:ea typeface="Aptos Mono"/>
                <a:cs typeface="Aptos Mono"/>
              </a:rPr>
              <a:t>The repo should carry the rules, checks, and habits the agent should not rediscover.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4710D-ED2B-439E-8167-2FE75BDC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324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6AE66-05B0-487B-A6B0-D9FF938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E7FB-52BC-4AA7-9DBB-BAF4105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One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F3D3D-C71A-4C52-B5DB-B4B8E17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4291"/>
            <a:ext cx="1905000" cy="355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Prompt, context, and steering.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55632-3033-40FE-8B38-8AE389FA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2324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37A93-CBBC-4061-BCD6-5772061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CE70D-C1E6-4FC1-9208-64A3E2A7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Every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DC6BC-5DE0-481C-A583-EF500B7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4291"/>
            <a:ext cx="1905000" cy="355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Instructions, skills, scripts, checks, and review habits.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8B142-BD64-48D2-AA3F-AC21F5C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38800"/>
            <a:ext cx="861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8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DC6C1-3306-49CB-BC13-E6EB695C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912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0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0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goal is not more trust. The goal is more inspectable work.</a:t>
            </a:r>
          </a:p>
        </p:txBody>
      </p:sp>
    </p:spTree>
    <p:extLst>
      <p:ext uri="{BB962C8B-B14F-4D97-AF65-F5344CB8AC3E}">
        <p14:creationId xmlns:p14="http://schemas.microsoft.com/office/powerpoint/2010/main" val="20078009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72E64-F84D-4D13-96A3-7901E7A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F3A43-0D21-49B2-A180-597F432E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B1EAE-7B03-4633-A90C-4A5A299B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THE HARNESS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A4125-3424-40C0-B640-E38B112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61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four pieces: rules, moves, tools,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AEED5-9EFE-42DA-A64F-7AF63B4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FC9B9-E855-40DD-846A-53BE6E4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1e48f9059485d"/>
          <a:srcRect xmlns:a="http://schemas.openxmlformats.org/drawingml/2006/main" l="4380" t="0" r="43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819150"/>
            <a:ext cx="525780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08B64-9CFF-4A1D-AC66-8754E9D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1915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AE281-8239-44E6-800C-E7E3F2D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1915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34BB1-5C88-4453-AE1F-38319FC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E06CD-093C-4917-BC79-F3BA701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A059A-B26E-4C8C-B426-0DB2F95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7526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BD620-A848-453F-A798-487569ED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8891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Standing instructions and boundaries.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F371B-FF6C-45A3-A6CF-992F3A6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C8A86-3AB3-4997-9535-F602756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FF1B8-72D6-4257-88DF-1CB2A42B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17526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E636D-A20D-4DF6-8CF7-5FF921B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8891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Skills, playbooks, and team procedures.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FEBCB-F324-4559-B285-E9F2CB57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7C870-FD6B-4C5C-B2D0-BF4230C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32DEF-60AD-465B-9A95-C70674CE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7526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5DDCD-DF7B-423C-A456-62311CFE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6191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Scripts, commands, and controlled capabilities.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D6B7C-333E-4808-A55C-496E443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171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18A32-8D80-424C-8D91-F9B69E3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A063C-1DEF-4761-8173-BF388E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05200"/>
            <a:ext cx="17526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2D009-4BD3-4B5F-A745-EDCAAF8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6191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Tests, lint reports, diagnostics, and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8308A-8719-4349-A96C-98A4632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5DE6C-918E-47E3-BE87-1FDB8BE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A56C4-B2A2-4471-9315-B15C67A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A harness is the system around Copilot, not one magic prompt.</a:t>
            </a:r>
          </a:p>
        </p:txBody>
      </p:sp>
    </p:spTree>
    <p:extLst>
      <p:ext uri="{BB962C8B-B14F-4D97-AF65-F5344CB8AC3E}">
        <p14:creationId xmlns:p14="http://schemas.microsoft.com/office/powerpoint/2010/main" val="1157937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AC90A-398A-4477-94A8-329BF24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9008-8D6B-4E80-9357-7E06B520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9164F-38BD-45DA-B8F3-F7ED13C5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RULES: COPILOT INSTRUCTIONS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537C5-F0CD-45E6-A053-FE8A99E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Repo instructions are standing orders.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2725F-D5C4-4D75-B552-CBBD7D7E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VS Code Docs: Copilot custom instructions | GitHub Docs: customizing Copilot responses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AAB20-66C8-4880-B635-1BAF553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b9ffd952f49db"/>
          <a:srcRect xmlns:a="http://schemas.openxmlformats.org/drawingml/2006/main" l="0" t="410" r="0" b="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800100"/>
            <a:ext cx="58102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CE58D-D687-4210-B919-5C7C6542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00100"/>
            <a:ext cx="581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1A712-BB0F-4F28-ADED-8581F25E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00100"/>
            <a:ext cx="581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F3EB8-9E71-4C1C-8F49-D01BF863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6903C-C7C9-4925-901D-BDE9B54E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D8E6F3"/>
                </a:solidFill>
                <a:latin typeface="Aptos Mono"/>
                <a:ea typeface="Aptos Mono"/>
                <a:cs typeface="Aptos Mono"/>
              </a:defRPr>
            </a:pPr>
            <a:r>
              <a:rPr sz="1260" b="0">
                <a:solidFill>
                  <a:srgbClr val="D8E6F3"/>
                </a:solidFill>
                <a:latin typeface="Aptos Mono"/>
                <a:ea typeface="Aptos Mono"/>
                <a:cs typeface="Aptos Mono"/>
              </a:rPr>
              <a:t>.github/copilot-instructions.md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CDC0B-B023-4500-B4D8-C0BD1390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38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A067-203F-4712-9BD8-D7E1120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E5481-2DC6-4B59-ABAE-B777A82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43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Write the rules the agent should not guess every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CA335-82B9-4D34-84BA-9B116BD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754B9-A3C8-44B6-845C-3E57A67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8A660-14FB-4A6F-B185-1B70449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D673C-DFD9-4F60-B57D-5578D21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389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Install, build, lint, test, and local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DC393-FFA0-4703-9FD9-9B3F3238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B1B67-75C0-4FFE-A6EB-E458510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C798E-DB99-44CC-B268-6A7C1FB1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Conventions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33A28-15A8-4111-8200-3DC712F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6389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Patterns, helpers, naming, errors, and logging.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791A0-ACD2-4475-AEA8-280D8BD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28B89-58E1-49DD-BA8B-7DE7307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88396-2A7D-41C8-A601-9D676AB8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Boundaries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4C5B9-84D7-461A-B923-519B5B8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259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Risky paths, APIs, secrets, migrations, and deploys.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0A95E-107A-441C-8CE5-467016DF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1B024-CD96-4C2F-A3B7-E980406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2CC6B5-119C-4E03-A5C4-472A9787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8160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91D18-0CEC-42C0-9E36-DA079AA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9259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Required checks before Copilot says complete.</a:t>
            </a:r>
          </a:p>
        </p:txBody>
      </p:sp>
    </p:spTree>
    <p:extLst>
      <p:ext uri="{BB962C8B-B14F-4D97-AF65-F5344CB8AC3E}">
        <p14:creationId xmlns:p14="http://schemas.microsoft.com/office/powerpoint/2010/main" val="960013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86668-4FF9-44F7-B330-9C54A73D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3901E-D7BD-4F2D-8A3A-590C7757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E5486-3C76-438F-B731-22DCA82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RULES: BOUNDARIES AND BLAST RADIUS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7BC6A-CB4F-4893-8C05-6BCF6563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Different actions deserve different permission.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97D4E-7F5B-4F09-A77A-1C3FB8D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36302-5F89-4120-B07C-8BCB47B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fd379c0ba44ec"/>
          <a:srcRect xmlns:a="http://schemas.openxmlformats.org/drawingml/2006/main" l="568" t="0" r="5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A4456-4E8E-4AEA-8520-2290DAB8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173CC-03BE-4B21-8BCF-863F7E9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D6470-2B0D-403C-9CA6-F7670DEE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028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37C02-E320-4EA4-94DF-4FD1E24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43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8A661-47F5-417D-B4A4-493B5C75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Files, docs, logs, issues.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216C6-E757-4F54-8D1E-54517E8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33600"/>
            <a:ext cx="1028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0F3A0-E1E9-41A1-8606-25B29E8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43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4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744F6-C5BF-437F-840A-C8EC3B1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098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Local code, tests, docs.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364A6-79F2-4123-B638-27047B8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1028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DBDBD-88EE-41DE-B4BE-9AB135A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43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DF68E-43BD-43D2-9920-5544898E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Allowlisted commands.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47B7C-B43A-4AD3-889C-F01A982F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1028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F115E-926B-44F1-8679-417FAA2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43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B9B2C-7C19-4925-92A9-AE06316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Deploys, data, merges.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49BAA-C3FC-417A-88EE-22C5E78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6D7EB-9E56-4AF1-A872-74709C2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74629-3B32-4C47-BDA9-01C4845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7241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Allowed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93AD1-46CE-47AC-90AA-16F1D03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6291"/>
            <a:ext cx="2724150" cy="279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Read code, inspect tests, update focused local files.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C6C59-549D-48EB-B160-8642F7BF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F6FFB-F42A-4B2C-955E-2B63C6D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E272D-FA1E-4ABD-9EE0-B3EF6D8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27241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Ask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413BBB-E940-4D7E-A72C-4AAEF854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6291"/>
            <a:ext cx="2724150" cy="279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Install packages, delete files, migrations, or public API changes.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EEFE3-D505-4E74-B2FA-C3B81AC6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E35D7-DDD8-43F4-BC34-15DD2B5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84AC86-8272-4714-8D05-FDE6D2C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241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Never alone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870208-533F-48FC-9B81-3293778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6291"/>
            <a:ext cx="2724150" cy="2795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Secrets, production data, releases, or protected branches.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E4E0B6-1DB8-41F6-A935-74D1AA9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8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10CE5-698C-41DE-B454-A848EEE3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959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Boundaries make Copilot safer and make the search space smaller.</a:t>
            </a:r>
          </a:p>
        </p:txBody>
      </p:sp>
    </p:spTree>
    <p:extLst>
      <p:ext uri="{BB962C8B-B14F-4D97-AF65-F5344CB8AC3E}">
        <p14:creationId xmlns:p14="http://schemas.microsoft.com/office/powerpoint/2010/main" val="14978202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80C64-8FE1-42CE-8187-D15C18E1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CB8BD-D817-49A2-B05C-5B41810C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23AF9-4E1E-428C-8E1A-ADA2211C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MOVES: SKILLS AND PLAYBOOKS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B167D-D0FA-472B-B703-9907279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Skills teach repeatable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94CA-EE34-4CDF-AA49-CEBF5707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GitHub Docs: Copilot customization cheat sheet | Matt Pocock skills repo: diagnose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24974-E43A-4662-B42A-2F5685D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6a3553f7e4844"/>
          <a:srcRect xmlns:a="http://schemas.openxmlformats.org/drawingml/2006/main" l="413" t="0" r="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819150"/>
            <a:ext cx="571500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04DB8-429B-4718-9B31-6FA45DE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819150"/>
            <a:ext cx="5715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ECF03-DDB5-4B9D-ADB5-A5351C9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819150"/>
            <a:ext cx="5715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507BF-5EA7-45A8-B0ED-F4D13C5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38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02EBE-026B-48EC-A315-491DA96C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EC4E7-2BA3-4599-BE47-8900A27D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Instructions define the rules. Skills define the moves.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2BE0C-07E4-404E-8839-B12F63F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38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C888C-B79A-4F59-97DE-84B2FE33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560A6-AE2E-4DA8-82B4-4D89E76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9624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Before 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1CBCA-A1AA-4339-BBE0-6EB2201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9491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Stress-test the plan, scope, and missing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91107-2309-4153-9579-896BF7E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38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DFD8D-E0CA-4D94-8AD8-888E5189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B2A80-D9F7-48DB-9CF2-AF9136D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9624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After 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082445-276A-4B45-8EA3-5004A17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6741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Diagnose the generated feature and hunt for bugs.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ECC10-D62A-4EDD-A047-B7321175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38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0A2E5-439A-4E7B-8D75-98C6DCD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8B70A-16E3-4C8C-A2A7-67BDBD04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9624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During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F8CDA-3B85-4C97-A7FF-575ADC00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3991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Check auth, UI, migrations, or release notes with the team recipe.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D46E7-60FE-4656-BDD9-3DF0C19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8278F-5044-412F-B484-1DFDC256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291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grill-me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E99FE-E19C-4E07-8AD1-38547C54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9EC91-9075-4993-AD66-D0633AD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291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224E9-C049-4193-9F2C-9AC63951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38B83-2C12-462F-82FE-ED689AC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291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review-auth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AF3E4-E333-42F0-B7F0-EA958DC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625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89C9A-CDCB-4A76-BB72-3D8DE88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29175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ui-smoke</a:t>
            </a:r>
          </a:p>
        </p:txBody>
      </p:sp>
    </p:spTree>
    <p:extLst>
      <p:ext uri="{BB962C8B-B14F-4D97-AF65-F5344CB8AC3E}">
        <p14:creationId xmlns:p14="http://schemas.microsoft.com/office/powerpoint/2010/main" val="10291890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76B2D-0363-47D8-9050-AF3AE421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695FB-8CF6-42E2-BFBE-4BC6FADC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9189B-A34F-46BE-A853-796A57B0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MOVES: TEAM HABITS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C4A84-604D-46F9-B4CE-C988FC55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harness captures how your team 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9C6C-FFED-4C2F-816F-2FB7B57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5DC62-826F-48D6-A14D-0F4B430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5841091324c30"/>
          <a:srcRect xmlns:a="http://schemas.openxmlformats.org/drawingml/2006/main" l="0" t="1738" r="0" b="1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81050"/>
            <a:ext cx="5753100" cy="3028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E6028-2E0C-43BA-83FF-93CF149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81050"/>
            <a:ext cx="5753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70B9C-85B0-4CAC-802E-386DD9B4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81050"/>
            <a:ext cx="5753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DCC84-D713-44D4-9A6C-C04FC92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1CB53-FB8C-4842-879D-559EA0D4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9FF4B-E80E-47FB-B7F6-CD7EA244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9240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Bug 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6845A-9F7F-4BA1-999E-D62C1B3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3641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Start with evidence, owner, repro, and one likely surface.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CB31A-4A62-4476-874B-D0CC3C5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3F959-D5A0-4C20-B121-1CAA107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37E21-0705-4C7D-9417-707B8148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19240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Migration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6D775-FC1D-4651-8E78-A419041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3641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Dry-run first. Human approval before data-changing commands.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04005-1189-45C2-B7F8-2681D72A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22DD4-AC88-4EF3-8BE7-FC35154B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3E9FB-35EF-41A2-B5F8-E8D135A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9240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UI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8B83E-6897-41ED-8F08-B93CA56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4741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Run the app, inspect the screen, capture the visual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64F1F-0919-4F29-9350-3988AD97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56476-AAAB-42A7-85F8-A165325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42B0E-81DE-44F8-9CF6-A73FD28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19240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C7B8C-CDCC-4CE8-AFF8-645A71B9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44741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Summarize evidence, behavior changes, checks, and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168F6-A7B4-4A57-AF1A-E70CDFA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5310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8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80E17-026B-4687-BD54-A37ED95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76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If the team repeats a move, make it part of the harness.</a:t>
            </a:r>
          </a:p>
        </p:txBody>
      </p:sp>
    </p:spTree>
    <p:extLst>
      <p:ext uri="{BB962C8B-B14F-4D97-AF65-F5344CB8AC3E}">
        <p14:creationId xmlns:p14="http://schemas.microsoft.com/office/powerpoint/2010/main" val="14917599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B166F-4754-4BFB-8DB1-88278658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B447B-BFC5-4D03-8F92-85A65C8F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8C82B-330A-42EE-BAFC-8B97521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TOOLS: SCRIPTS AGENTS CAN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C154-808E-43A1-AB6E-CB67CBA9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Give Copilot safe paths through verification.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C908F-2C8E-4368-9E5B-520910CD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57386-8C35-4C3F-8706-1D6FD25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be3070cf94655"/>
          <a:srcRect xmlns:a="http://schemas.openxmlformats.org/drawingml/2006/main" l="0" t="1435" r="0" b="1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800100"/>
            <a:ext cx="57531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87948-DB62-4AB1-A805-7EFE064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00100"/>
            <a:ext cx="5753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F1F08-1CBA-456F-A782-A373B8F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00100"/>
            <a:ext cx="5753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98F3E-4C81-4EC1-8C1F-28AA67F4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457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DC21A-B6B5-4A13-873A-2370F08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D608B-042C-4171-ADF1-67AA552E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43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A named script is better than asking the agent to invent the right command.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B75E-1A4D-4D5E-8EE5-D65EEB9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95040-B4F9-4D93-9D90-96063B8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E9F9A"/>
                </a:solidFill>
                <a:latin typeface="Aptos Mono"/>
                <a:ea typeface="Aptos Mono"/>
                <a:cs typeface="Aptos Mono"/>
              </a:defRPr>
            </a:pPr>
            <a:r>
              <a:rPr sz="968" b="1">
                <a:solidFill>
                  <a:srgbClr val="0E9F9A"/>
                </a:solidFill>
                <a:latin typeface="Aptos Mono"/>
                <a:ea typeface="Aptos Mono"/>
                <a:cs typeface="Aptos Mono"/>
              </a:rPr>
              <a:t>npm run test:changed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B475-AE7E-4EAC-B376-1E03D0B3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Run only tests related to changed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B3212-5098-4E81-B8B8-710C668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8D2E9-4A18-4FAC-A687-25C530D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68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npm run agent:verify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E83B8-148D-4AF2-96A6-9FFA20A2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290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Bundle typecheck, lint report, tests, and smoke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EF06C-334F-4C9F-ABD3-74E984C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A6A36-CD53-4613-8384-3D751094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968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npm run smoke:local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2C7FA-C2E5-4B79-87DB-7991926B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Open the app path and confirm the main behavior still works.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E3691-062E-46AB-95FB-51F20E1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4457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8F091-17C9-49A1-8260-5557A22D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16A34A"/>
                </a:solidFill>
                <a:latin typeface="Aptos Mono"/>
                <a:ea typeface="Aptos Mono"/>
                <a:cs typeface="Aptos Mono"/>
              </a:defRPr>
            </a:pPr>
            <a:r>
              <a:rPr sz="968" b="1">
                <a:solidFill>
                  <a:srgbClr val="16A34A"/>
                </a:solidFill>
                <a:latin typeface="Aptos Mono"/>
                <a:ea typeface="Aptos Mono"/>
                <a:cs typeface="Aptos Mono"/>
              </a:rPr>
              <a:t>npm run check:pr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1BF2D-E1DA-4D12-BFA8-1C39436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Collect review evidence before merging.</a:t>
            </a:r>
          </a:p>
        </p:txBody>
      </p:sp>
    </p:spTree>
    <p:extLst>
      <p:ext uri="{BB962C8B-B14F-4D97-AF65-F5344CB8AC3E}">
        <p14:creationId xmlns:p14="http://schemas.microsoft.com/office/powerpoint/2010/main" val="16543472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B1EC9-2650-49B6-B825-EBAC86E8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FF7ED-7981-4F79-9EFC-D39121C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7B3BD-A578-4E77-BF3F-FDFE0BD9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SOFT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EC2F-7520-4182-BB66-26E76E6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Warnings can be a useful middle ground.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0CC1F-5805-42C3-9B8F-48B0C53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ADEEB-D15D-4180-B81B-21AB516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5846775464057"/>
          <a:srcRect xmlns:a="http://schemas.openxmlformats.org/drawingml/2006/main" l="0" t="282" r="0" b="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800100"/>
            <a:ext cx="561975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95FBB-CCF7-4E67-8FC9-8C8617B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0100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B032D-62E6-49D1-B1D2-C1ED6D7C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0100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FBA20-B2B9-4F53-AC67-FE80436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5070B-3BEE-499F-B427-3374484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B7A63-BA86-4A6C-8477-76B5E19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43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343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Not every repo has hard lint gates. Agents still need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E90EA-C1E8-4FA5-9271-E8D75F86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69A1A-613E-42D1-835B-52DEE1B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44062-0853-4568-A490-DAA4326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6383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D42B3-087D-4A3E-AF90-D1D93481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8541"/>
            <a:ext cx="1638300" cy="355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Blocks merge when the repo already enforces the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13A1C-A98A-4519-A1E3-E580412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F91F4-6D65-45FB-B106-F2054FF8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6187C-7C02-4AE2-B76D-012897C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16383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Soft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9A8D3-BBFB-4C0C-9DBD-5657F209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68541"/>
            <a:ext cx="1638300" cy="355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Returns warnings so Copilot can fix obvious issues without stopping.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32F90-45B1-4A29-96E2-077E629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8C943-FC09-44F9-BDBC-2E5D0B9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482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unused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4CD4D-4DD4-4B6A-80AA-ACBE2DB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8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336D8-FB86-4163-95ED-E4B05ACE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482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unsafe any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D75E7-2169-4713-88CE-B28596E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8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4C1F0-FF29-4516-9C8E-31DF5FE4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482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accessibility hints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511CB-514B-4547-B1E1-1DFD4395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8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75E74-284F-4474-9E2F-253AFC37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slow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6B335-90E0-4919-9AA3-F764C26F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4B967-0A65-4F9F-9E7D-753BE94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48225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wide diff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661E8-978F-42E5-AC50-D693FDF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8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98B56-FBF9-4509-A172-B8D6B6F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95975"/>
            <a:ext cx="769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3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3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soft check is not permission to ignore quality. It is a way to surface quality earlier.</a:t>
            </a:r>
          </a:p>
        </p:txBody>
      </p:sp>
    </p:spTree>
    <p:extLst>
      <p:ext uri="{BB962C8B-B14F-4D97-AF65-F5344CB8AC3E}">
        <p14:creationId xmlns:p14="http://schemas.microsoft.com/office/powerpoint/2010/main" val="11518602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40108-B680-4119-84BC-400AC8C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85515-B4FF-4C92-B41F-4D7A7894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7CC03-25BD-4EF5-BAD1-BBFFA35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CHECKS: AFTER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218FA-783C-41AA-890A-D44E6075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Inspect before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7CDA5-B319-4DD1-9652-D58C620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10B2-557A-46E9-8FB4-54B19CA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730e568744089"/>
          <a:srcRect xmlns:a="http://schemas.openxmlformats.org/drawingml/2006/main" l="568" t="0" r="5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70350-D7F0-4959-8D37-2F26BD44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0FBA9-9432-4E56-A61B-793864C7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552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BE91F-89FD-4BF5-AEAA-95F30410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6C3E1-F55A-41AF-903F-6C3C38E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E4E00-EB41-4BB4-B5D9-F0FAA7E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DF925-DBB3-4F21-837B-2E23946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824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Copilot edits code inside the task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E599C-A26B-4E9A-ABF6-0861597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81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1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51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1A7B5-BC80-412F-88F2-9217FC5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20C35-5BF2-4894-A030-E7B97C3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1ED7B-E3D2-4BD2-ADE3-ABE4EA2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CBDB9-6EF4-4AD2-AC47-8466DE5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7824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Changed tests, soft lint, typecheck, and smoke commands.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65FD6-0E12-483B-8D54-A63DADF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81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1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51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87DE6-E62A-4169-A1FA-B2DBE36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A29EE-B4E6-4AFE-8E0E-3298E73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BF7DA-CB4B-4277-BE98-D23506E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90E1F-1AF3-43D4-953D-4BA7598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824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Use a review or debug skill to look for likely bugs.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DE524-23D9-4F88-9FCA-447A9B4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81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1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51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C5881-06AF-4401-A82B-FE41898B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53A75-FCA9-4532-937F-33D4371F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8952F-8A8A-4EC6-953F-5D118C0C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9050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E074E-707E-4341-B7D6-D747862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8241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Evidence, changes, checks, gaps, and risk.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7A21F-59AC-4D53-A041-D9789393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57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A9639-8425-4848-9C13-0B17A81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5BF7D-8802-4296-B3A6-D3B5667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Human review starts from evidence, not from a confident summary.</a:t>
            </a:r>
          </a:p>
        </p:txBody>
      </p:sp>
    </p:spTree>
    <p:extLst>
      <p:ext uri="{BB962C8B-B14F-4D97-AF65-F5344CB8AC3E}">
        <p14:creationId xmlns:p14="http://schemas.microsoft.com/office/powerpoint/2010/main" val="11161538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EE498-7FC5-4D6E-BA2F-BCD39ED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B9588-79D6-4FB6-A046-EC16741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E203A-2304-4B45-899F-D163201B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THE HARNESS 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9ACE-71B7-4785-9799-70B9F7C6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When Copilot fails, improve the harness.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3042A-4802-47B6-A700-98860DD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C232-BC2A-46DB-9AF6-12037E4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cb92767104e94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781050"/>
            <a:ext cx="57150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96B89-8BA3-40EA-9534-48A61080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81050"/>
            <a:ext cx="5715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685F1-5DBC-4159-9700-D7EC7286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81050"/>
            <a:ext cx="5715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16BAC-FB88-4A4C-BE13-9E36C49D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7AE69-3CB5-4AA0-8A59-B9F567B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4D247-AC59-4060-81BA-2953B9F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241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177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CD947-103D-445A-A302-AC823E2D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526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BFEE9-A835-416F-866A-C5C6EF38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526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A9A54-7A6F-4ACB-932D-DA3CFE8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241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177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46FA5-FD22-4BA3-8DA8-A6D8874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D3808-2D23-4CAC-BC1E-D9AA9405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Harness 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69067-5FF4-46A2-9AC3-8BFA299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7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177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4DE28-95ED-4B7D-8803-E4189C7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6BCFC-3839-4505-BBE7-C1E6CB8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Next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673A9-EF5B-43CF-AD2F-A1425CBF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B1EA5-AE2C-41CD-9088-55296D6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55EE3-1DB7-4B5B-8776-0368066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771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Missing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E5750-C68A-43DF-B1A4-355C2AD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8541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Add an instruction or path rule.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EBF91-562D-4871-95DE-1ABB89BD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63B20-466B-4580-B76B-B5CFAF1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05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E0665-0F12-4D96-B1DB-59EAE481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771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Wrong command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52031-98D6-4210-990B-09069B1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68541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Add or document a script.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07359-3154-4445-B1B5-A8B63913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9AB31-1224-4DA0-BF70-506D8FB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C70BA-9D3F-4802-B519-1B732C6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771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Weak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71244-632F-411B-8083-41041FB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2941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Add a focused test or smoke check.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050FD-E02C-4BF2-A96B-93C22715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D149FD-0DDD-4CF4-953A-121BB85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AEC59-F950-4F4E-9704-B19F05C1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1771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Bad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446E7-9CB4-44E8-AFB6-E59B6CC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82941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Add a checklist or diagnostic skill.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77FD35-0652-4267-BB5C-5B60BC8F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8"/>
          </a:solidFill>
          <a:ln xmlns:a="http://schemas.openxmlformats.org/drawingml/2006/main" w="9525">
            <a:solidFill>
              <a:srgbClr val="0E9F9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721B6B-C2C7-42DE-9772-FB9D41C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959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 not only fix the prompt. Fix the system that shaped the prompt.</a:t>
            </a:r>
          </a:p>
        </p:txBody>
      </p:sp>
    </p:spTree>
    <p:extLst>
      <p:ext uri="{BB962C8B-B14F-4D97-AF65-F5344CB8AC3E}">
        <p14:creationId xmlns:p14="http://schemas.microsoft.com/office/powerpoint/2010/main" val="7659956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81682-6BC4-4EBF-99FA-05A42E9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4125E-23F8-481E-BFE6-C12E3A2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79F6E-9E6F-454B-863A-F161EF3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09489-00DD-44BE-90E5-A2BE49AC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Make AI work inspectable.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14061-F018-420D-8474-1C9D389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D69D2-F8B5-48F4-8AAF-CF1F4D1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b541c7c5e412b"/>
          <a:srcRect xmlns:a="http://schemas.openxmlformats.org/drawingml/2006/main" l="0" t="914" r="0" b="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819150"/>
            <a:ext cx="5905500" cy="3162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54B63-E563-4520-A330-BD27C5E2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19150"/>
            <a:ext cx="5905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>
              <a:alpha val="2902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D14D8-82DD-4E43-B2CD-3F638BA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19150"/>
            <a:ext cx="5905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C12E9-0B8C-44D9-B552-1F27D56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CD8CD-D4F0-4DF5-B2B6-024ADFDC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A7446-1B4A-4832-9952-50F69EC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3676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Bounded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60FF2-7665-4BE3-8043-D96B8AD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9841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Instructions and permissions define the work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41E25-94FC-49E1-B336-C46DAC53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51CB2-CD6D-4E08-B919-5D27A4F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8BBA5-EC22-461A-9FFC-78F06A9F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676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DBB16-ECB7-4E8C-9964-4D3B9CB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9491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Skills and scripts expose the path the agent followed.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091F5-78F1-4745-9AFD-42A689C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419F1-90D2-4A4C-950B-677CFBE0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7C6DF-4D58-412E-9B35-B3DD0FBA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67665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Checkable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933FD-F786-43C1-BA1C-142358F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9141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Tests, soft reports, diagnostics, and review prove the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BD43A-D8BB-46BD-B56C-20F11D6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861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354FD-AF37-4B78-94BB-B04DA346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FBE31-7E1B-4720-8089-68404869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53100"/>
            <a:ext cx="777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The goal is not to trust Copilot more. The goal is to make the work easier to inspect.</a:t>
            </a:r>
          </a:p>
        </p:txBody>
      </p:sp>
    </p:spTree>
    <p:extLst>
      <p:ext uri="{BB962C8B-B14F-4D97-AF65-F5344CB8AC3E}">
        <p14:creationId xmlns:p14="http://schemas.microsoft.com/office/powerpoint/2010/main" val="8441742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00199-47FB-4E5C-9DC6-5F6C71A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EEEAE-E55D-44B2-9698-1E3D96B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E9431-F000-4684-B32E-F83137E9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PRESENTER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1A75-94F0-4539-B154-DDA860B4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8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Fidelity Tasks VS Code demo cue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3E109-3FF3-41F2-9245-6004853C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102 Agent Harnesses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2AB37-7A28-48A3-8911-20FB5CF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91FE9-82BE-4007-86B8-5777EC9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782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0B502-114A-4498-9DF2-73E54C4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BAD5E-4BB9-44F8-A21E-0A2FC66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15" b="1">
                <a:solidFill>
                  <a:srgbClr val="E5EEF7"/>
                </a:solidFill>
                <a:latin typeface="Aptos"/>
                <a:ea typeface="Aptos"/>
                <a:cs typeface="Aptos"/>
              </a:defRPr>
            </a:pPr>
            <a:r>
              <a:rPr sz="1515" b="1">
                <a:solidFill>
                  <a:srgbClr val="E5EEF7"/>
                </a:solidFill>
                <a:latin typeface="Aptos"/>
                <a:ea typeface="Aptos"/>
                <a:cs typeface="Aptos"/>
              </a:rPr>
              <a:t>Open the Fidelity Tasks repo and show the harness parts in this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3216F-1F13-4D2C-83A1-9D937B0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5E4BE-290A-4320-830F-2B3B4BDC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0BC76-B672-430B-A32B-73F5A610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42291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9F9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9F9A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F342D-BC2B-45B2-AD3D-789A1891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2791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Copilot instructions and path-specific boundaries.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0868B-F738-4028-A491-385128A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95186-2CA2-41C0-A4DA-8D8B8715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A08E-4558-471F-B945-66F0AE9A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42291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1E1EB-ADBC-4256-960B-FC7CFAF4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82791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Skills/playbooks such as planning, grilling, diagnosis, and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A839B-AD54-4552-9126-540B82B9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AB2F1-A361-4EEB-8D20-8037D868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5F3C6-C5E1-480C-B87F-5900B21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2291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69926-5350-45B5-99A5-9605427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63891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Changed-test script, heavy soft-lint/report script, and smoke command.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00874-1DF2-4686-A211-B0C2268E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648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12B99-BA8A-4BC0-838A-C872E1E1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E13F5-FEC5-48CA-810A-3C5004C1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229100" cy="23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72156-45E5-44C6-92EF-CB1EE40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3891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Post-generation diagnostic pass and human review checklist.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53751-FABF-482F-9496-8E6C8FB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Presenter-only slide. Not included in Ara narration.</a:t>
            </a:r>
          </a:p>
        </p:txBody>
      </p:sp>
    </p:spTree>
    <p:extLst>
      <p:ext uri="{BB962C8B-B14F-4D97-AF65-F5344CB8AC3E}">
        <p14:creationId xmlns:p14="http://schemas.microsoft.com/office/powerpoint/2010/main" val="2068687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2026-05-27T15:17:21.2230000Z</dcterms:created>
  <dcterms:modified xsi:type="dcterms:W3CDTF">2026-05-27T15:17:21.2230000Z</dcterms:modified>
</coreProperties>
</file>