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baf1f2c82d4029" /><Relationship Type="http://schemas.openxmlformats.org/officeDocument/2006/relationships/extended-properties" Target="/docProps/app.xml" Id="R8ea4340733bb4e75" /><Relationship Type="http://schemas.openxmlformats.org/officeDocument/2006/relationships/officeDocument" Target="/ppt/presentation.xml" Id="R4009f55fd63f4e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938d8d7573472f"/>
  </p:sldMasterIdLst>
  <p:notesMasterIdLst>
    <p:notesMasterId xmlns:r="http://schemas.openxmlformats.org/officeDocument/2006/relationships" r:id="R0247ce2c295b4952"/>
  </p:notesMasterIdLst>
  <p:sldIdLst>
    <p:sldId xmlns:r="http://schemas.openxmlformats.org/officeDocument/2006/relationships" id="256" r:id="R5c6553037f314af1"/>
    <p:sldId xmlns:r="http://schemas.openxmlformats.org/officeDocument/2006/relationships" id="257" r:id="R06dd9527a9ce465e"/>
    <p:sldId xmlns:r="http://schemas.openxmlformats.org/officeDocument/2006/relationships" id="258" r:id="Rce82e93c4c504275"/>
    <p:sldId xmlns:r="http://schemas.openxmlformats.org/officeDocument/2006/relationships" id="259" r:id="R445e2f57e8e0466c"/>
    <p:sldId xmlns:r="http://schemas.openxmlformats.org/officeDocument/2006/relationships" id="260" r:id="Rd7176c4ce8d443be"/>
    <p:sldId xmlns:r="http://schemas.openxmlformats.org/officeDocument/2006/relationships" id="261" r:id="Rc6d5c916986444d5"/>
    <p:sldId xmlns:r="http://schemas.openxmlformats.org/officeDocument/2006/relationships" id="262" r:id="R8cbd4ed3a822407d"/>
    <p:sldId xmlns:r="http://schemas.openxmlformats.org/officeDocument/2006/relationships" id="263" r:id="Rb9f7265680b142fe"/>
    <p:sldId xmlns:r="http://schemas.openxmlformats.org/officeDocument/2006/relationships" id="264" r:id="R0350a8d0952549f0"/>
    <p:sldId xmlns:r="http://schemas.openxmlformats.org/officeDocument/2006/relationships" id="265" r:id="R41a22e7510174b0c"/>
    <p:sldId xmlns:r="http://schemas.openxmlformats.org/officeDocument/2006/relationships" id="266" r:id="Rd7b502121ab945f5"/>
    <p:sldId xmlns:r="http://schemas.openxmlformats.org/officeDocument/2006/relationships" id="267" r:id="Rba3c5a4552544e15"/>
    <p:sldId xmlns:r="http://schemas.openxmlformats.org/officeDocument/2006/relationships" id="268" r:id="R4f2be4d1bbe04e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938d8d7573472f" /><Relationship Type="http://schemas.openxmlformats.org/officeDocument/2006/relationships/theme" Target="/ppt/theme/theme1.xml" Id="Rb78eed28696d4de0" /><Relationship Type="http://schemas.openxmlformats.org/officeDocument/2006/relationships/notesMaster" Target="/ppt/notesMasters/notesMaster1.xml" Id="R0247ce2c295b4952" /><Relationship Type="http://schemas.openxmlformats.org/officeDocument/2006/relationships/presProps" Target="/ppt/presProps.xml" Id="Rbee55c6ecb4740c3" /><Relationship Type="http://schemas.openxmlformats.org/officeDocument/2006/relationships/viewProps" Target="/ppt/viewProps.xml" Id="R1078ea0893694c7b" /><Relationship Type="http://schemas.openxmlformats.org/officeDocument/2006/relationships/tableStyles" Target="/ppt/tableStyles.xml" Id="R6367ececf00f4427" /><Relationship Type="http://schemas.openxmlformats.org/officeDocument/2006/relationships/slide" Target="/ppt/slides/slide1.xml" Id="R5c6553037f314af1" /><Relationship Type="http://schemas.openxmlformats.org/officeDocument/2006/relationships/slide" Target="/ppt/slides/slide2.xml" Id="R06dd9527a9ce465e" /><Relationship Type="http://schemas.openxmlformats.org/officeDocument/2006/relationships/slide" Target="/ppt/slides/slide3.xml" Id="Rce82e93c4c504275" /><Relationship Type="http://schemas.openxmlformats.org/officeDocument/2006/relationships/slide" Target="/ppt/slides/slide4.xml" Id="R445e2f57e8e0466c" /><Relationship Type="http://schemas.openxmlformats.org/officeDocument/2006/relationships/slide" Target="/ppt/slides/slide5.xml" Id="Rd7176c4ce8d443be" /><Relationship Type="http://schemas.openxmlformats.org/officeDocument/2006/relationships/slide" Target="/ppt/slides/slide6.xml" Id="Rc6d5c916986444d5" /><Relationship Type="http://schemas.openxmlformats.org/officeDocument/2006/relationships/slide" Target="/ppt/slides/slide7.xml" Id="R8cbd4ed3a822407d" /><Relationship Type="http://schemas.openxmlformats.org/officeDocument/2006/relationships/slide" Target="/ppt/slides/slide8.xml" Id="Rb9f7265680b142fe" /><Relationship Type="http://schemas.openxmlformats.org/officeDocument/2006/relationships/slide" Target="/ppt/slides/slide9.xml" Id="R0350a8d0952549f0" /><Relationship Type="http://schemas.openxmlformats.org/officeDocument/2006/relationships/slide" Target="/ppt/slides/slide10.xml" Id="R41a22e7510174b0c" /><Relationship Type="http://schemas.openxmlformats.org/officeDocument/2006/relationships/slide" Target="/ppt/slides/slide11.xml" Id="Rd7b502121ab945f5" /><Relationship Type="http://schemas.openxmlformats.org/officeDocument/2006/relationships/slide" Target="/ppt/slides/slide12.xml" Id="Rba3c5a4552544e15" /><Relationship Type="http://schemas.openxmlformats.org/officeDocument/2006/relationships/slide" Target="/ppt/slides/slide13.xml" Id="R4f2be4d1bbe04e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2485685c52b4d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d56b6fee544950" /><Relationship Type="http://schemas.openxmlformats.org/officeDocument/2006/relationships/notesMaster" Target="/ppt/notesMasters/notesMaster1.xml" Id="R241c45e3e6d449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d71b74f50b42d7" /><Relationship Type="http://schemas.openxmlformats.org/officeDocument/2006/relationships/notesMaster" Target="/ppt/notesMasters/notesMaster1.xml" Id="Re03a90b110204d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81a9f6afb9c4525" /><Relationship Type="http://schemas.openxmlformats.org/officeDocument/2006/relationships/notesMaster" Target="/ppt/notesMasters/notesMaster1.xml" Id="Rd46f3ab4cdab4c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2307c850624661" /><Relationship Type="http://schemas.openxmlformats.org/officeDocument/2006/relationships/notesMaster" Target="/ppt/notesMasters/notesMaster1.xml" Id="Rd197d02087ae470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a419afed234163" /><Relationship Type="http://schemas.openxmlformats.org/officeDocument/2006/relationships/notesMaster" Target="/ppt/notesMasters/notesMaster1.xml" Id="R79791265b2d343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0b94da099b40a4" /><Relationship Type="http://schemas.openxmlformats.org/officeDocument/2006/relationships/notesMaster" Target="/ppt/notesMasters/notesMaster1.xml" Id="R5ee1f9930df147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f153f75d49644ae" /><Relationship Type="http://schemas.openxmlformats.org/officeDocument/2006/relationships/notesMaster" Target="/ppt/notesMasters/notesMaster1.xml" Id="R7fa38c07609b4f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289045bd694946" /><Relationship Type="http://schemas.openxmlformats.org/officeDocument/2006/relationships/notesMaster" Target="/ppt/notesMasters/notesMaster1.xml" Id="R507e00fcd26841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81f91191aa4766" /><Relationship Type="http://schemas.openxmlformats.org/officeDocument/2006/relationships/notesMaster" Target="/ppt/notesMasters/notesMaster1.xml" Id="Rb2f2449b29924a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c69fc0b7c64b61" /><Relationship Type="http://schemas.openxmlformats.org/officeDocument/2006/relationships/notesMaster" Target="/ppt/notesMasters/notesMaster1.xml" Id="Rc84e80fab056490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caf0966e1b42fe" /><Relationship Type="http://schemas.openxmlformats.org/officeDocument/2006/relationships/notesMaster" Target="/ppt/notesMasters/notesMaster1.xml" Id="Rf63fa54bb8e94d4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99bfbe0dc8c46ce" /><Relationship Type="http://schemas.openxmlformats.org/officeDocument/2006/relationships/notesMaster" Target="/ppt/notesMasters/notesMaster1.xml" Id="Rf11e7c6213a748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a9c48664c4f42c1" /><Relationship Type="http://schemas.openxmlformats.org/officeDocument/2006/relationships/notesMaster" Target="/ppt/notesMasters/notesMaster1.xml" Id="R1e57a599a35142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dcd466b1304fa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bd505ea2bba45ac" /><Relationship Type="http://schemas.openxmlformats.org/officeDocument/2006/relationships/slideLayout" Target="/ppt/slideLayouts/slideLayout2.xml" Id="Ra62deb47aa2843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2deb47aa2843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99ddd0e7b94786" /><Relationship Type="http://schemas.openxmlformats.org/officeDocument/2006/relationships/image" Target="/ppt/media/image.jpeg" Id="Ra96b13f4c2804561" /><Relationship Type="http://schemas.openxmlformats.org/officeDocument/2006/relationships/notesSlide" Target="/ppt/notesSlides/notesSlide1.xml" Id="R3075781f17e447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049a33ad8145b6" /><Relationship Type="http://schemas.openxmlformats.org/officeDocument/2006/relationships/image" Target="/ppt/media/image2.jpeg" Id="R4ce199056eb547ea" /><Relationship Type="http://schemas.openxmlformats.org/officeDocument/2006/relationships/image" Target="/ppt/media/image.png" Id="R91768072a7944747" /><Relationship Type="http://schemas.openxmlformats.org/officeDocument/2006/relationships/image" Target="/ppt/media/image.svg" Id="Rb92cdcf00fd843bb" /><Relationship Type="http://schemas.openxmlformats.org/officeDocument/2006/relationships/notesSlide" Target="/ppt/notesSlides/notesSlide2.xml" Id="Rec41c6f7fbca46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40e7189fe9433d" /><Relationship Type="http://schemas.openxmlformats.org/officeDocument/2006/relationships/image" Target="/ppt/media/image3.jpeg" Id="Rbbf1c53ccb6c4e42" /><Relationship Type="http://schemas.openxmlformats.org/officeDocument/2006/relationships/image" Target="/ppt/media/image2.png" Id="R07333a83b8ad49f3" /><Relationship Type="http://schemas.openxmlformats.org/officeDocument/2006/relationships/image" Target="/ppt/media/image2.svg" Id="R3df2f56b50a046a9" /><Relationship Type="http://schemas.openxmlformats.org/officeDocument/2006/relationships/image" Target="/ppt/media/image3.png" Id="Rc486287d792145ca" /><Relationship Type="http://schemas.openxmlformats.org/officeDocument/2006/relationships/image" Target="/ppt/media/image3.svg" Id="Rb6810d032fde4d66" /><Relationship Type="http://schemas.openxmlformats.org/officeDocument/2006/relationships/image" Target="/ppt/media/image4.png" Id="Rdd34500fe419400a" /><Relationship Type="http://schemas.openxmlformats.org/officeDocument/2006/relationships/image" Target="/ppt/media/image4.svg" Id="R3a1ca20ae5194796" /><Relationship Type="http://schemas.openxmlformats.org/officeDocument/2006/relationships/image" Target="/ppt/media/image5.png" Id="R073c2a6e1cf34c6b" /><Relationship Type="http://schemas.openxmlformats.org/officeDocument/2006/relationships/image" Target="/ppt/media/image5.svg" Id="R9b0c0edb075b4c52" /><Relationship Type="http://schemas.openxmlformats.org/officeDocument/2006/relationships/notesSlide" Target="/ppt/notesSlides/notesSlide3.xml" Id="Rd505b82aec9b47e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e9d8da94de4d72" /><Relationship Type="http://schemas.openxmlformats.org/officeDocument/2006/relationships/image" Target="/ppt/media/image4.jpeg" Id="Reb2f43fbc3af4f51" /><Relationship Type="http://schemas.openxmlformats.org/officeDocument/2006/relationships/notesSlide" Target="/ppt/notesSlides/notesSlide4.xml" Id="R038597bfa49343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e6132dcde2495f" /><Relationship Type="http://schemas.openxmlformats.org/officeDocument/2006/relationships/image" Target="/ppt/media/image5.jpeg" Id="Rd540a2158d4a4df9" /><Relationship Type="http://schemas.openxmlformats.org/officeDocument/2006/relationships/image" Target="/ppt/media/image6.png" Id="R19617ec356bc4d43" /><Relationship Type="http://schemas.openxmlformats.org/officeDocument/2006/relationships/image" Target="/ppt/media/image6.svg" Id="R614dd579a9d94512" /><Relationship Type="http://schemas.openxmlformats.org/officeDocument/2006/relationships/image" Target="/ppt/media/image7.png" Id="Rb2feafe66b724f15" /><Relationship Type="http://schemas.openxmlformats.org/officeDocument/2006/relationships/image" Target="/ppt/media/image7.svg" Id="Rd107b0682ff141f7" /><Relationship Type="http://schemas.openxmlformats.org/officeDocument/2006/relationships/image" Target="/ppt/media/image8.png" Id="Rb08933be9e32443b" /><Relationship Type="http://schemas.openxmlformats.org/officeDocument/2006/relationships/image" Target="/ppt/media/image8.svg" Id="R8407059b6902483c" /><Relationship Type="http://schemas.openxmlformats.org/officeDocument/2006/relationships/notesSlide" Target="/ppt/notesSlides/notesSlide5.xml" Id="R5acf4bb67a2443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0168197a0041f9" /><Relationship Type="http://schemas.openxmlformats.org/officeDocument/2006/relationships/image" Target="/ppt/media/image6.jpeg" Id="Ra7e95ae7b57b40cb" /><Relationship Type="http://schemas.openxmlformats.org/officeDocument/2006/relationships/notesSlide" Target="/ppt/notesSlides/notesSlide6.xml" Id="R41b443fc84c249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69454557114688" /><Relationship Type="http://schemas.openxmlformats.org/officeDocument/2006/relationships/image" Target="/ppt/media/image7.jpeg" Id="R14496fa363214c03" /><Relationship Type="http://schemas.openxmlformats.org/officeDocument/2006/relationships/notesSlide" Target="/ppt/notesSlides/notesSlide7.xml" Id="Rf3239fc9f58542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a5e0c3c80b4fda" /><Relationship Type="http://schemas.openxmlformats.org/officeDocument/2006/relationships/image" Target="/ppt/media/image8.jpeg" Id="R7de88d90155f4305" /><Relationship Type="http://schemas.openxmlformats.org/officeDocument/2006/relationships/notesSlide" Target="/ppt/notesSlides/notesSlide8.xml" Id="Re9ba6b86a6624a5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5ce4ff0b384afd" /><Relationship Type="http://schemas.openxmlformats.org/officeDocument/2006/relationships/image" Target="/ppt/media/image9.jpeg" Id="R5ad2623f497942ed" /><Relationship Type="http://schemas.openxmlformats.org/officeDocument/2006/relationships/notesSlide" Target="/ppt/notesSlides/notesSlide9.xml" Id="R9921bc06a62f4e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3ad06122354cf4" /><Relationship Type="http://schemas.openxmlformats.org/officeDocument/2006/relationships/image" Target="/ppt/media/image10.jpeg" Id="Re02f3962053549f6" /><Relationship Type="http://schemas.openxmlformats.org/officeDocument/2006/relationships/image" Target="/ppt/media/image9.png" Id="Rd20acaa798a44716" /><Relationship Type="http://schemas.openxmlformats.org/officeDocument/2006/relationships/image" Target="/ppt/media/image9.svg" Id="Reb9e1e63fed3440c" /><Relationship Type="http://schemas.openxmlformats.org/officeDocument/2006/relationships/image" Target="/ppt/media/image10.png" Id="R82b12c0e6e5f46a5" /><Relationship Type="http://schemas.openxmlformats.org/officeDocument/2006/relationships/image" Target="/ppt/media/image10.svg" Id="R017e551df2bb4438" /><Relationship Type="http://schemas.openxmlformats.org/officeDocument/2006/relationships/image" Target="/ppt/media/image11.png" Id="R29cbcfa1696b49ed" /><Relationship Type="http://schemas.openxmlformats.org/officeDocument/2006/relationships/image" Target="/ppt/media/image11.svg" Id="R56f98d88500f4813" /><Relationship Type="http://schemas.openxmlformats.org/officeDocument/2006/relationships/notesSlide" Target="/ppt/notesSlides/notesSlide10.xml" Id="R23073f2781354fe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8eefa08c8d4d32" /><Relationship Type="http://schemas.openxmlformats.org/officeDocument/2006/relationships/image" Target="/ppt/media/image11.jpeg" Id="R33f18d12149b480d" /><Relationship Type="http://schemas.openxmlformats.org/officeDocument/2006/relationships/image" Target="/ppt/media/image12.png" Id="R244cf35aec5a4a7f" /><Relationship Type="http://schemas.openxmlformats.org/officeDocument/2006/relationships/image" Target="/ppt/media/image12.svg" Id="R8a48f2a3c78e4b44" /><Relationship Type="http://schemas.openxmlformats.org/officeDocument/2006/relationships/image" Target="/ppt/media/image13.png" Id="R96ccea7fec5e4f6a" /><Relationship Type="http://schemas.openxmlformats.org/officeDocument/2006/relationships/image" Target="/ppt/media/image13.svg" Id="R976c591a3fd34f6d" /><Relationship Type="http://schemas.openxmlformats.org/officeDocument/2006/relationships/image" Target="/ppt/media/image14.png" Id="R9d9c3843a5124f90" /><Relationship Type="http://schemas.openxmlformats.org/officeDocument/2006/relationships/image" Target="/ppt/media/image14.svg" Id="R3de6280acf2e4a32" /><Relationship Type="http://schemas.openxmlformats.org/officeDocument/2006/relationships/notesSlide" Target="/ppt/notesSlides/notesSlide11.xml" Id="R0040095e4f964da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9c823229094456" /><Relationship Type="http://schemas.openxmlformats.org/officeDocument/2006/relationships/image" Target="/ppt/media/image12.jpeg" Id="Ree9330bac2264779" /><Relationship Type="http://schemas.openxmlformats.org/officeDocument/2006/relationships/notesSlide" Target="/ppt/notesSlides/notesSlide12.xml" Id="Rd6262a2928df40e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a452a3d3564fe6" /><Relationship Type="http://schemas.openxmlformats.org/officeDocument/2006/relationships/notesSlide" Target="/ppt/notesSlides/notesSlide13.xml" Id="R74b8d8c0a2ed4ef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6b13f4c2804561"/>
          <a:srcRect xmlns:a="http://schemas.openxmlformats.org/drawingml/2006/main" l="1515" t="0" r="15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ADB361-91A9-4563-9DBB-8F51F3EC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93D14-4DAC-4026-B1FD-CD22902C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FED6E-E759-45E4-92C2-50ED3D94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65186D-51D2-4D90-B2ED-8928F8CF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3333"/>
            </a:srgbClr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B4AFBC-64F2-4008-B3ED-49BC4EDB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702D4C-6DDC-40FD-9713-2732BFBA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150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AI BASICS 102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D0AED-C8EB-47EA-BA2B-9F67F0CE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905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48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Agent Harnesses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030BB4-4C63-4E99-AE54-E991CB76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81350"/>
            <a:ext cx="476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8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68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How teams keep Copilot useful, bounded, and reviewable.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B450BA-9753-4D6D-9029-48C39E54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CC68AE-5C10-442B-A6EB-AE2A184F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EFB8CD-7150-440D-BDE9-9C1AEF09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517D17-A895-4D50-A44A-50C0B0D4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2C28BB-A1CC-4B26-B679-CCFD5556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29150"/>
            <a:ext cx="914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2042E6-4C0A-45E4-8B06-08988E91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958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5A3897-97FE-4981-B933-B8097796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62915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2B3B8D-6F01-4238-BCD2-A1A454D7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695825"/>
            <a:ext cx="781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0AB3C4-B0BD-42CD-9555-3020FA31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457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20 minutes | VS Code + GitHub Copilot framing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943F88-B3CF-483E-9167-C9492B32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9556417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C13A59-5119-43E1-8389-CFB38391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C1637A-BB33-4D2C-B938-89F0E173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56A4CD-52AA-4239-A443-1B2D4206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3BBB31-86FB-4362-96F6-0C039B24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A3FC19-DC85-47CE-A253-BC6C4C6E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PROMPTING IS NOT ENOUGH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E8A11-CFA6-41CA-A80D-03FD0749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619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 good prompt helps once. A harness helps every session.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77EB4F-E494-4E4B-AF2D-6637265E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11DE6-A436-486E-8F22-3E8D4EB2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e199056eb547ea"/>
          <a:srcRect xmlns:a="http://schemas.openxmlformats.org/drawingml/2006/main" l="0" t="2572" r="0" b="25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34200" y="990600"/>
            <a:ext cx="4381500" cy="22669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31C61-0F7F-4D9E-A9CA-E3C44E82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990600"/>
            <a:ext cx="4381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17E6BA-D08D-4F2F-9DE7-4A51397D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990600"/>
            <a:ext cx="4381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579234-0193-4D0E-B1C5-5412EAF7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23241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E88A79-D925-43EA-91D6-6ED242DC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8C70D-0382-439F-A193-C0720FB7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479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ONE-OFF PROMPT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320AF6-2D14-422C-B374-C9CF7AFC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17526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F9ED3B-EA50-494B-B43F-88FD61EB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19400"/>
            <a:ext cx="133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defRPr>
            </a:pPr>
            <a:r>
              <a: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rPr>
              <a:t>Prompt, context, and steering.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CDDE9-DB7B-430F-AFE0-A2F8C85A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43300"/>
            <a:ext cx="1619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05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05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Useful once, then forgotten unless the human repeats it.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768072a7944747">
            <a:extLst>
              <a:ext uri="{96DAC541-7B7A-43D3-8B79-37D633B846F1}">
                <asvg:svgBlip xmlns:asvg="http://schemas.microsoft.com/office/drawing/2016/SVG/main" r:embed="Rb92cdcf00fd843b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162300" y="3019425"/>
            <a:ext cx="933450" cy="17145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14961-D9A2-4A29-920F-C0188D53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90700"/>
            <a:ext cx="20764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EDC0C4-D65F-4AF3-8653-2AE2E47A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90700"/>
            <a:ext cx="4762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3EE390-6C64-41AB-8E70-789A4A1B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76450"/>
            <a:ext cx="1428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FE7DD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8FE7DD"/>
                </a:solidFill>
                <a:latin typeface="Aptos"/>
                <a:ea typeface="Aptos"/>
                <a:cs typeface="Aptos"/>
              </a:rPr>
              <a:t>REPO HARNESS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A6EC97-CC9A-4E43-995C-2DCCCD06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765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044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0B129C-4829-49D7-9A0B-D77622DD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33650"/>
            <a:ext cx="1047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DCE8F2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DCE8F2"/>
                </a:solidFill>
                <a:latin typeface="Aptos"/>
                <a:ea typeface="Aptos"/>
                <a:cs typeface="Aptos"/>
              </a:rPr>
              <a:t>Instructions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817C10-22E4-420D-A859-CD94118E1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956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044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583FA4-D773-49A4-B36B-654E2270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52750"/>
            <a:ext cx="1047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DCE8F2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DCE8F2"/>
                </a:solidFill>
                <a:latin typeface="Aptos"/>
                <a:ea typeface="Aptos"/>
                <a:cs typeface="Aptos"/>
              </a:rPr>
              <a:t>Skills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D8979D-F55D-4DCA-AB96-EE8FB338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3147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044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E2E49A-BFF0-4A4F-9CAA-AAB2857E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71850"/>
            <a:ext cx="1047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DCE8F2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DCE8F2"/>
                </a:solidFill>
                <a:latin typeface="Aptos"/>
                <a:ea typeface="Aptos"/>
                <a:cs typeface="Aptos"/>
              </a:rPr>
              <a:t>Scripts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0B69E6-A962-4577-A5CD-1F7816EE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044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61F472-FA97-43D2-8EC0-ACE4D05F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90950"/>
            <a:ext cx="1047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DCE8F2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DCE8F2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5C2A03-4E47-477C-99B8-1D322C1E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385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266199-B0DD-42F4-9592-D43D26E9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385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A1F71A-26A9-455D-B763-1B5B7076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838575"/>
            <a:ext cx="3848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The repo should carry the rules, checks, and habits the agent should not rediscover.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E9B853-73E0-4250-94C2-523C3BFC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38800"/>
            <a:ext cx="8610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3633BC-69A3-4604-B3CF-8BA205A6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91200"/>
            <a:ext cx="781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0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0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goal is not more trust. The goal is more inspectable work.</a:t>
            </a:r>
          </a:p>
        </p:txBody>
      </p:sp>
    </p:spTree>
    <p:extLst>
      <p:ext uri="{BB962C8B-B14F-4D97-AF65-F5344CB8AC3E}">
        <p14:creationId xmlns:p14="http://schemas.microsoft.com/office/powerpoint/2010/main" val="206599047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5273F6-78AD-49B6-8BD9-F8086CF2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1BEFE3-C217-4CCA-B3E5-167AEB43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C2178-4788-420C-8A91-99A7B2B6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78090-42AC-475C-9B33-D4718605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8AE768-021E-4213-B4DA-EA3266E4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THE HARNESS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4EB01-C09F-46BF-8AC8-12B41BE2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905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Use four pieces: rules, moves, tools, checks.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59040-A352-485C-BDEB-BB81D8F29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4B6DF-D676-4599-9503-F01A0C43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1c53ccb6c4e42"/>
          <a:srcRect xmlns:a="http://schemas.openxmlformats.org/drawingml/2006/main" l="3309" t="0" r="330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838200"/>
            <a:ext cx="4076700" cy="23812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068370-ED3D-4B4A-A29B-08761A22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838200"/>
            <a:ext cx="4076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3B1356-05D6-4FAD-8879-FE20C0F3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838200"/>
            <a:ext cx="40767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10910F-FD5C-443D-A1B8-E4303A88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09800"/>
            <a:ext cx="4095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1D27B-E746-4A1B-9E1E-331F954B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800350"/>
            <a:ext cx="1047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CE8546-0928-488B-8FFF-BBC39843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95625"/>
            <a:ext cx="704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DCE8F2"/>
                </a:solidFill>
                <a:latin typeface="Aptos"/>
                <a:ea typeface="Aptos"/>
                <a:cs typeface="Aptos"/>
              </a:defRPr>
            </a:pPr>
            <a:r>
              <a:rPr sz="1005" b="1">
                <a:solidFill>
                  <a:srgbClr val="DCE8F2"/>
                </a:solidFill>
                <a:latin typeface="Aptos"/>
                <a:ea typeface="Aptos"/>
                <a:cs typeface="Aptos"/>
              </a:rPr>
              <a:t>HARNESS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EDFC0-7D7C-4E6A-999B-7658FE3C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ACB967-7618-4D47-B068-9C2F497F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96FB8E-A56E-4C6F-9401-5FDEA323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68A78B-7EA1-4F81-AB1D-606CED2D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154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Standing instructions and boundaries.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33a83b8ad49f3">
            <a:extLst>
              <a:ext uri="{96DAC541-7B7A-43D3-8B79-37D633B846F1}">
                <asvg:svgBlip xmlns:asvg="http://schemas.microsoft.com/office/drawing/2016/SVG/main" r:embed="R3df2f56b50a046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609850" y="2219325"/>
            <a:ext cx="247650" cy="17145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CBC03B-A256-41A8-9B30-2B06960A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D7E7BD-410D-4239-9580-3311D8BD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87D926-B425-4B4B-9D6D-A9FF363E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193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6AAB95-A9A4-46E7-8C55-256C1AFA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47900"/>
            <a:ext cx="154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Skills, playbooks, and team procedures.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6287d792145ca">
            <a:extLst>
              <a:ext uri="{96DAC541-7B7A-43D3-8B79-37D633B846F1}">
                <asvg:svgBlip xmlns:asvg="http://schemas.microsoft.com/office/drawing/2016/SVG/main" r:embed="Rb6810d032fde4d6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29050" y="2219325"/>
            <a:ext cx="342900" cy="17145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E323D5-F214-43CA-9AD9-3ACBF3EA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7EF84D-8448-4D18-AA39-A87DD99C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4D7EE6-1328-4360-90ED-16778145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8145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2E5B29-D7B0-4705-AD0A-FA893DC3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154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Scripts, commands, and controlled capabilities.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34500fe419400a">
            <a:extLst>
              <a:ext uri="{96DAC541-7B7A-43D3-8B79-37D633B846F1}">
                <asvg:svgBlip xmlns:asvg="http://schemas.microsoft.com/office/drawing/2016/SVG/main" r:embed="R3a1ca20ae519479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609850" y="4181475"/>
            <a:ext cx="247650" cy="17145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05C940-F0AB-44D4-B56E-674320C1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2905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B11B6F-FA8B-48EB-9B5F-CFF94A6E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290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F99113-D393-48C2-8662-83908DC2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B41A0A-3751-4447-A534-4477C134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10050"/>
            <a:ext cx="1543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Tests, lint reports, diagnostics, and review.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c2a6e1cf34c6b">
            <a:extLst>
              <a:ext uri="{96DAC541-7B7A-43D3-8B79-37D633B846F1}">
                <asvg:svgBlip xmlns:asvg="http://schemas.microsoft.com/office/drawing/2016/SVG/main" r:embed="R9b0c0edb075b4c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829050" y="4181475"/>
            <a:ext cx="342900" cy="171450"/>
          </a:xfrm>
          <a:prstGeom xmlns:a="http://schemas.openxmlformats.org/drawingml/2006/main" prst="rect">
            <a:avLst/>
          </a:prstGeom>
        </p:spPr>
      </p:pic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ECDB13-7BA6-4891-B808-27EDE09C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33800"/>
            <a:ext cx="40767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1F9773-130D-4F64-A67F-08E54509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338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38F143-E06B-4B1D-93A5-FA7AF04A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990975"/>
            <a:ext cx="3543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A harness is the system around Copilot, not one magic prompt.</a:t>
            </a:r>
          </a:p>
        </p:txBody>
      </p:sp>
    </p:spTree>
    <p:extLst>
      <p:ext uri="{BB962C8B-B14F-4D97-AF65-F5344CB8AC3E}">
        <p14:creationId xmlns:p14="http://schemas.microsoft.com/office/powerpoint/2010/main" val="21898379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9BCD2B-1309-4944-B8AE-156AE53B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09B460-AE98-4055-B8E7-AE95CA25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7D603E-0491-4542-AA38-A9186938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BF957-885F-49EA-A4B5-A72CD5E4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7334D-6159-4779-8FB7-E118D106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RULES: COPILOT INSTRUCTIONS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E2ACC6-25C4-4064-A05D-66075748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Repo instructions are standing orders.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86B9E7-FEFB-428E-8699-0587BB6C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VS Code Docs: Copilot custom instructions | GitHub Docs: customizing Copilot responses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F4F40-C0EF-4F15-9361-BF7E187B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2f43fbc3af4f51"/>
          <a:srcRect xmlns:a="http://schemas.openxmlformats.org/drawingml/2006/main" l="0" t="410" r="0" b="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0D3473-4F59-460B-9A92-C29805FA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C89E55-4215-4271-8E47-5E32E406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800100"/>
            <a:ext cx="5810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6F3D9D-03DC-45C3-B7B0-71601EBC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CE81FC-6905-40C9-AEF0-B74707DD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3676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defRPr>
            </a:pPr>
            <a:r>
              <a:rPr sz="1260" b="0">
                <a:solidFill>
                  <a:srgbClr val="D8E6F3"/>
                </a:solidFill>
                <a:latin typeface="Aptos Mono"/>
                <a:ea typeface="Aptos Mono"/>
                <a:cs typeface="Aptos Mono"/>
              </a:rPr>
              <a:t>.github/copilot-instructions.md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8E0E08-D784-4478-80C9-926FABD9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4095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0B98BD-7163-4045-A708-DD73FB9D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B4052B-731F-45D1-8BF2-4B61076A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24175"/>
            <a:ext cx="3562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Write the rules the agent should not guess every time.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B66632-9B5D-4419-9C85-5848CC68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48100"/>
            <a:ext cx="2419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AED435-9056-467C-A1BA-848589106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481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5DF85C-A411-47EF-84BE-F84249D7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4FD58-7013-4792-BAA5-989A84BD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Commands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68A05-433E-4128-AE4C-73C88093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Install, build, lint, test, and local checks.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9D9DCF-574D-4112-ADAC-AD58E912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48100"/>
            <a:ext cx="2419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44F396-35BE-4565-95FF-2C9F82DA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481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F8787F-8C14-4F40-A11C-901ABB77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386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FBDED3-0227-4527-8D54-A2C9B2A9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00050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Conventions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F21637-A332-43CA-BCD3-0C7497B3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2910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Patterns, helpers, naming, errors, and logging.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83DF8C-6BD7-42E3-ADDC-44D5B109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2419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7E2C9A-5A77-43D4-9984-54704058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79A77F-944D-4A01-ABC9-2CDB2AE1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292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8E948A-489C-4B6A-88CF-168E9375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9110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Boundaries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F6C720-A647-4E31-8491-4B282096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21970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Risky paths, APIs, secrets, migrations, and deploys.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F737B7-4F30-43F6-9E49-C7B15F1C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38700"/>
            <a:ext cx="2419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09271D-AAB2-49CF-AA0C-62707A33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3870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604B62-8BAE-4C35-B081-4527FAE0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292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587E04-A123-4BB4-85FD-D4D453F0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99110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C7FE76E-B83D-4171-BC51-C2721085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1970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Required checks before Copilot says complete.</a:t>
            </a:r>
          </a:p>
        </p:txBody>
      </p:sp>
    </p:spTree>
    <p:extLst>
      <p:ext uri="{BB962C8B-B14F-4D97-AF65-F5344CB8AC3E}">
        <p14:creationId xmlns:p14="http://schemas.microsoft.com/office/powerpoint/2010/main" val="9675708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B9BD4B-BE3F-4532-ADB0-D8B2079E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0981C-C117-41E9-9E9E-87382083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A75FA6-55D0-42ED-BD5F-08A497CB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795051-F357-4C1A-9D27-0565531A8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6AA262-1CCD-4974-A6BC-12F7771E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RULES: BOUNDARIES AND BLAST RADIUS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FD7A7-C376-4248-8B6E-8DA21A66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Different actions deserve different permission.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3B61B1-4D2C-4A10-B700-76047CC5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EE2F4B-25F4-4937-AE80-46E86F38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0a2158d4a4df9"/>
          <a:srcRect xmlns:a="http://schemas.openxmlformats.org/drawingml/2006/main" l="3465" t="0" r="346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781050"/>
            <a:ext cx="4648200" cy="27241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53C2F3-7740-491C-8C96-27F41175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781050"/>
            <a:ext cx="46482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1340C9-3941-4443-B5C7-16665C13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781050"/>
            <a:ext cx="46482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9EE1E-E03D-43B3-9E88-CD008EB4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"/>
            <a:ext cx="1200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AD83FF-4867-4521-A7FD-81495B81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895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Read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A45F03-6B6D-48B7-AA96-C51FC4C2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05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Files, docs, logs, issues.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617ec356bc4d43">
            <a:extLst>
              <a:ext uri="{96DAC541-7B7A-43D3-8B79-37D633B846F1}">
                <asvg:svgBlip xmlns:asvg="http://schemas.microsoft.com/office/drawing/2016/SVG/main" r:embed="R614dd579a9d9451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905000" y="2476500"/>
            <a:ext cx="209550" cy="17145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F9CD44-D6FC-4106-B5BF-668D2719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209800"/>
            <a:ext cx="1200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684FC9-9F6D-4715-A5A2-4D892F9B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81250"/>
            <a:ext cx="895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Edit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29BF47-FA6C-4A5A-8F9A-05DE7424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28900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05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Local code, tests, docs.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feafe66b724f15">
            <a:extLst>
              <a:ext uri="{96DAC541-7B7A-43D3-8B79-37D633B846F1}">
                <asvg:svgBlip xmlns:asvg="http://schemas.microsoft.com/office/drawing/2016/SVG/main" r:embed="Rd107b0682ff141f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314700" y="2476500"/>
            <a:ext cx="209550" cy="17145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764235-CEA0-47E6-9820-BA352CF1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09800"/>
            <a:ext cx="1200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57893A-9345-4AF2-A0F0-BE95A2A5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381250"/>
            <a:ext cx="895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26FBAE-A6BC-4E63-A79D-7D81C226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28900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05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Allowlisted commands.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8933be9e32443b">
            <a:extLst>
              <a:ext uri="{96DAC541-7B7A-43D3-8B79-37D633B846F1}">
                <asvg:svgBlip xmlns:asvg="http://schemas.microsoft.com/office/drawing/2016/SVG/main" r:embed="R8407059b6902483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724400" y="2476500"/>
            <a:ext cx="209550" cy="1714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A36261-E24E-4F29-80C4-BE5F828D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09800"/>
            <a:ext cx="1200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93516C-3513-441E-B400-FBEC6122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81250"/>
            <a:ext cx="895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43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Ship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310205-29DB-4CF6-A19A-1DCE7EC6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628900"/>
            <a:ext cx="933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705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Deploys, data, merges.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364C49-7023-404C-A65F-8774CE06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57650"/>
            <a:ext cx="304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CA84E7-C337-4824-810B-E425D2FB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576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FDF156-7338-4D31-BE7F-8E1E28BC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26289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Allowed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8EAEF4-6ED1-49A4-A268-6BD1D375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1041"/>
            <a:ext cx="2628900" cy="279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Read code, inspect tests, update focused local files.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786E4B-7A07-45B8-8FBE-EADB84C7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57650"/>
            <a:ext cx="304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8E116B-5D3D-4A7E-8FD0-FA171A09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576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BFF15E-8957-4616-AED9-BC3758F5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10050"/>
            <a:ext cx="26289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Ask first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5F3335-F157-4F42-B0C6-4B8A0099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21041"/>
            <a:ext cx="2628900" cy="279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Install packages, delete files, migrations, or public API changes.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0561DC5-4214-452C-9201-8E2EB2CD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57650"/>
            <a:ext cx="304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91CC5C-418F-4123-B391-FFA60A98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576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A258A2-E7BF-4784-A58B-E10BFCAD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10050"/>
            <a:ext cx="26289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Never alone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959409-F05A-4893-BF44-32EE1852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21041"/>
            <a:ext cx="2628900" cy="2795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Secrets, production data, releases, or protected branches.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B86CEF-6296-413F-BBFF-3A998D8E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AAE279-DCC0-400B-BC3C-E4092886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95975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Boundaries make Copilot safer and make the search space smaller.</a:t>
            </a:r>
          </a:p>
        </p:txBody>
      </p:sp>
    </p:spTree>
    <p:extLst>
      <p:ext uri="{BB962C8B-B14F-4D97-AF65-F5344CB8AC3E}">
        <p14:creationId xmlns:p14="http://schemas.microsoft.com/office/powerpoint/2010/main" val="107239810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A3B5FB-07DC-4DE2-B12D-8580F560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34441-2E20-4920-9952-429D7C89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1AFF1-514D-4983-B949-BF26F3E9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4D269B-ADE0-4B46-9081-18359C14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C0098C-04E7-4A57-B1F6-B2315711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MOVES: SKILLS AND PLAYBOOKS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FEB7C-C7BC-4633-862D-7E8F61E4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Skills teach repeatable moves.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F0D240-DEBE-472F-883F-02C15AD3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GitHub Docs: Copilot customization cheat sheet | Matt Pocock skills repo: diagnose skill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A12FC-4141-40D6-B5C1-6CACB216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e95ae7b57b40cb"/>
          <a:srcRect xmlns:a="http://schemas.openxmlformats.org/drawingml/2006/main" l="2702" t="0" r="270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91300" y="819150"/>
            <a:ext cx="4724400" cy="27241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E05A1C-FB90-48BD-B198-114A714D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819150"/>
            <a:ext cx="47244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4BD7CF-0686-44F0-9F63-44867281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819150"/>
            <a:ext cx="47244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634067-F88A-4BF7-8510-DF055333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4381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A3E19E-BFA1-4EF5-9630-4AA53789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AFDAEE-2021-43C9-BB0E-5AB702CC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3848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Instructions define the rules. Skills define the moves.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4D077D-5CBF-4501-A2F5-496624EB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381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3AFBA9-BA40-4C5E-8994-8E94AAFE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EB7D8E-CEF6-449E-9CEF-F1EB44C4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95650"/>
            <a:ext cx="3924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Before coding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625427-6CD3-45EC-9F12-7BB76284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24250"/>
            <a:ext cx="392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Stress-test the plan, scope, and missing evidence.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712C93-19D9-45CD-9C90-40545D2C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4381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A103AB-E59F-4860-A8A9-4FA0EB15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C8DA36-65E9-429E-96E9-C3C09370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57650"/>
            <a:ext cx="3924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After coding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C44DAB-6DB2-42D5-826F-A522D1AC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0"/>
            <a:ext cx="392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Diagnose the generated feature and hunt for bugs.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8D8653-84CA-4DEA-91AC-0EB303C7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4381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4DF2E6-A85E-4E66-BEC9-393DD2CA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C26CFB-CBB0-41B3-9607-74711F4B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19650"/>
            <a:ext cx="3924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During review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3ED180-E9D1-4D49-A739-68D3D24F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48250"/>
            <a:ext cx="3924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Check auth, UI, migrations, or release notes with the team recipe.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937AE6-11E1-470E-A0D4-C0CE2EB5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71950"/>
            <a:ext cx="971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2B624B-FBF9-4990-BE30-83DC1D1C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38625"/>
            <a:ext cx="74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grill-me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D93FBD-5CA6-4400-81FB-7069C368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71950"/>
            <a:ext cx="971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EF59D2-79A4-43E9-881B-F67384CE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38625"/>
            <a:ext cx="74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1A2D4E-A386-425B-8B83-EE5A52C3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171950"/>
            <a:ext cx="971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33637B-CE0F-494D-9252-8E4FBE4A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38625"/>
            <a:ext cx="74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review-auth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1A291C-24DC-4DF4-A166-D50F07C8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171950"/>
            <a:ext cx="971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EED6ADD-EAAA-4DAA-8569-22E29F9DB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238625"/>
            <a:ext cx="74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ui-smoke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D72814-50AB-4353-9BD4-74BA0003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86300"/>
            <a:ext cx="4743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634912-5906-428E-BCCF-7D2889B5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48225"/>
            <a:ext cx="409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77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77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Skills should be named, repeatable, and narrow enough to review.</a:t>
            </a:r>
          </a:p>
        </p:txBody>
      </p:sp>
    </p:spTree>
    <p:extLst>
      <p:ext uri="{BB962C8B-B14F-4D97-AF65-F5344CB8AC3E}">
        <p14:creationId xmlns:p14="http://schemas.microsoft.com/office/powerpoint/2010/main" val="178610658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00F35C-061C-43EA-B362-47888135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294D3B-B7E9-4646-AF34-22FF67A2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15B559-740A-4F40-AA41-9D9CE158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FE5FE2-C2EF-4CFB-A3FD-BF3F39ED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0A799B-60E6-460A-A998-421911CA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MOVES: TEAM HABITS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9F612D-253A-4756-86B6-D69C87E6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A harness captures how your team works.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7F5867-D5CA-4486-AFB2-1E8459D1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8817EE-3F24-429A-B133-DF9543B5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496fa363214c03"/>
          <a:srcRect xmlns:a="http://schemas.openxmlformats.org/drawingml/2006/main" l="0" t="1738" r="0" b="17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0D27CC-EE19-40C1-9C64-FF348102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35AFA-55FE-4065-B294-AE39A3D8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753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8F7CA8-7079-4B3B-BA4F-FCEBD22C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B3E1AD-A50F-4A31-A3A3-44039D3C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94EC1F-BA89-431F-9BB8-4EEB158C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526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Bug triage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575D3A-8ACF-49EC-8EB4-B549209D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63641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Start with evidence, owner, repro, and one likely surface.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95A43F-F755-4B34-B092-FD983D584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002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DAFC73-3A90-4FA5-89F3-8E396601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002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9E82B2-8624-4163-80D7-75137CDE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526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Migration safety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BC0947-C8E9-4847-8834-FBE23C8D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63641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Dry-run first. Human approval before data-changing commands.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C85926-974B-4CD3-ADED-E4A08C10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C70CA3-8082-4E8D-B113-63ED7255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90F560-B7A7-40FC-9371-5DACD2C5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UI testing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A0550C-F507-4ABE-A41D-5D641950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44741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Run the app, inspect the screen, capture the visual result.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DC9157-ECC3-46F7-BC55-1C86421B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81350"/>
            <a:ext cx="2343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D7C7B4-DD32-42F5-86DB-4FF9F78C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8135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275BEE-105A-49DA-92FB-6F795A0DC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33750"/>
            <a:ext cx="19240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PR 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3D28F4-2599-4092-B9FE-57C19895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44741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Summarize evidence, behavior changes, checks, and risk.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02CD7D-FAF2-46EE-A052-51E4E4B9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5310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850ED1-2CB8-413B-B7A5-C39AF051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76925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If the team repeats a move, make it part of the harness.</a:t>
            </a:r>
          </a:p>
        </p:txBody>
      </p:sp>
    </p:spTree>
    <p:extLst>
      <p:ext uri="{BB962C8B-B14F-4D97-AF65-F5344CB8AC3E}">
        <p14:creationId xmlns:p14="http://schemas.microsoft.com/office/powerpoint/2010/main" val="191915553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E27115-D37D-4D63-86FD-C1B143A2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5E87DD-54EB-41D6-9E54-81DE16C1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5FA6D8-27E0-44F3-A1CA-47630F1C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1E9C14-F712-4F7F-8AA5-50495A00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4887AA-FDC7-46ED-988B-109C2028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TOOLS: SCRIPTS AGENTS CAN 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EC8296-7937-4678-973A-89C2D115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Give Copilot safe paths through verification.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F411C2-3025-4C7C-94F7-0E9E34D1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5FCDD-DE7D-4644-B677-A3E4A841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88d90155f4305"/>
          <a:srcRect xmlns:a="http://schemas.openxmlformats.org/drawingml/2006/main" l="0" t="7292" r="0" b="72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914400"/>
            <a:ext cx="5029200" cy="23431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15CA3-55E7-42ED-853C-8A5290EB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914400"/>
            <a:ext cx="50292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6C7768-1103-477E-A5DC-A6EE0768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914400"/>
            <a:ext cx="50292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17093-96D2-406A-8518-1BD2D883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4457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76968F-BAFF-4779-84D1-2CB6ACD9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D58381-36E1-4A75-8659-9530011F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52650"/>
            <a:ext cx="3924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A named script is better than asking the agent to invent the right command.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D347C1-7DEB-4289-9083-0F4EC562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F90357-351D-489B-885F-CFD2456C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4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DFC7FD-E6AC-4FD7-B879-B422D651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2897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E9F9A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0E9F9A"/>
                </a:solidFill>
                <a:latin typeface="Aptos Mono"/>
                <a:ea typeface="Aptos Mono"/>
                <a:cs typeface="Aptos Mono"/>
              </a:rPr>
              <a:t>npm run test:changed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C9C060-5C1A-4C2C-A008-606764A0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7182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Run only tests related to changed files.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73CEC6-D800-4538-BBAA-6E49FDE1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B61F08-7B9E-4BC4-BE9E-EDCD6D26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4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663E4D-9FED-461A-99DB-DDC11887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5762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2563EB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2563EB"/>
                </a:solidFill>
                <a:latin typeface="Aptos Mono"/>
                <a:ea typeface="Aptos Mono"/>
                <a:cs typeface="Aptos Mono"/>
              </a:rPr>
              <a:t>npm run agent:verify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256720-7108-4F5F-ABC4-4A73703E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004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Bundle typecheck, lint report, tests, and smoke checks.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31CAD1-2E31-4A6C-8F00-7A40BDDB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04E611-E52B-44A8-8F63-5D52D38C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4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6FA51E-2A3E-40E2-B00E-C244D1FC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8627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59E0B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F59E0B"/>
                </a:solidFill>
                <a:latin typeface="Aptos Mono"/>
                <a:ea typeface="Aptos Mono"/>
                <a:cs typeface="Aptos Mono"/>
              </a:rPr>
              <a:t>npm run smoke:local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F55BF0-FA02-4312-9B02-0E055D96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42912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Open the app path and confirm the main behavior still works.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491797-54C3-48DE-94F6-B4357737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339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59F193-B81D-4233-8B20-6F786E66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33950"/>
            <a:ext cx="47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8C0F02-8865-4A3A-9EDE-9818FDF3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14925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6A34A"/>
                </a:solidFill>
                <a:latin typeface="Aptos Mono"/>
                <a:ea typeface="Aptos Mono"/>
                <a:cs typeface="Aptos Mono"/>
              </a:defRPr>
            </a:pPr>
            <a:r>
              <a:rPr sz="938" b="1">
                <a:solidFill>
                  <a:srgbClr val="16A34A"/>
                </a:solidFill>
                <a:latin typeface="Aptos Mono"/>
                <a:ea typeface="Aptos Mono"/>
                <a:cs typeface="Aptos Mono"/>
              </a:rPr>
              <a:t>npm run check:pr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C76A70-E31F-461E-82FB-C68B3F51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0577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Collect review evidence before merging.</a:t>
            </a:r>
          </a:p>
        </p:txBody>
      </p:sp>
    </p:spTree>
    <p:extLst>
      <p:ext uri="{BB962C8B-B14F-4D97-AF65-F5344CB8AC3E}">
        <p14:creationId xmlns:p14="http://schemas.microsoft.com/office/powerpoint/2010/main" val="4449722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7DCAF0-2A5C-477F-BD7D-13E7304D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898FCA-29D9-4AA1-9F71-F74E4200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157A67-94E9-4E81-B093-9E090F6C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6D6C0D-61B2-45E6-9F10-A4F111DA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F20372-68F0-4B84-98C2-EC94F1CD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SOFT CHECKS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9AB1B-4FC5-452C-B815-B99497D2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334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Warnings can be a useful middle ground.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885718-537F-421B-925C-39F3AA638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ED8B68-245F-4E1C-872B-CF8A2BE0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2623f497942ed"/>
          <a:srcRect xmlns:a="http://schemas.openxmlformats.org/drawingml/2006/main" l="909" t="0" r="90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15100" y="819150"/>
            <a:ext cx="4800600" cy="2667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EEE12-4B37-4924-9485-9B4480E3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819150"/>
            <a:ext cx="48006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C02E58-219E-480B-B9FE-37C12BB4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819150"/>
            <a:ext cx="48006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7DA51-BB58-4EAE-A2A1-E9270188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497CD3-2D54-426C-9795-01586B2B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06CB93-981F-4057-B521-5A553B54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00275"/>
            <a:ext cx="3848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Not every repo has hard lint gates. Agents still need feedback.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0E9776-BB17-4CBF-A5BD-AC778644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21145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798501-34A2-4AEC-B834-7E990BC6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F9CD9E-E4B5-40A3-8068-5636430B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16954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Hard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426B1D-14F3-492B-90AB-98345E46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8541"/>
            <a:ext cx="1695450" cy="3557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Blocks merge when the repo already enforces the rule.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58B42F-773E-4628-AD42-11ADC6F0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105150"/>
            <a:ext cx="21145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4EDC7E-F1CF-4548-B4AF-2BDB18AB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105150"/>
            <a:ext cx="47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C6B84C-585E-44FC-A735-54A7341C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57550"/>
            <a:ext cx="16954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Soft report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FD8870-4344-4159-8D67-3598814A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568541"/>
            <a:ext cx="1695450" cy="3557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2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2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Returns warnings so Copilot can fix obvious issues without stopping.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46C481-9596-46F0-82A5-0CB944DB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05" b="1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05" b="1">
                <a:solidFill>
                  <a:srgbClr val="526179"/>
                </a:solidFill>
                <a:latin typeface="Aptos"/>
                <a:ea typeface="Aptos"/>
                <a:cs typeface="Aptos"/>
              </a:rPr>
              <a:t>Typical soft reports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DF366D-84D8-4A42-A8B2-3BE80F8A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958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63341D-8240-4505-87D1-53F9069F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62525"/>
            <a:ext cx="838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unused code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E62BAB-338E-4602-A31D-2BF84043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8958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EDC25F-672B-41EB-9B21-52297AE0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962525"/>
            <a:ext cx="838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unsafe any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E6B58C-6DCB-44C1-A783-F37BA19B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958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BEA818-D890-49B4-8E43-35BFD42F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62525"/>
            <a:ext cx="838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a11y hints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382AFB-B89B-48E5-8681-2EE30E97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958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3B67CB-C3CC-409D-8AFA-81B107B6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962525"/>
            <a:ext cx="838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slow tests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F9E381-647A-4F8E-8480-744B980B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958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3A8739-AD54-4091-9434-37FF07A4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962525"/>
            <a:ext cx="838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9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79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wide diff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65D951-8846-40B5-994D-C28E2904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E1E385-5AAA-41B3-B0EC-84DEEDAD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895975"/>
            <a:ext cx="769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33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33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A soft check is not permission to ignore quality. It is a way to surface quality earlier.</a:t>
            </a:r>
          </a:p>
        </p:txBody>
      </p:sp>
    </p:spTree>
    <p:extLst>
      <p:ext uri="{BB962C8B-B14F-4D97-AF65-F5344CB8AC3E}">
        <p14:creationId xmlns:p14="http://schemas.microsoft.com/office/powerpoint/2010/main" val="6578443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3398A6-610E-4E1E-9C54-96AFE370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5F2609-7F6C-47BC-8C45-8455855F7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8C6CAC-8739-4CEE-A3FE-FE5D89F0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91D80A-747B-44C5-8F61-EA7A9D13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21155-ABA0-421F-A992-1C3F6B0C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CHECKS: AFTER GENERATION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7A4C12-27F7-45FC-86A7-3C3BB70E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619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Inspect before review.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8A732D-BE7C-43EF-993D-812AF7CB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EFCF7-26B8-46FC-BFBB-BAF2893D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f3962053549f6"/>
          <a:srcRect xmlns:a="http://schemas.openxmlformats.org/drawingml/2006/main" l="0" t="1451" r="0" b="14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72200" y="800100"/>
            <a:ext cx="5143500" cy="27241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7ABA4C-457B-4D79-BC49-C35D0616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800100"/>
            <a:ext cx="51435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E41ABF-4B11-4AF2-A5A9-CFFCE8DA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800100"/>
            <a:ext cx="51435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20DF92-9144-43F0-8F49-2518F30C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76750"/>
            <a:ext cx="2209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2B70A7-79B6-468A-9EA8-3F6A872F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767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7FDE08-187D-4AA1-8CD7-2E0C0A96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C1A963-A372-4629-951B-07A9B3A6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29150"/>
            <a:ext cx="137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Generate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B22527-0B38-46B9-8F87-80557E3D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577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Copilot edits code inside the task boundary.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0acaa798a44716">
            <a:extLst>
              <a:ext uri="{96DAC541-7B7A-43D3-8B79-37D633B846F1}">
                <asvg:svgBlip xmlns:asvg="http://schemas.microsoft.com/office/drawing/2016/SVG/main" r:embed="Reb9e1e63fed3440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914650" y="4829175"/>
            <a:ext cx="419100" cy="1714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87CAEB-A4D5-4A49-BAE5-1C29C11E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76750"/>
            <a:ext cx="2209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3C1786-6286-48DC-ACE6-C2C6BE5E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767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D34F78-C2B2-44DA-9784-A7ED0178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5D5167-70C2-4BD1-BEFC-1205AEBB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629150"/>
            <a:ext cx="137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Run checks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FF7140-DE73-4600-84F8-0924A1F2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8577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Changed tests, soft lint, typecheck, and smoke commands.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b12c0e6e5f46a5">
            <a:extLst>
              <a:ext uri="{96DAC541-7B7A-43D3-8B79-37D633B846F1}">
                <asvg:svgBlip xmlns:asvg="http://schemas.microsoft.com/office/drawing/2016/SVG/main" r:embed="R017e551df2bb44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43550" y="4829175"/>
            <a:ext cx="419100" cy="1714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1B32A6-5DA3-42E1-ADA4-B0ACEAE3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76750"/>
            <a:ext cx="2209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92D42F-91DD-4CEB-A209-6D1D53F6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767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D3D9FF-7559-4679-944C-3158CE4A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6672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F87223-5598-4E11-9AC4-A07A217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29150"/>
            <a:ext cx="137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51F132-E611-4FDB-A569-90652B4A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577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Use a review or debug skill to look for likely bugs.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cbcfa1696b49ed">
            <a:extLst>
              <a:ext uri="{96DAC541-7B7A-43D3-8B79-37D633B846F1}">
                <asvg:svgBlip xmlns:asvg="http://schemas.microsoft.com/office/drawing/2016/SVG/main" r:embed="R56f98d88500f481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172450" y="4829175"/>
            <a:ext cx="419100" cy="17145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C1C20C-3B61-4829-B4A8-FF344688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476750"/>
            <a:ext cx="2209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6A5D07-C4D7-403A-9B1A-50216B85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47675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56D115-A022-47D9-8370-313CAB26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672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A787E9-31F6-43B8-AB8C-FA027ACD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29150"/>
            <a:ext cx="137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174DBDD-4E3A-4FB1-84A2-B85C2932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8577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Evidence, changes, checks, gaps, and risk.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420B22-6680-4ADB-AAE8-C4879450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57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8EF078-103A-4573-BA9A-484C2427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47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BC0621F-7674-4EB6-86EA-767901B4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403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Human review starts from evidence, not from a confident summary.</a:t>
            </a:r>
          </a:p>
        </p:txBody>
      </p:sp>
    </p:spTree>
    <p:extLst>
      <p:ext uri="{BB962C8B-B14F-4D97-AF65-F5344CB8AC3E}">
        <p14:creationId xmlns:p14="http://schemas.microsoft.com/office/powerpoint/2010/main" val="184619997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A47CC7-AA01-4EB8-B418-B0B64FA8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474CF-C3F2-4E46-8237-A7388257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27C80-007F-47D9-B098-A5135930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017E3-736C-470F-B470-06FAA5E5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FE0C79-DE31-46C7-B492-7516EE39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THE HARNESS LEARNING LOOP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EFFF0-F721-49C1-825A-32718530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14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When Copilot fails, improve the harness.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4B593C-B07F-4F2F-B749-A5F89B9D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F63DB5-B8F3-437F-B71A-EC7CC1B3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18d12149b480d"/>
          <a:srcRect xmlns:a="http://schemas.openxmlformats.org/drawingml/2006/main" l="1494" t="0" r="14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819150"/>
            <a:ext cx="4743450" cy="26670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11A47A-0558-460C-A0AE-5EBB24BA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19150"/>
            <a:ext cx="47434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677A1-F63E-43D8-BFDD-275A7B1F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19150"/>
            <a:ext cx="47434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5DC0F2-A8DD-4BAD-81FA-E73ECAA6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07D078-8862-4CC7-86F5-7162BD53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3362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C2626"/>
                </a:solidFill>
                <a:latin typeface="Aptos"/>
                <a:ea typeface="Aptos"/>
                <a:cs typeface="Aptos"/>
              </a:rPr>
              <a:t>Failure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4cf35aec5a4a7f">
            <a:extLst>
              <a:ext uri="{96DAC541-7B7A-43D3-8B79-37D633B846F1}">
                <asvg:svgBlip xmlns:asvg="http://schemas.microsoft.com/office/drawing/2016/SVG/main" r:embed="R8a48f2a3c78e4b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733550" y="2324100"/>
            <a:ext cx="285750" cy="17145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98271D-1060-4304-84E5-D1EA4F52D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13360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59E0B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AED507-349F-4AE4-A6D6-C9B2C507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3362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Cause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ccea7fec5e4f6a">
            <a:extLst>
              <a:ext uri="{96DAC541-7B7A-43D3-8B79-37D633B846F1}">
                <asvg:svgBlip xmlns:asvg="http://schemas.microsoft.com/office/drawing/2016/SVG/main" r:embed="R976c591a3fd34f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048000" y="2324100"/>
            <a:ext cx="285750" cy="1714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46295C-636A-4FB3-8EE1-BFCF5FAC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3360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2A9959-CDFA-4904-BFBC-62BEBC27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362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Harness fix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9c3843a5124f90">
            <a:extLst>
              <a:ext uri="{96DAC541-7B7A-43D3-8B79-37D633B846F1}">
                <asvg:svgBlip xmlns:asvg="http://schemas.microsoft.com/office/drawing/2016/SVG/main" r:embed="R3de6280acf2e4a3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362450" y="2324100"/>
            <a:ext cx="285750" cy="1714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706ADF-F6E7-4F63-946B-8A2D5E40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1028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43108C-1203-4F72-A8F2-CFB76A85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33625"/>
            <a:ext cx="838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Next session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E2DEA1-EED8-4244-A532-25440CE8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B35532-2963-408B-A509-D1A092EC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49C873-2758-4D13-B34F-E2D451E8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8135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Missing context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B5A747-A4D2-4343-8699-B91D72BF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09950"/>
            <a:ext cx="1733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an instruction or path rule.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D0C3E1-4015-42DA-B9DD-2CF34B84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322A97-828E-4A25-9AB6-EBE7B1DB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C65B0A-9316-41D4-9794-64BBF881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8135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Wrong command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88CD15-E034-41AC-B0BA-5E17E590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09950"/>
            <a:ext cx="1733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or document a script.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6EA375-CCB3-4D56-AFB8-16DB182B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1A7541-C31B-4F8E-A550-D190DF14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CFFDAF-A698-4C02-A1AD-FCB06F35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7195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Weak proof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17F4BF-0619-49D5-8850-FF06D94E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00550"/>
            <a:ext cx="1733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a focused test or smoke check.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065F52-1DB3-4F19-B4D3-C929635A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01955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02FB67-5FD4-475A-ADE7-6C032953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019550"/>
            <a:ext cx="4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A332EA-D7D5-4008-9482-37337CDB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17195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43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343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Bad review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0149EA-CD4D-4AC6-86B6-E15EFDDA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400550"/>
            <a:ext cx="1733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Add checklist or diagnostic skill.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E57199-F316-4092-9057-188DECE0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772150"/>
            <a:ext cx="8610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9F8"/>
          </a:solidFill>
          <a:ln xmlns:a="http://schemas.openxmlformats.org/drawingml/2006/main" w="9525">
            <a:solidFill>
              <a:srgbClr val="0E9F9A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39F739A-1662-4E63-ACB9-F541322A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895975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1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1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Do not only fix the prompt. Fix the system that shaped the prompt.</a:t>
            </a:r>
          </a:p>
        </p:txBody>
      </p:sp>
    </p:spTree>
    <p:extLst>
      <p:ext uri="{BB962C8B-B14F-4D97-AF65-F5344CB8AC3E}">
        <p14:creationId xmlns:p14="http://schemas.microsoft.com/office/powerpoint/2010/main" val="110553806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2326F5-1A08-40E1-A5E8-7D775BDC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C1944-57D0-4B79-BA30-C3CED301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45E85D-E714-4087-8D36-FE14A5BD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2638E5-270B-4A72-BAAA-4052F276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15C1E-B7D8-40D6-95BA-69266621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3C53C0-E89A-4E33-B2FC-81AEF8A3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495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Make AI work inspectable.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4C0496-C788-49D1-8C3B-8AE3EBE5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7EC476-DC48-4559-8A53-DAEA0410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9330bac2264779"/>
          <a:srcRect xmlns:a="http://schemas.openxmlformats.org/drawingml/2006/main" l="0" t="914" r="0" b="9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D9177C-2646-4AE0-85DC-123F2EDE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>
              <a:alpha val="2902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ACF72-7DA0-4103-B5D8-0615CC2B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819150"/>
            <a:ext cx="59055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722DAA-02BB-474F-91E3-4DE222D9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7878F2-85BA-41A6-8C77-CEEBC24E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1C9084-36AE-4DA3-BEB0-97EE982D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3676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Bounded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5ABE79-B9D7-486E-9AB5-B8AACA27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9841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Instructions and permissions define the work area.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77BD5A-9509-436A-B595-5CAB68E6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3EE68A-A5EE-4514-80F1-9F4C0B8B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8610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E08061-C258-454B-9090-7EA0F8DB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3676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Visible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7D6B21-8C5C-40F4-AFA8-315A402A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9491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 and scripts expose the path the agent followed.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5AA7EA-B8A7-4BC1-97F2-497D5675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D62107-1E74-416E-9202-970E253D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4762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40BB5F-7592-4602-BF2E-C76D13A14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367665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Checkable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F534A-2589-4DF0-8A86-EF010646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9141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23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Tests, soft reports, diagnostics, and review prove the work.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8F34BB-505D-4D47-A07D-978E65E1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562600"/>
            <a:ext cx="8610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406D1A-3366-4D26-817F-309FAA0F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56260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43F673-A62B-4980-BC68-8FCF31CF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753100"/>
            <a:ext cx="777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The goal is not to trust Copilot more. The goal is to make the work easier to inspect.</a:t>
            </a:r>
          </a:p>
        </p:txBody>
      </p:sp>
    </p:spTree>
    <p:extLst>
      <p:ext uri="{BB962C8B-B14F-4D97-AF65-F5344CB8AC3E}">
        <p14:creationId xmlns:p14="http://schemas.microsoft.com/office/powerpoint/2010/main" val="131277817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26695E-6A74-47A6-88CF-68B8B68C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BFFD1-BC6A-481F-8FE6-6DA59166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24C3AE-61AC-4B43-B42F-F6E2AAF0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1447800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6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7CC7E-EA9F-4206-94B9-AA6E2753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"/>
            <a:ext cx="9525" cy="680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DE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36B9DE-FA90-42CA-8069-D456DBFE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14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88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PRESENTER APPENDIX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B8FBD-2236-4728-92B8-E1329C83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429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858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Fidelity Tasks VS Code demo cue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991A09-94F5-47D1-B671-833A10B3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914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102 Agent Harnesses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A46B8-AB68-445F-A494-EDA05836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438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40" b="1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7B879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B344AF-040B-4151-885C-544958D6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10782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0ECA0A-4F79-41DD-AE23-2F4E9D2D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04E133-171B-4A6E-889C-5B1F11D3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885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15" b="1">
                <a:solidFill>
                  <a:srgbClr val="E5EEF7"/>
                </a:solidFill>
                <a:latin typeface="Aptos"/>
                <a:ea typeface="Aptos"/>
                <a:cs typeface="Aptos"/>
              </a:defRPr>
            </a:pPr>
            <a:r>
              <a:rPr sz="1515" b="1">
                <a:solidFill>
                  <a:srgbClr val="E5EEF7"/>
                </a:solidFill>
                <a:latin typeface="Aptos"/>
                <a:ea typeface="Aptos"/>
                <a:cs typeface="Aptos"/>
              </a:rPr>
              <a:t>Open the Fidelity Tasks repo and show the harness parts in this order.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D49F5-7FA9-4ED6-A126-969E9671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43405E-D191-4933-B5B6-A7A03F7B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9F9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0B1056-F971-446C-B351-6FE44663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718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9F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9F9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C484D4-216B-48A2-8C10-666748AD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82791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Copilot instructions and path-specific boundaries.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BF01C6-1C2F-4279-BCF1-16384E73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194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D194E5-A17D-4964-8E7A-41AB31C0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194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B5A11C-CA34-4877-87FD-5333B778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Moves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8AD18E-C40F-4EB5-86D5-1681AEC6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82791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Skills/playbooks such as planning, grilling, diagnosis, and review.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946F40-1D81-41E9-AB7D-E0F01C93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55C949-6DBF-4CF4-AF58-6C0FF09D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F8DA76-6185-4F52-B7B7-AFCA5D21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529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8C4396-36E5-4D1B-B0E5-5DB4CBEB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63891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Changed-test script, heavy soft-lint/report script, and smoke command.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6D615F-A98E-4A77-9149-B0E48794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4648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F5DCE8-A1A6-4B32-AE55-82F502AD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0"/>
            <a:ext cx="47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6AED9F-5925-4D60-9EAD-63581DD1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4229100" cy="234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722DCC-64CC-4753-90C2-57066E56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63891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960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Post-generation diagnostic pass and human review checklist.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8D1386-E18B-4000-AE0A-20D71648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7220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05" b="0">
                <a:solidFill>
                  <a:srgbClr val="526179"/>
                </a:solidFill>
                <a:latin typeface="Aptos"/>
                <a:ea typeface="Aptos"/>
                <a:cs typeface="Aptos"/>
              </a:defRPr>
            </a:pPr>
            <a:r>
              <a:rPr sz="1005" b="0">
                <a:solidFill>
                  <a:srgbClr val="526179"/>
                </a:solidFill>
                <a:latin typeface="Aptos"/>
                <a:ea typeface="Aptos"/>
                <a:cs typeface="Aptos"/>
              </a:rPr>
              <a:t>Presenter-only slide. Not included in Ara narration.</a:t>
            </a:r>
          </a:p>
        </p:txBody>
      </p:sp>
    </p:spTree>
    <p:extLst>
      <p:ext uri="{BB962C8B-B14F-4D97-AF65-F5344CB8AC3E}">
        <p14:creationId xmlns:p14="http://schemas.microsoft.com/office/powerpoint/2010/main" val="18441809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2026-05-27T16:14:02.3560000Z</dcterms:created>
  <dcterms:modified xsi:type="dcterms:W3CDTF">2026-05-27T16:14:02.3560000Z</dcterms:modified>
</coreProperties>
</file>